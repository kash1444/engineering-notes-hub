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2" r:id="rId2"/>
  </p:sldMasterIdLst>
  <p:notesMasterIdLst>
    <p:notesMasterId r:id="rId37"/>
  </p:notesMasterIdLst>
  <p:sldIdLst>
    <p:sldId id="258" r:id="rId3"/>
    <p:sldId id="278" r:id="rId4"/>
    <p:sldId id="259" r:id="rId5"/>
    <p:sldId id="279" r:id="rId6"/>
    <p:sldId id="260" r:id="rId7"/>
    <p:sldId id="261" r:id="rId8"/>
    <p:sldId id="277" r:id="rId9"/>
    <p:sldId id="262" r:id="rId10"/>
    <p:sldId id="281" r:id="rId11"/>
    <p:sldId id="263" r:id="rId12"/>
    <p:sldId id="282" r:id="rId13"/>
    <p:sldId id="294" r:id="rId14"/>
    <p:sldId id="295" r:id="rId15"/>
    <p:sldId id="296" r:id="rId16"/>
    <p:sldId id="297" r:id="rId17"/>
    <p:sldId id="298" r:id="rId18"/>
    <p:sldId id="264" r:id="rId19"/>
    <p:sldId id="265" r:id="rId20"/>
    <p:sldId id="283" r:id="rId21"/>
    <p:sldId id="266" r:id="rId22"/>
    <p:sldId id="285" r:id="rId23"/>
    <p:sldId id="267" r:id="rId24"/>
    <p:sldId id="284" r:id="rId25"/>
    <p:sldId id="268" r:id="rId26"/>
    <p:sldId id="286" r:id="rId27"/>
    <p:sldId id="269" r:id="rId28"/>
    <p:sldId id="287" r:id="rId29"/>
    <p:sldId id="271" r:id="rId30"/>
    <p:sldId id="288" r:id="rId31"/>
    <p:sldId id="272" r:id="rId32"/>
    <p:sldId id="289" r:id="rId33"/>
    <p:sldId id="274" r:id="rId34"/>
    <p:sldId id="291" r:id="rId35"/>
    <p:sldId id="292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2049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5">
            <a:extLst>
              <a:ext uri="{FF2B5EF4-FFF2-40B4-BE49-F238E27FC236}">
                <a16:creationId xmlns:a16="http://schemas.microsoft.com/office/drawing/2014/main" id="{E8145A27-F15C-D0D6-1055-A8D8482D8E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509CC-28A5-4DE7-9774-81225EBFF830}" type="slidenum">
              <a:rPr kumimoji="0" lang="en-US" altLang="en-US" sz="10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8522ED9A-8A0B-6293-48AD-4045FD57CE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5538" y="688975"/>
            <a:ext cx="4606925" cy="3454400"/>
          </a:xfrm>
          <a:ln cap="flat"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95655979-82FD-5E4C-7E08-BBE89C6D8B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5">
            <a:extLst>
              <a:ext uri="{FF2B5EF4-FFF2-40B4-BE49-F238E27FC236}">
                <a16:creationId xmlns:a16="http://schemas.microsoft.com/office/drawing/2014/main" id="{9F42AA2E-B1A1-6F31-33BF-0CDE7FF65C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fld id="{CF09D721-396B-4D80-B63B-D6B3695DC01D}" type="slidenum">
              <a:rPr lang="en-US" altLang="en-US">
                <a:latin typeface="Calibri" panose="020F0502020204030204" pitchFamily="34" charset="0"/>
              </a:rPr>
              <a:pPr/>
              <a:t>13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8854B879-50C8-27B9-FCB0-6D1CA00034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5538" y="688975"/>
            <a:ext cx="4606925" cy="3454400"/>
          </a:xfrm>
          <a:ln cap="flat"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B303F6EA-CAB8-37C6-FB15-F84905C16C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5">
            <a:extLst>
              <a:ext uri="{FF2B5EF4-FFF2-40B4-BE49-F238E27FC236}">
                <a16:creationId xmlns:a16="http://schemas.microsoft.com/office/drawing/2014/main" id="{BD8B053E-6ADC-0B42-4A45-4F2098246E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E7337F-1173-49F7-BDAD-B88F1F3A3762}" type="slidenum">
              <a:rPr kumimoji="0" lang="en-US" altLang="en-US" sz="10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922D8B71-52DE-FE99-EA51-23DAC4BD5C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5538" y="688975"/>
            <a:ext cx="4606925" cy="3454400"/>
          </a:xfrm>
          <a:ln cap="flat"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2DEB64E9-D8D4-BD52-4CC8-8CAF602269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5">
            <a:extLst>
              <a:ext uri="{FF2B5EF4-FFF2-40B4-BE49-F238E27FC236}">
                <a16:creationId xmlns:a16="http://schemas.microsoft.com/office/drawing/2014/main" id="{BE7B3E67-C919-AE8C-25D6-1D825EC989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fld id="{F3A64060-ED1A-4C64-9E59-E50237E24840}" type="slidenum">
              <a:rPr lang="en-US" altLang="en-US">
                <a:latin typeface="Calibri" panose="020F0502020204030204" pitchFamily="34" charset="0"/>
              </a:rPr>
              <a:pPr/>
              <a:t>15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41C3C138-EF56-D2F8-08A1-A0D0D3613B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5538" y="688975"/>
            <a:ext cx="4606925" cy="3454400"/>
          </a:xfrm>
          <a:ln cap="flat"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68295AFA-9E10-7CF1-C773-008A125DC4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5">
            <a:extLst>
              <a:ext uri="{FF2B5EF4-FFF2-40B4-BE49-F238E27FC236}">
                <a16:creationId xmlns:a16="http://schemas.microsoft.com/office/drawing/2014/main" id="{F376E298-B928-5006-CD83-6DDF8D68D6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fld id="{AB6255CC-AB9F-4ACA-8CF6-D6C2CCE091AF}" type="slidenum">
              <a:rPr lang="en-US" altLang="en-US">
                <a:latin typeface="Calibri" panose="020F0502020204030204" pitchFamily="34" charset="0"/>
              </a:rPr>
              <a:pPr/>
              <a:t>16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36A29681-020E-8DDF-BA0D-4E6BAFF47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5538" y="688975"/>
            <a:ext cx="4606925" cy="3454400"/>
          </a:xfrm>
          <a:ln cap="flat"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28E27E64-2FA7-4E70-E45B-5FB850004B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9144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dirty="0">
                <a:solidFill>
                  <a:srgbClr val="000000"/>
                </a:solidFill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400" dirty="0">
                <a:solidFill>
                  <a:srgbClr val="000000"/>
                </a:solidFill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rgbClr val="000000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085851"/>
            <a:ext cx="6620968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3583035"/>
            <a:ext cx="6620968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B5A40C-BFE0-4583-AC23-BEA57155ECF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92382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6FB08C-D342-4EA6-A4BC-14D427E9605C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46059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4" y="2146301"/>
            <a:ext cx="6620967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3583036"/>
            <a:ext cx="6620968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61D9E7-8164-4D4D-907D-41980816F3A1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64971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1" y="1545433"/>
            <a:ext cx="3298113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6" y="1542070"/>
            <a:ext cx="3298115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6FB08C-D342-4EA6-A4BC-14D427E9605C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84363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428750"/>
            <a:ext cx="3298112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1" y="1885950"/>
            <a:ext cx="3298113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7" y="1428750"/>
            <a:ext cx="3298113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7" y="1885950"/>
            <a:ext cx="3298113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6FB08C-D342-4EA6-A4BC-14D427E9605C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54866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2BCCCA-FEAD-4714-90B6-F526238FBEEF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96054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F5658C-D057-45CD-8CB1-D17811A1E7F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5308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085850"/>
            <a:ext cx="2551462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8" y="1085850"/>
            <a:ext cx="3898013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2346961"/>
            <a:ext cx="2551462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6FB08C-D342-4EA6-A4BC-14D427E9605C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78696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390644"/>
            <a:ext cx="3820674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8" y="857250"/>
            <a:ext cx="240092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2743200"/>
            <a:ext cx="3814728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0C9756-C1C1-4F99-B33D-904AD83318E2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8580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4" y="3600440"/>
            <a:ext cx="6620967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514350"/>
            <a:ext cx="6620968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4025494"/>
            <a:ext cx="6620966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F2D28A-C252-4B39-8212-85623359EDE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273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085850"/>
            <a:ext cx="6620968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2743200"/>
            <a:ext cx="6620968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42851A-8229-4F44-BE39-CEC44AFC0064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92346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10" y="1085850"/>
            <a:ext cx="6001049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8" y="2828380"/>
            <a:ext cx="5461159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262993"/>
            <a:ext cx="6620968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6FB08C-D342-4EA6-A4BC-14D427E9605C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898" y="728440"/>
            <a:ext cx="601591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1" y="1960341"/>
            <a:ext cx="601591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4594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2343151"/>
            <a:ext cx="6620969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3583036"/>
            <a:ext cx="6620968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6FB08C-D342-4EA6-A4BC-14D427E9605C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795879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5" y="1485900"/>
            <a:ext cx="221072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000250"/>
            <a:ext cx="2196084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485900"/>
            <a:ext cx="22027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7" y="2000250"/>
            <a:ext cx="2210671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485900"/>
            <a:ext cx="219965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000250"/>
            <a:ext cx="2199658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3D264E-17D8-440A-9945-A5FD6131778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349530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3188212"/>
            <a:ext cx="2205612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1657350"/>
            <a:ext cx="2205612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3620409"/>
            <a:ext cx="2205612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3188212"/>
            <a:ext cx="2198466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1657350"/>
            <a:ext cx="2198466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3620409"/>
            <a:ext cx="220137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3188212"/>
            <a:ext cx="219965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1657350"/>
            <a:ext cx="219965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5" y="3620407"/>
            <a:ext cx="2202571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8FBC2D-FF70-469E-BB7D-6550260A4D3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117902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6FB08C-D342-4EA6-A4BC-14D427E9605C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579384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3" y="322661"/>
            <a:ext cx="1314793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579904"/>
            <a:ext cx="5568812" cy="41123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6FB08C-D342-4EA6-A4BC-14D427E9605C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46072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257300"/>
            <a:ext cx="281940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3" name="Oval 22"/>
          <p:cNvSpPr/>
          <p:nvPr/>
        </p:nvSpPr>
        <p:spPr>
          <a:xfrm>
            <a:off x="5689832" y="-342900"/>
            <a:ext cx="1600200" cy="12001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4" name="Oval 23"/>
          <p:cNvSpPr/>
          <p:nvPr/>
        </p:nvSpPr>
        <p:spPr>
          <a:xfrm>
            <a:off x="6299432" y="4572000"/>
            <a:ext cx="990600" cy="7429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0" name="Oval 19"/>
          <p:cNvSpPr/>
          <p:nvPr/>
        </p:nvSpPr>
        <p:spPr>
          <a:xfrm>
            <a:off x="-153988" y="2000250"/>
            <a:ext cx="4191000" cy="31432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1" name="Oval 20"/>
          <p:cNvSpPr/>
          <p:nvPr/>
        </p:nvSpPr>
        <p:spPr>
          <a:xfrm>
            <a:off x="-839788" y="2171700"/>
            <a:ext cx="2362200" cy="17716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8245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339538"/>
            <a:ext cx="7055380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539694"/>
            <a:ext cx="6711654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8815" y="1342996"/>
            <a:ext cx="74294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5810" y="2418946"/>
            <a:ext cx="2894846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2" y="221803"/>
            <a:ext cx="628813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56FB08C-D342-4EA6-A4BC-14D427E9605C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636982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</p:sldLayoutIdLst>
  <p:txStyles>
    <p:titleStyle>
      <a:lvl1pPr algn="l" defTabSz="342905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80" indent="-257180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22" indent="-214316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65" indent="-171453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70" indent="-171453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76" indent="-171453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85982" indent="-171453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87" indent="-171453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93" indent="-171453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98" indent="-171453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5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1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17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23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29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35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40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46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170122"/>
            <a:ext cx="7772400" cy="61668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 Circles Definition &amp; Purpose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 algn="just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 Circle QC A small group of employees often 6–10 who meet regularly to identify analyze and solve work-related problems within their area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quality productivity safety cost and morale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employee ownership and practical shop-floor insights into improvement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QCs are not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a complaint session not a substitute for management responsibility not a one-time event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" name="Trapezoid 6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CSE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23543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4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901" y="190123"/>
            <a:ext cx="4906978" cy="433661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Trapezoid 5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CSE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5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4582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2260" y="212651"/>
            <a:ext cx="7772400" cy="60605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 Circles Structure Roles and Operating Rhythm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Facilitator Coordinator supports multiple circles removes barriers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Circle Leader runs meetings ensures follow-through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 provide ideas data testing implementation support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Rhythm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weekly biweekly meetings 30–60 minutes focused agenda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inputs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statements baseline data process knowledge customer feedback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outputs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improvements standardized work updates documented lessons learned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Trapezoid 5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CSE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6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642937"/>
            <a:ext cx="7029450" cy="385762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" name="Trapezoid 4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CSE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7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1087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10633"/>
            <a:ext cx="7772400" cy="627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 Circles Problem-Solving Toolkit (Practical Set)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 Circles Problem-Solving Toolkit Practical SetCommon QC tools often 7 basic quality tools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Sheet structured data capture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Pareto Chart prioritize biggest contributors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Cause-and-Effect Fishbone possible root causes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Histogram distribution variation view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Chart process stability over time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Scatter Diagram relationship between variables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Flowchart Process Map visual steps and handoffs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Typical method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PDCA Plan Do Check Act for iterative improvement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Trapezoid 5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CSE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8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44549"/>
            <a:ext cx="7772400" cy="669851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 Function Deployment QFD What It 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QFD A structured approach to translate Voice of the Customer VOC into technical requirements and then into process production requirements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ensure the organization builds the right thing and aligns cross-functional teams early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fewer late changes improved customer satisfaction clearer priorities reduced rework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Trapezoid 5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CSE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10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574895" y="190122"/>
            <a:ext cx="7772400" cy="914400"/>
          </a:xfrm>
        </p:spPr>
        <p:txBody>
          <a:bodyPr/>
          <a:lstStyle/>
          <a:p>
            <a:r>
              <a:rPr lang="en-US" dirty="0"/>
              <a:t>Benefits of QFD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232" y="1213165"/>
            <a:ext cx="4762500" cy="267982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" name="Trapezoid 6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CSE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fld id="{42586BA7-404A-46E8-8DA2-FCED5ECC7933}" type="slidenum">
                <a:rPr lang="en-US" sz="1220" b="1">
                  <a:solidFill>
                    <a:prstClr val="black"/>
                  </a:solidFill>
                  <a:latin typeface="Amasis MT Pro" panose="02040504050005020304" pitchFamily="18" charset="0"/>
                </a:rPr>
                <a:pPr algn="ctr" defTabSz="685800">
                  <a:spcAft>
                    <a:spcPts val="450"/>
                  </a:spcAft>
                  <a:defRPr/>
                </a:pPr>
                <a:t>7</a:t>
              </a:fld>
              <a:endParaRPr lang="en-US" sz="1220" b="1" dirty="0">
                <a:solidFill>
                  <a:prstClr val="black"/>
                </a:solidFill>
                <a:latin typeface="Amasis MT Pro" panose="020405040500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8861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74428"/>
            <a:ext cx="7772400" cy="64858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QFD Core Steps From Customer Needs to Design Targets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 VOC interviews surveys complaints observation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 VOC into customer requirements clear measurable where possible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engineering technical characteristics that affect each requirement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relationships strong medium weak between customer needs and technical characteristics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 competitors and set targets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 into downstream matrices parts process planning control plans as needed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Trapezoid 5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CSE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fld id="{42586BA7-404A-46E8-8DA2-FCED5ECC7933}" type="slidenum">
                <a:rPr lang="en-US" sz="1220" b="1">
                  <a:solidFill>
                    <a:prstClr val="black"/>
                  </a:solidFill>
                  <a:latin typeface="Amasis MT Pro" panose="02040504050005020304" pitchFamily="18" charset="0"/>
                </a:rPr>
                <a:pPr algn="ctr" defTabSz="685800">
                  <a:spcAft>
                    <a:spcPts val="450"/>
                  </a:spcAft>
                  <a:defRPr/>
                </a:pPr>
                <a:t>8</a:t>
              </a:fld>
              <a:endParaRPr lang="en-US" sz="1220" b="1" dirty="0">
                <a:solidFill>
                  <a:prstClr val="black"/>
                </a:solidFill>
                <a:latin typeface="Amasis MT Pro" panose="020405040500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316871"/>
            <a:ext cx="5715000" cy="390204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" name="Trapezoid 4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CSE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fld id="{42586BA7-404A-46E8-8DA2-FCED5ECC7933}" type="slidenum">
                <a:rPr lang="en-US" sz="1220" b="1">
                  <a:solidFill>
                    <a:prstClr val="black"/>
                  </a:solidFill>
                  <a:latin typeface="Amasis MT Pro" panose="02040504050005020304" pitchFamily="18" charset="0"/>
                </a:rPr>
                <a:pPr algn="ctr" defTabSz="685800">
                  <a:spcAft>
                    <a:spcPts val="450"/>
                  </a:spcAft>
                  <a:defRPr/>
                </a:pPr>
                <a:t>9</a:t>
              </a:fld>
              <a:endParaRPr lang="en-US" sz="1220" b="1" dirty="0">
                <a:solidFill>
                  <a:prstClr val="black"/>
                </a:solidFill>
                <a:latin typeface="Amasis MT Pro" panose="020405040500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2699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33916"/>
            <a:ext cx="7772400" cy="542261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House of Quality HOQ How to Read the Matrix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side Whats prioritized customer needs with importance ratings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Hows technical characteristics measurable design process parameters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Middle relationship matrix how strongly each how impacts each what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Roof correlations among technical characteristics synergies tradeoffs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Bottom targets difficulty ratings and competitive assessment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 HOQ converts customer language into actionable technical priorities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Trapezoid 5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CSE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fld id="{42586BA7-404A-46E8-8DA2-FCED5ECC7933}" type="slidenum">
                <a:rPr lang="en-US" sz="1220" b="1">
                  <a:solidFill>
                    <a:prstClr val="black"/>
                  </a:solidFill>
                  <a:latin typeface="Amasis MT Pro" panose="02040504050005020304" pitchFamily="18" charset="0"/>
                </a:rPr>
                <a:pPr algn="ctr" defTabSz="685800">
                  <a:spcAft>
                    <a:spcPts val="450"/>
                  </a:spcAft>
                  <a:defRPr/>
                </a:pPr>
                <a:t>10</a:t>
              </a:fld>
              <a:endParaRPr lang="en-US" sz="1220" b="1" dirty="0">
                <a:solidFill>
                  <a:prstClr val="black"/>
                </a:solidFill>
                <a:latin typeface="Amasis MT Pro" panose="020405040500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60" y="560535"/>
            <a:ext cx="8325293" cy="397956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" name="Trapezoid 4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CSE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fld id="{42586BA7-404A-46E8-8DA2-FCED5ECC7933}" type="slidenum">
                <a:rPr lang="en-US" sz="1220" b="1">
                  <a:solidFill>
                    <a:prstClr val="black"/>
                  </a:solidFill>
                  <a:latin typeface="Amasis MT Pro" panose="02040504050005020304" pitchFamily="18" charset="0"/>
                </a:rPr>
                <a:pPr algn="ctr" defTabSz="685800">
                  <a:spcAft>
                    <a:spcPts val="450"/>
                  </a:spcAft>
                  <a:defRPr/>
                </a:pPr>
                <a:t>11</a:t>
              </a:fld>
              <a:endParaRPr lang="en-US" sz="1220" b="1" dirty="0">
                <a:solidFill>
                  <a:prstClr val="black"/>
                </a:solidFill>
                <a:latin typeface="Amasis MT Pro" panose="020405040500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1182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AB54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883BE07-4D8B-909E-121E-F5692B2F86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1" y="0"/>
            <a:ext cx="2537222" cy="85725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QFD Matrix</a:t>
            </a:r>
          </a:p>
        </p:txBody>
      </p:sp>
      <p:sp>
        <p:nvSpPr>
          <p:cNvPr id="48131" name="Line 3">
            <a:extLst>
              <a:ext uri="{FF2B5EF4-FFF2-40B4-BE49-F238E27FC236}">
                <a16:creationId xmlns:a16="http://schemas.microsoft.com/office/drawing/2014/main" id="{DCCFC5A8-EC88-59EA-A5AB-CD34EA73B8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50594" y="114301"/>
            <a:ext cx="584597" cy="536972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32" name="Line 4">
            <a:extLst>
              <a:ext uri="{FF2B5EF4-FFF2-40B4-BE49-F238E27FC236}">
                <a16:creationId xmlns:a16="http://schemas.microsoft.com/office/drawing/2014/main" id="{9F93456C-D803-535D-918D-BC88F5C53FB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24412" y="584597"/>
            <a:ext cx="71438" cy="6667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33" name="Line 5">
            <a:extLst>
              <a:ext uri="{FF2B5EF4-FFF2-40B4-BE49-F238E27FC236}">
                <a16:creationId xmlns:a16="http://schemas.microsoft.com/office/drawing/2014/main" id="{D6641AB3-EEFC-2217-6D0E-00EFA090A45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95850" y="516731"/>
            <a:ext cx="148829" cy="134541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34" name="Line 6">
            <a:extLst>
              <a:ext uri="{FF2B5EF4-FFF2-40B4-BE49-F238E27FC236}">
                <a16:creationId xmlns:a16="http://schemas.microsoft.com/office/drawing/2014/main" id="{241FEA25-6152-6FAB-31E8-A6F00ACC201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69669" y="450056"/>
            <a:ext cx="221456" cy="2012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35" name="Line 7">
            <a:extLst>
              <a:ext uri="{FF2B5EF4-FFF2-40B4-BE49-F238E27FC236}">
                <a16:creationId xmlns:a16="http://schemas.microsoft.com/office/drawing/2014/main" id="{F59656D7-EF8C-8CF4-974E-6AD1997556F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44679" y="383381"/>
            <a:ext cx="291703" cy="267891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36" name="Line 8">
            <a:extLst>
              <a:ext uri="{FF2B5EF4-FFF2-40B4-BE49-F238E27FC236}">
                <a16:creationId xmlns:a16="http://schemas.microsoft.com/office/drawing/2014/main" id="{2B450ADA-8331-FE76-233E-68146A73B66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17306" y="315517"/>
            <a:ext cx="367904" cy="33575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37" name="Line 9">
            <a:extLst>
              <a:ext uri="{FF2B5EF4-FFF2-40B4-BE49-F238E27FC236}">
                <a16:creationId xmlns:a16="http://schemas.microsoft.com/office/drawing/2014/main" id="{84A7D50C-CCAA-6655-1795-9EB8180E53C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91125" y="248842"/>
            <a:ext cx="439341" cy="402431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38" name="Line 10">
            <a:extLst>
              <a:ext uri="{FF2B5EF4-FFF2-40B4-BE49-F238E27FC236}">
                <a16:creationId xmlns:a16="http://schemas.microsoft.com/office/drawing/2014/main" id="{974C9341-167D-92A6-AD19-E217C8079FC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63754" y="180976"/>
            <a:ext cx="514350" cy="470297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39" name="Line 11">
            <a:extLst>
              <a:ext uri="{FF2B5EF4-FFF2-40B4-BE49-F238E27FC236}">
                <a16:creationId xmlns:a16="http://schemas.microsoft.com/office/drawing/2014/main" id="{E7C89583-1745-93E6-0167-F36369A1EB6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35191" y="114301"/>
            <a:ext cx="584597" cy="536972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40" name="Line 12">
            <a:extLst>
              <a:ext uri="{FF2B5EF4-FFF2-40B4-BE49-F238E27FC236}">
                <a16:creationId xmlns:a16="http://schemas.microsoft.com/office/drawing/2014/main" id="{AB89FBBC-E398-7E54-45A2-318933E594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73341" y="584597"/>
            <a:ext cx="72628" cy="6667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41" name="Line 13">
            <a:extLst>
              <a:ext uri="{FF2B5EF4-FFF2-40B4-BE49-F238E27FC236}">
                <a16:creationId xmlns:a16="http://schemas.microsoft.com/office/drawing/2014/main" id="{70C43F6E-D49B-27E8-44F0-34EE0EB62F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25703" y="516731"/>
            <a:ext cx="147638" cy="134541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42" name="Line 14">
            <a:extLst>
              <a:ext uri="{FF2B5EF4-FFF2-40B4-BE49-F238E27FC236}">
                <a16:creationId xmlns:a16="http://schemas.microsoft.com/office/drawing/2014/main" id="{90E7E64A-329E-242F-DEDD-12FBB980FA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79257" y="450056"/>
            <a:ext cx="221456" cy="2012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43" name="Line 15">
            <a:extLst>
              <a:ext uri="{FF2B5EF4-FFF2-40B4-BE49-F238E27FC236}">
                <a16:creationId xmlns:a16="http://schemas.microsoft.com/office/drawing/2014/main" id="{7F35C083-C93E-C19C-F7A9-A192F10B4E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2810" y="383381"/>
            <a:ext cx="292894" cy="267891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44" name="Line 16">
            <a:extLst>
              <a:ext uri="{FF2B5EF4-FFF2-40B4-BE49-F238E27FC236}">
                <a16:creationId xmlns:a16="http://schemas.microsoft.com/office/drawing/2014/main" id="{891BED7A-F1AD-4485-A501-587BC508AB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5172" y="315517"/>
            <a:ext cx="366713" cy="33575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45" name="Line 17">
            <a:extLst>
              <a:ext uri="{FF2B5EF4-FFF2-40B4-BE49-F238E27FC236}">
                <a16:creationId xmlns:a16="http://schemas.microsoft.com/office/drawing/2014/main" id="{8D6D2171-5D44-C63B-DECC-207A199EF0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39917" y="248842"/>
            <a:ext cx="439340" cy="402431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46" name="Line 18">
            <a:extLst>
              <a:ext uri="{FF2B5EF4-FFF2-40B4-BE49-F238E27FC236}">
                <a16:creationId xmlns:a16="http://schemas.microsoft.com/office/drawing/2014/main" id="{B32114F9-FAA6-831B-DC47-2E7A21ED5F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91088" y="180976"/>
            <a:ext cx="515541" cy="470297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47" name="Line 19">
            <a:extLst>
              <a:ext uri="{FF2B5EF4-FFF2-40B4-BE49-F238E27FC236}">
                <a16:creationId xmlns:a16="http://schemas.microsoft.com/office/drawing/2014/main" id="{4BFAED55-2154-3F13-B386-14BC3A6B2E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45831" y="657225"/>
            <a:ext cx="1177529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48" name="Rectangle 20">
            <a:extLst>
              <a:ext uri="{FF2B5EF4-FFF2-40B4-BE49-F238E27FC236}">
                <a16:creationId xmlns:a16="http://schemas.microsoft.com/office/drawing/2014/main" id="{CD8D3953-506C-410B-FEB7-350DD4DCF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5385" y="4192192"/>
            <a:ext cx="1742464" cy="20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defTabSz="3429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Absolute Weight and Percent</a:t>
            </a:r>
          </a:p>
        </p:txBody>
      </p:sp>
      <p:sp>
        <p:nvSpPr>
          <p:cNvPr id="48149" name="Line 21">
            <a:extLst>
              <a:ext uri="{FF2B5EF4-FFF2-40B4-BE49-F238E27FC236}">
                <a16:creationId xmlns:a16="http://schemas.microsoft.com/office/drawing/2014/main" id="{4CF32F12-FCEB-5430-9DD1-576C1374BE4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944541"/>
            <a:ext cx="295275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50" name="Line 22">
            <a:extLst>
              <a:ext uri="{FF2B5EF4-FFF2-40B4-BE49-F238E27FC236}">
                <a16:creationId xmlns:a16="http://schemas.microsoft.com/office/drawing/2014/main" id="{6895D071-28CE-5276-0D15-F7098B546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221956"/>
            <a:ext cx="162520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51" name="Line 23">
            <a:extLst>
              <a:ext uri="{FF2B5EF4-FFF2-40B4-BE49-F238E27FC236}">
                <a16:creationId xmlns:a16="http://schemas.microsoft.com/office/drawing/2014/main" id="{FBB0937B-510B-2B93-5745-0A3D25EA9EC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5850" y="3944541"/>
            <a:ext cx="0" cy="557213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52" name="Line 24">
            <a:extLst>
              <a:ext uri="{FF2B5EF4-FFF2-40B4-BE49-F238E27FC236}">
                <a16:creationId xmlns:a16="http://schemas.microsoft.com/office/drawing/2014/main" id="{1C154C54-EB5B-7065-A1C3-3258FF4FD7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363641"/>
            <a:ext cx="162520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53" name="Line 25">
            <a:extLst>
              <a:ext uri="{FF2B5EF4-FFF2-40B4-BE49-F238E27FC236}">
                <a16:creationId xmlns:a16="http://schemas.microsoft.com/office/drawing/2014/main" id="{DDD0B5A7-42A2-FB32-BD31-BBE36E638C2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085035"/>
            <a:ext cx="162520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54" name="Line 26">
            <a:extLst>
              <a:ext uri="{FF2B5EF4-FFF2-40B4-BE49-F238E27FC236}">
                <a16:creationId xmlns:a16="http://schemas.microsoft.com/office/drawing/2014/main" id="{9175B7D1-F535-1EE8-ED13-998B4B08D5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3944541"/>
            <a:ext cx="1329929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55" name="Line 27">
            <a:extLst>
              <a:ext uri="{FF2B5EF4-FFF2-40B4-BE49-F238E27FC236}">
                <a16:creationId xmlns:a16="http://schemas.microsoft.com/office/drawing/2014/main" id="{0D2CC48E-9611-57C5-61E1-41E5D1DEAE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4679" y="3944541"/>
            <a:ext cx="1190" cy="557213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56" name="Line 28">
            <a:extLst>
              <a:ext uri="{FF2B5EF4-FFF2-40B4-BE49-F238E27FC236}">
                <a16:creationId xmlns:a16="http://schemas.microsoft.com/office/drawing/2014/main" id="{9AE3DA28-211A-2945-AB0F-381E8E7F48B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1125" y="3944541"/>
            <a:ext cx="1191" cy="557213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57" name="Line 29">
            <a:extLst>
              <a:ext uri="{FF2B5EF4-FFF2-40B4-BE49-F238E27FC236}">
                <a16:creationId xmlns:a16="http://schemas.microsoft.com/office/drawing/2014/main" id="{D4254E39-59D9-97F4-268D-78C61A70F30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9954" y="3944541"/>
            <a:ext cx="0" cy="557213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58" name="Line 30">
            <a:extLst>
              <a:ext uri="{FF2B5EF4-FFF2-40B4-BE49-F238E27FC236}">
                <a16:creationId xmlns:a16="http://schemas.microsoft.com/office/drawing/2014/main" id="{2807A611-1A8B-582E-0A3C-4F611758A7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7591" y="3944541"/>
            <a:ext cx="3572" cy="556022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59" name="Line 31">
            <a:extLst>
              <a:ext uri="{FF2B5EF4-FFF2-40B4-BE49-F238E27FC236}">
                <a16:creationId xmlns:a16="http://schemas.microsoft.com/office/drawing/2014/main" id="{100C2F50-6F63-FFA7-C662-E9C0274E9E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5229" y="3944541"/>
            <a:ext cx="0" cy="557213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60" name="Line 32">
            <a:extLst>
              <a:ext uri="{FF2B5EF4-FFF2-40B4-BE49-F238E27FC236}">
                <a16:creationId xmlns:a16="http://schemas.microsoft.com/office/drawing/2014/main" id="{A03A6A67-579F-3E31-8406-F32BA9BD5A4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1675" y="3944541"/>
            <a:ext cx="0" cy="557213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61" name="Line 33">
            <a:extLst>
              <a:ext uri="{FF2B5EF4-FFF2-40B4-BE49-F238E27FC236}">
                <a16:creationId xmlns:a16="http://schemas.microsoft.com/office/drawing/2014/main" id="{49155713-72E5-7DDC-871E-7AE839BA0D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944541"/>
            <a:ext cx="0" cy="557213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62" name="Line 34">
            <a:extLst>
              <a:ext uri="{FF2B5EF4-FFF2-40B4-BE49-F238E27FC236}">
                <a16:creationId xmlns:a16="http://schemas.microsoft.com/office/drawing/2014/main" id="{9E3E9CDA-DC16-A5FA-F20E-1E5E99FEAA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501754"/>
            <a:ext cx="162520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63" name="Line 35">
            <a:extLst>
              <a:ext uri="{FF2B5EF4-FFF2-40B4-BE49-F238E27FC236}">
                <a16:creationId xmlns:a16="http://schemas.microsoft.com/office/drawing/2014/main" id="{4B36C8E9-C4A3-22F2-C870-0B8ACD4C91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9404" y="3944541"/>
            <a:ext cx="0" cy="14049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64" name="Line 36">
            <a:extLst>
              <a:ext uri="{FF2B5EF4-FFF2-40B4-BE49-F238E27FC236}">
                <a16:creationId xmlns:a16="http://schemas.microsoft.com/office/drawing/2014/main" id="{ADFB823F-AA50-4BF8-E72C-3518205D7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4501754"/>
            <a:ext cx="1178719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65" name="Line 37">
            <a:extLst>
              <a:ext uri="{FF2B5EF4-FFF2-40B4-BE49-F238E27FC236}">
                <a16:creationId xmlns:a16="http://schemas.microsoft.com/office/drawing/2014/main" id="{DEC5A0A6-3F49-1E61-128D-2465560EE3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0504" y="3944542"/>
            <a:ext cx="0" cy="69770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66" name="Line 38">
            <a:extLst>
              <a:ext uri="{FF2B5EF4-FFF2-40B4-BE49-F238E27FC236}">
                <a16:creationId xmlns:a16="http://schemas.microsoft.com/office/drawing/2014/main" id="{8813F6E7-89D1-9409-F8A1-91ABC1BD44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9404" y="4501754"/>
            <a:ext cx="0" cy="27741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67" name="Line 39">
            <a:extLst>
              <a:ext uri="{FF2B5EF4-FFF2-40B4-BE49-F238E27FC236}">
                <a16:creationId xmlns:a16="http://schemas.microsoft.com/office/drawing/2014/main" id="{12071A3C-FD76-1A40-F753-BD09B81EBA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4779169"/>
            <a:ext cx="117991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68" name="Line 40">
            <a:extLst>
              <a:ext uri="{FF2B5EF4-FFF2-40B4-BE49-F238E27FC236}">
                <a16:creationId xmlns:a16="http://schemas.microsoft.com/office/drawing/2014/main" id="{BE502C0E-9B90-C80A-87C6-5A0CFE2598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30504" y="4642247"/>
            <a:ext cx="0" cy="136922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69" name="Rectangle 41">
            <a:extLst>
              <a:ext uri="{FF2B5EF4-FFF2-40B4-BE49-F238E27FC236}">
                <a16:creationId xmlns:a16="http://schemas.microsoft.com/office/drawing/2014/main" id="{BB82E7F9-8E36-A338-B1C4-DF313B19C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1779" y="4477941"/>
            <a:ext cx="1272778" cy="346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defTabSz="3429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Prioritized Technical Descriptors</a:t>
            </a:r>
          </a:p>
        </p:txBody>
      </p:sp>
      <p:sp>
        <p:nvSpPr>
          <p:cNvPr id="48170" name="Rectangle 42">
            <a:extLst>
              <a:ext uri="{FF2B5EF4-FFF2-40B4-BE49-F238E27FC236}">
                <a16:creationId xmlns:a16="http://schemas.microsoft.com/office/drawing/2014/main" id="{85BD60DA-9E9F-A093-799A-63C7A0D80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194" y="3925492"/>
            <a:ext cx="1761700" cy="20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defTabSz="3429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Degree of Technical Difficulty</a:t>
            </a:r>
          </a:p>
        </p:txBody>
      </p:sp>
      <p:sp>
        <p:nvSpPr>
          <p:cNvPr id="48171" name="Rectangle 43">
            <a:extLst>
              <a:ext uri="{FF2B5EF4-FFF2-40B4-BE49-F238E27FC236}">
                <a16:creationId xmlns:a16="http://schemas.microsoft.com/office/drawing/2014/main" id="{ED302E3E-E8CD-5C4D-D1F9-F98CFD498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8957" y="4335067"/>
            <a:ext cx="1691168" cy="20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defTabSz="3429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Relative Weight and Percent</a:t>
            </a:r>
          </a:p>
        </p:txBody>
      </p:sp>
      <p:sp>
        <p:nvSpPr>
          <p:cNvPr id="48172" name="Rectangle 44">
            <a:extLst>
              <a:ext uri="{FF2B5EF4-FFF2-40B4-BE49-F238E27FC236}">
                <a16:creationId xmlns:a16="http://schemas.microsoft.com/office/drawing/2014/main" id="{A9DBFB8E-FBD1-215B-1922-3C511DD57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6575" y="4058842"/>
            <a:ext cx="831958" cy="20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defTabSz="3429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Target Value</a:t>
            </a:r>
          </a:p>
        </p:txBody>
      </p:sp>
      <p:sp>
        <p:nvSpPr>
          <p:cNvPr id="48173" name="Line 45">
            <a:extLst>
              <a:ext uri="{FF2B5EF4-FFF2-40B4-BE49-F238E27FC236}">
                <a16:creationId xmlns:a16="http://schemas.microsoft.com/office/drawing/2014/main" id="{16D9AA6D-C96B-78E5-CDA8-4CBDA8C108C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9404" y="4085035"/>
            <a:ext cx="0" cy="416719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74" name="Line 46">
            <a:extLst>
              <a:ext uri="{FF2B5EF4-FFF2-40B4-BE49-F238E27FC236}">
                <a16:creationId xmlns:a16="http://schemas.microsoft.com/office/drawing/2014/main" id="{CF0C1B7B-6F2F-C081-3D23-4E2E4B8214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9404" y="3944541"/>
            <a:ext cx="11811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75" name="Line 47">
            <a:extLst>
              <a:ext uri="{FF2B5EF4-FFF2-40B4-BE49-F238E27FC236}">
                <a16:creationId xmlns:a16="http://schemas.microsoft.com/office/drawing/2014/main" id="{FFDCC533-B62C-24BF-B9A1-CCB6F5E0909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9404" y="4085035"/>
            <a:ext cx="11811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76" name="Line 48">
            <a:extLst>
              <a:ext uri="{FF2B5EF4-FFF2-40B4-BE49-F238E27FC236}">
                <a16:creationId xmlns:a16="http://schemas.microsoft.com/office/drawing/2014/main" id="{CE8D2591-99F7-9E66-75D9-991461E74B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9404" y="4221956"/>
            <a:ext cx="11811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77" name="Line 49">
            <a:extLst>
              <a:ext uri="{FF2B5EF4-FFF2-40B4-BE49-F238E27FC236}">
                <a16:creationId xmlns:a16="http://schemas.microsoft.com/office/drawing/2014/main" id="{6420C83D-AC6F-F6DC-A302-700372FB5C9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9404" y="4363641"/>
            <a:ext cx="11811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78" name="Line 50">
            <a:extLst>
              <a:ext uri="{FF2B5EF4-FFF2-40B4-BE49-F238E27FC236}">
                <a16:creationId xmlns:a16="http://schemas.microsoft.com/office/drawing/2014/main" id="{944A5872-36FD-14A1-F472-1D1E497B21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7041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79" name="Line 51">
            <a:extLst>
              <a:ext uri="{FF2B5EF4-FFF2-40B4-BE49-F238E27FC236}">
                <a16:creationId xmlns:a16="http://schemas.microsoft.com/office/drawing/2014/main" id="{BC4F97E9-2788-0BCE-6D2F-C7C557E0F1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2446735"/>
            <a:ext cx="162639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80" name="Line 52">
            <a:extLst>
              <a:ext uri="{FF2B5EF4-FFF2-40B4-BE49-F238E27FC236}">
                <a16:creationId xmlns:a16="http://schemas.microsoft.com/office/drawing/2014/main" id="{3701F6A4-28CE-0881-A63A-8C79B2219D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2595563"/>
            <a:ext cx="162639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81" name="Line 53">
            <a:extLst>
              <a:ext uri="{FF2B5EF4-FFF2-40B4-BE49-F238E27FC236}">
                <a16:creationId xmlns:a16="http://schemas.microsoft.com/office/drawing/2014/main" id="{D865356E-7034-F02E-6112-03C1DA9216A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2745581"/>
            <a:ext cx="162639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82" name="Line 54">
            <a:extLst>
              <a:ext uri="{FF2B5EF4-FFF2-40B4-BE49-F238E27FC236}">
                <a16:creationId xmlns:a16="http://schemas.microsoft.com/office/drawing/2014/main" id="{FD930452-E939-8972-4400-26C19AFE712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2893219"/>
            <a:ext cx="162639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83" name="Line 55">
            <a:extLst>
              <a:ext uri="{FF2B5EF4-FFF2-40B4-BE49-F238E27FC236}">
                <a16:creationId xmlns:a16="http://schemas.microsoft.com/office/drawing/2014/main" id="{7564819A-6B98-7CF9-9CC0-FCE65B820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3043238"/>
            <a:ext cx="162639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84" name="Line 56">
            <a:extLst>
              <a:ext uri="{FF2B5EF4-FFF2-40B4-BE49-F238E27FC236}">
                <a16:creationId xmlns:a16="http://schemas.microsoft.com/office/drawing/2014/main" id="{04B10E6C-552B-A623-6882-B2A3CE030E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3190875"/>
            <a:ext cx="162639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85" name="Line 57">
            <a:extLst>
              <a:ext uri="{FF2B5EF4-FFF2-40B4-BE49-F238E27FC236}">
                <a16:creationId xmlns:a16="http://schemas.microsoft.com/office/drawing/2014/main" id="{F8A36F03-F81F-47CC-BDB2-A7BECB85B8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3340894"/>
            <a:ext cx="162639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86" name="Line 58">
            <a:extLst>
              <a:ext uri="{FF2B5EF4-FFF2-40B4-BE49-F238E27FC236}">
                <a16:creationId xmlns:a16="http://schemas.microsoft.com/office/drawing/2014/main" id="{F9F8DD3F-0850-7F09-DDEF-BAF7838082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4697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87" name="Line 59">
            <a:extLst>
              <a:ext uri="{FF2B5EF4-FFF2-40B4-BE49-F238E27FC236}">
                <a16:creationId xmlns:a16="http://schemas.microsoft.com/office/drawing/2014/main" id="{4791599A-5EA1-89BB-9A3C-FEF46BAF1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1144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88" name="Line 60">
            <a:extLst>
              <a:ext uri="{FF2B5EF4-FFF2-40B4-BE49-F238E27FC236}">
                <a16:creationId xmlns:a16="http://schemas.microsoft.com/office/drawing/2014/main" id="{E610F1F1-3D1E-6B47-3AB4-528F867348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9972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89" name="Line 61">
            <a:extLst>
              <a:ext uri="{FF2B5EF4-FFF2-40B4-BE49-F238E27FC236}">
                <a16:creationId xmlns:a16="http://schemas.microsoft.com/office/drawing/2014/main" id="{32C41F5D-356B-4584-03B8-90CDDEA51EC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6419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90" name="Line 62">
            <a:extLst>
              <a:ext uri="{FF2B5EF4-FFF2-40B4-BE49-F238E27FC236}">
                <a16:creationId xmlns:a16="http://schemas.microsoft.com/office/drawing/2014/main" id="{EE3C827C-22D2-3369-3EA7-0B6A2899096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6438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91" name="Line 63">
            <a:extLst>
              <a:ext uri="{FF2B5EF4-FFF2-40B4-BE49-F238E27FC236}">
                <a16:creationId xmlns:a16="http://schemas.microsoft.com/office/drawing/2014/main" id="{59DC099E-03F3-2797-8748-2159F86F10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1713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92" name="Line 64">
            <a:extLst>
              <a:ext uri="{FF2B5EF4-FFF2-40B4-BE49-F238E27FC236}">
                <a16:creationId xmlns:a16="http://schemas.microsoft.com/office/drawing/2014/main" id="{BDBDB15C-34F2-6DC0-C7EE-FA74BBCEACE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0541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93" name="Line 65">
            <a:extLst>
              <a:ext uri="{FF2B5EF4-FFF2-40B4-BE49-F238E27FC236}">
                <a16:creationId xmlns:a16="http://schemas.microsoft.com/office/drawing/2014/main" id="{2B4C87C2-B67E-250C-0253-278D3F5EDB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19475" y="3043238"/>
            <a:ext cx="295275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94" name="Line 66">
            <a:extLst>
              <a:ext uri="{FF2B5EF4-FFF2-40B4-BE49-F238E27FC236}">
                <a16:creationId xmlns:a16="http://schemas.microsoft.com/office/drawing/2014/main" id="{15077837-261B-4262-50F6-7CDD44726A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62388" y="3638550"/>
            <a:ext cx="887016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95" name="Line 67">
            <a:extLst>
              <a:ext uri="{FF2B5EF4-FFF2-40B4-BE49-F238E27FC236}">
                <a16:creationId xmlns:a16="http://schemas.microsoft.com/office/drawing/2014/main" id="{136E5026-1F45-6FE9-E489-81BA87EEAC6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61198" y="3787379"/>
            <a:ext cx="888206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96" name="Line 68">
            <a:extLst>
              <a:ext uri="{FF2B5EF4-FFF2-40B4-BE49-F238E27FC236}">
                <a16:creationId xmlns:a16="http://schemas.microsoft.com/office/drawing/2014/main" id="{A24A8889-7FDA-DC28-F345-29ED2BF32BB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7041" y="3489722"/>
            <a:ext cx="0" cy="44648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97" name="Line 69">
            <a:extLst>
              <a:ext uri="{FF2B5EF4-FFF2-40B4-BE49-F238E27FC236}">
                <a16:creationId xmlns:a16="http://schemas.microsoft.com/office/drawing/2014/main" id="{3967A4BB-772E-8CD2-7ED9-9D142616E09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62388" y="3489723"/>
            <a:ext cx="0" cy="44886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98" name="Line 70">
            <a:extLst>
              <a:ext uri="{FF2B5EF4-FFF2-40B4-BE49-F238E27FC236}">
                <a16:creationId xmlns:a16="http://schemas.microsoft.com/office/drawing/2014/main" id="{EE7D8211-4C5C-60CC-7E54-A4D68E5591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45869" y="3489722"/>
            <a:ext cx="1191" cy="44648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199" name="Line 71">
            <a:extLst>
              <a:ext uri="{FF2B5EF4-FFF2-40B4-BE49-F238E27FC236}">
                <a16:creationId xmlns:a16="http://schemas.microsoft.com/office/drawing/2014/main" id="{C1CCAE41-4F7F-A5AD-8B93-A8DF6A22D9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93506" y="3489722"/>
            <a:ext cx="1191" cy="44648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00" name="Line 72">
            <a:extLst>
              <a:ext uri="{FF2B5EF4-FFF2-40B4-BE49-F238E27FC236}">
                <a16:creationId xmlns:a16="http://schemas.microsoft.com/office/drawing/2014/main" id="{7C4D1228-87C1-E4B3-87EF-3AF7CC3B999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1144" y="3489722"/>
            <a:ext cx="0" cy="44648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01" name="Line 73">
            <a:extLst>
              <a:ext uri="{FF2B5EF4-FFF2-40B4-BE49-F238E27FC236}">
                <a16:creationId xmlns:a16="http://schemas.microsoft.com/office/drawing/2014/main" id="{33EEE231-7554-B644-DCA4-AAE6FE02506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9973" y="3489723"/>
            <a:ext cx="1190" cy="44886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02" name="Line 74">
            <a:extLst>
              <a:ext uri="{FF2B5EF4-FFF2-40B4-BE49-F238E27FC236}">
                <a16:creationId xmlns:a16="http://schemas.microsoft.com/office/drawing/2014/main" id="{3407A2D2-308A-2B26-D28E-9F8479B5A9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6419" y="3489722"/>
            <a:ext cx="0" cy="44648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03" name="Line 75">
            <a:extLst>
              <a:ext uri="{FF2B5EF4-FFF2-40B4-BE49-F238E27FC236}">
                <a16:creationId xmlns:a16="http://schemas.microsoft.com/office/drawing/2014/main" id="{BED2EC56-9D81-A4D3-9537-36ED178CF9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6438" y="3489722"/>
            <a:ext cx="1191" cy="452438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04" name="Line 76">
            <a:extLst>
              <a:ext uri="{FF2B5EF4-FFF2-40B4-BE49-F238E27FC236}">
                <a16:creationId xmlns:a16="http://schemas.microsoft.com/office/drawing/2014/main" id="{08EE72F4-FDEE-A84B-85C9-A8C9F7D90C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3638550"/>
            <a:ext cx="117991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05" name="Line 77">
            <a:extLst>
              <a:ext uri="{FF2B5EF4-FFF2-40B4-BE49-F238E27FC236}">
                <a16:creationId xmlns:a16="http://schemas.microsoft.com/office/drawing/2014/main" id="{167D1E93-42EF-D647-58AC-4D60A1C33F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3787379"/>
            <a:ext cx="117991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06" name="Line 78">
            <a:extLst>
              <a:ext uri="{FF2B5EF4-FFF2-40B4-BE49-F238E27FC236}">
                <a16:creationId xmlns:a16="http://schemas.microsoft.com/office/drawing/2014/main" id="{9EBCE178-FD9A-7218-9F6D-E72349CF6B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5816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07" name="Line 79">
            <a:extLst>
              <a:ext uri="{FF2B5EF4-FFF2-40B4-BE49-F238E27FC236}">
                <a16:creationId xmlns:a16="http://schemas.microsoft.com/office/drawing/2014/main" id="{2A93C37A-0920-3A1A-9C80-858F323C2EF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3454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08" name="Line 80">
            <a:extLst>
              <a:ext uri="{FF2B5EF4-FFF2-40B4-BE49-F238E27FC236}">
                <a16:creationId xmlns:a16="http://schemas.microsoft.com/office/drawing/2014/main" id="{8AB946A2-E500-2899-C72F-91B8090E3C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8781" y="957263"/>
            <a:ext cx="0" cy="29765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09" name="Line 81">
            <a:extLst>
              <a:ext uri="{FF2B5EF4-FFF2-40B4-BE49-F238E27FC236}">
                <a16:creationId xmlns:a16="http://schemas.microsoft.com/office/drawing/2014/main" id="{F3D01827-FED1-F491-B3A3-70E37DA1DF8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297906"/>
            <a:ext cx="162520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10" name="Line 82">
            <a:extLst>
              <a:ext uri="{FF2B5EF4-FFF2-40B4-BE49-F238E27FC236}">
                <a16:creationId xmlns:a16="http://schemas.microsoft.com/office/drawing/2014/main" id="{2DF43056-8C83-7FAE-5287-99CF00D921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11" name="Line 83">
            <a:extLst>
              <a:ext uri="{FF2B5EF4-FFF2-40B4-BE49-F238E27FC236}">
                <a16:creationId xmlns:a16="http://schemas.microsoft.com/office/drawing/2014/main" id="{BB8A580C-3C62-E085-8DA0-56C866969AF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12" name="Line 84">
            <a:extLst>
              <a:ext uri="{FF2B5EF4-FFF2-40B4-BE49-F238E27FC236}">
                <a16:creationId xmlns:a16="http://schemas.microsoft.com/office/drawing/2014/main" id="{8DEF1C97-FDEA-CA3A-15D8-E83B883864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489722"/>
            <a:ext cx="162520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13" name="Line 85">
            <a:extLst>
              <a:ext uri="{FF2B5EF4-FFF2-40B4-BE49-F238E27FC236}">
                <a16:creationId xmlns:a16="http://schemas.microsoft.com/office/drawing/2014/main" id="{5AF9081A-C859-0FE6-1A58-1AB49E904EF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489723"/>
            <a:ext cx="0" cy="2381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14" name="Line 86">
            <a:extLst>
              <a:ext uri="{FF2B5EF4-FFF2-40B4-BE49-F238E27FC236}">
                <a16:creationId xmlns:a16="http://schemas.microsoft.com/office/drawing/2014/main" id="{C2E1AFDB-C592-9C0D-3BB6-EA73BFC37E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489723"/>
            <a:ext cx="0" cy="44529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15" name="Line 87">
            <a:extLst>
              <a:ext uri="{FF2B5EF4-FFF2-40B4-BE49-F238E27FC236}">
                <a16:creationId xmlns:a16="http://schemas.microsoft.com/office/drawing/2014/main" id="{7002E809-4478-AB5F-56CB-652FA112371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3489722"/>
            <a:ext cx="1191" cy="460772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16" name="Line 88">
            <a:extLst>
              <a:ext uri="{FF2B5EF4-FFF2-40B4-BE49-F238E27FC236}">
                <a16:creationId xmlns:a16="http://schemas.microsoft.com/office/drawing/2014/main" id="{2896ACF6-0871-75C8-3399-99B8F844293B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988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17" name="Line 89">
            <a:extLst>
              <a:ext uri="{FF2B5EF4-FFF2-40B4-BE49-F238E27FC236}">
                <a16:creationId xmlns:a16="http://schemas.microsoft.com/office/drawing/2014/main" id="{B85335E0-DD41-8512-FD50-0AB743A6073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4750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18" name="Line 90">
            <a:extLst>
              <a:ext uri="{FF2B5EF4-FFF2-40B4-BE49-F238E27FC236}">
                <a16:creationId xmlns:a16="http://schemas.microsoft.com/office/drawing/2014/main" id="{F16F83DB-0698-CCAB-30AB-F31353EA5C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4750" y="2446735"/>
            <a:ext cx="103465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19" name="Line 91">
            <a:extLst>
              <a:ext uri="{FF2B5EF4-FFF2-40B4-BE49-F238E27FC236}">
                <a16:creationId xmlns:a16="http://schemas.microsoft.com/office/drawing/2014/main" id="{38A7E133-A721-BCE1-20F5-C1CA2B0336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4750" y="2595563"/>
            <a:ext cx="103465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20" name="Line 92">
            <a:extLst>
              <a:ext uri="{FF2B5EF4-FFF2-40B4-BE49-F238E27FC236}">
                <a16:creationId xmlns:a16="http://schemas.microsoft.com/office/drawing/2014/main" id="{A0286DC1-7E14-9B41-116A-528132A708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4750" y="2745581"/>
            <a:ext cx="103465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21" name="Line 93">
            <a:extLst>
              <a:ext uri="{FF2B5EF4-FFF2-40B4-BE49-F238E27FC236}">
                <a16:creationId xmlns:a16="http://schemas.microsoft.com/office/drawing/2014/main" id="{D02E4993-6AED-366F-0E1E-993329739B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4750" y="2893219"/>
            <a:ext cx="103465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22" name="Line 94">
            <a:extLst>
              <a:ext uri="{FF2B5EF4-FFF2-40B4-BE49-F238E27FC236}">
                <a16:creationId xmlns:a16="http://schemas.microsoft.com/office/drawing/2014/main" id="{E2E88160-856B-EED0-68DB-B6A8A047123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4750" y="3043238"/>
            <a:ext cx="103465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23" name="Line 95">
            <a:extLst>
              <a:ext uri="{FF2B5EF4-FFF2-40B4-BE49-F238E27FC236}">
                <a16:creationId xmlns:a16="http://schemas.microsoft.com/office/drawing/2014/main" id="{48FBF13D-FD28-88D5-252F-F3E6426DF3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4750" y="3190875"/>
            <a:ext cx="103465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24" name="Line 96">
            <a:extLst>
              <a:ext uri="{FF2B5EF4-FFF2-40B4-BE49-F238E27FC236}">
                <a16:creationId xmlns:a16="http://schemas.microsoft.com/office/drawing/2014/main" id="{88602BF9-A852-D8EF-CFC3-350B82309D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4750" y="3340894"/>
            <a:ext cx="103465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25" name="Line 97">
            <a:extLst>
              <a:ext uri="{FF2B5EF4-FFF2-40B4-BE49-F238E27FC236}">
                <a16:creationId xmlns:a16="http://schemas.microsoft.com/office/drawing/2014/main" id="{924D56CD-29A3-A1EE-EA0F-0752D52AC3E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26" name="Line 98">
            <a:extLst>
              <a:ext uri="{FF2B5EF4-FFF2-40B4-BE49-F238E27FC236}">
                <a16:creationId xmlns:a16="http://schemas.microsoft.com/office/drawing/2014/main" id="{459EE558-7888-A26C-0AAC-6A10449AB19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3489722"/>
            <a:ext cx="117991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27" name="Line 99">
            <a:extLst>
              <a:ext uri="{FF2B5EF4-FFF2-40B4-BE49-F238E27FC236}">
                <a16:creationId xmlns:a16="http://schemas.microsoft.com/office/drawing/2014/main" id="{6E6887E1-9B29-2BB0-785F-7609566061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885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28" name="Line 100">
            <a:extLst>
              <a:ext uri="{FF2B5EF4-FFF2-40B4-BE49-F238E27FC236}">
                <a16:creationId xmlns:a16="http://schemas.microsoft.com/office/drawing/2014/main" id="{10855924-04FD-57C2-8226-C2BD550338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7041" y="1254919"/>
            <a:ext cx="0" cy="1042988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29" name="Line 101">
            <a:extLst>
              <a:ext uri="{FF2B5EF4-FFF2-40B4-BE49-F238E27FC236}">
                <a16:creationId xmlns:a16="http://schemas.microsoft.com/office/drawing/2014/main" id="{047B9FE7-741A-72F8-3BEE-B4AC1960E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5869" y="1254919"/>
            <a:ext cx="0" cy="104060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30" name="Line 102">
            <a:extLst>
              <a:ext uri="{FF2B5EF4-FFF2-40B4-BE49-F238E27FC236}">
                <a16:creationId xmlns:a16="http://schemas.microsoft.com/office/drawing/2014/main" id="{7B313A43-6007-CDC5-8376-842E9B5D61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3506" y="1254919"/>
            <a:ext cx="0" cy="104060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31" name="Line 103">
            <a:extLst>
              <a:ext uri="{FF2B5EF4-FFF2-40B4-BE49-F238E27FC236}">
                <a16:creationId xmlns:a16="http://schemas.microsoft.com/office/drawing/2014/main" id="{2ADCA17D-38CC-CE5E-5DB6-EDD61C5B47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1144" y="1254919"/>
            <a:ext cx="0" cy="1042988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32" name="Line 104">
            <a:extLst>
              <a:ext uri="{FF2B5EF4-FFF2-40B4-BE49-F238E27FC236}">
                <a16:creationId xmlns:a16="http://schemas.microsoft.com/office/drawing/2014/main" id="{0B5416FA-DA4E-3BAD-4DF6-D731580832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8781" y="1254919"/>
            <a:ext cx="0" cy="1042988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33" name="Line 105">
            <a:extLst>
              <a:ext uri="{FF2B5EF4-FFF2-40B4-BE49-F238E27FC236}">
                <a16:creationId xmlns:a16="http://schemas.microsoft.com/office/drawing/2014/main" id="{8950A013-6429-625D-CA80-75E4BDD5CF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6419" y="1254919"/>
            <a:ext cx="0" cy="1042988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34" name="Line 106">
            <a:extLst>
              <a:ext uri="{FF2B5EF4-FFF2-40B4-BE49-F238E27FC236}">
                <a16:creationId xmlns:a16="http://schemas.microsoft.com/office/drawing/2014/main" id="{CB3531E2-8EFE-FEE3-A537-49BFA4194F4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4056" y="1254919"/>
            <a:ext cx="0" cy="103822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35" name="Line 107">
            <a:extLst>
              <a:ext uri="{FF2B5EF4-FFF2-40B4-BE49-F238E27FC236}">
                <a16:creationId xmlns:a16="http://schemas.microsoft.com/office/drawing/2014/main" id="{99775289-C0D8-68B1-8CEE-B8F2DB7735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1254919"/>
            <a:ext cx="117991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36" name="Line 108">
            <a:extLst>
              <a:ext uri="{FF2B5EF4-FFF2-40B4-BE49-F238E27FC236}">
                <a16:creationId xmlns:a16="http://schemas.microsoft.com/office/drawing/2014/main" id="{9989BFCF-5BC8-1BA7-40A5-2748B8F8DC4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2297906"/>
            <a:ext cx="162639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37" name="Line 109">
            <a:extLst>
              <a:ext uri="{FF2B5EF4-FFF2-40B4-BE49-F238E27FC236}">
                <a16:creationId xmlns:a16="http://schemas.microsoft.com/office/drawing/2014/main" id="{8891C01F-55C0-4911-A550-4BB01D056A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50594" y="1259681"/>
            <a:ext cx="0" cy="103822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38" name="Line 110">
            <a:extLst>
              <a:ext uri="{FF2B5EF4-FFF2-40B4-BE49-F238E27FC236}">
                <a16:creationId xmlns:a16="http://schemas.microsoft.com/office/drawing/2014/main" id="{2EAE9DD8-DB4E-48E0-316C-981C1959956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885" y="1254919"/>
            <a:ext cx="0" cy="1042988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39" name="Rectangle 111">
            <a:extLst>
              <a:ext uri="{FF2B5EF4-FFF2-40B4-BE49-F238E27FC236}">
                <a16:creationId xmlns:a16="http://schemas.microsoft.com/office/drawing/2014/main" id="{9725A0FD-0901-B3BA-B311-FDDCCEC87FB5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723555" y="2765255"/>
            <a:ext cx="1125141" cy="319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defTabSz="34290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Customer Requirements</a:t>
            </a:r>
          </a:p>
        </p:txBody>
      </p:sp>
      <p:sp>
        <p:nvSpPr>
          <p:cNvPr id="48240" name="Line 112">
            <a:extLst>
              <a:ext uri="{FF2B5EF4-FFF2-40B4-BE49-F238E27FC236}">
                <a16:creationId xmlns:a16="http://schemas.microsoft.com/office/drawing/2014/main" id="{20CD687E-78A2-4283-287D-5D0B86F682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885" y="3489723"/>
            <a:ext cx="0" cy="134064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41" name="Rectangle 113">
            <a:extLst>
              <a:ext uri="{FF2B5EF4-FFF2-40B4-BE49-F238E27FC236}">
                <a16:creationId xmlns:a16="http://schemas.microsoft.com/office/drawing/2014/main" id="{693CCC02-CF21-26A3-C7B2-F51DD96A60B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784182" y="2675813"/>
            <a:ext cx="1092994" cy="422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defTabSz="342900">
              <a:lnSpc>
                <a:spcPct val="85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Prioritized Customer</a:t>
            </a:r>
          </a:p>
          <a:p>
            <a:pPr algn="ctr" defTabSz="342900">
              <a:lnSpc>
                <a:spcPct val="85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Requirements</a:t>
            </a:r>
          </a:p>
        </p:txBody>
      </p:sp>
      <p:sp>
        <p:nvSpPr>
          <p:cNvPr id="48242" name="Line 114">
            <a:extLst>
              <a:ext uri="{FF2B5EF4-FFF2-40B4-BE49-F238E27FC236}">
                <a16:creationId xmlns:a16="http://schemas.microsoft.com/office/drawing/2014/main" id="{8CCCCC33-EE79-8053-EBDE-550C240874F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885" y="4830366"/>
            <a:ext cx="444103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43" name="Line 115">
            <a:extLst>
              <a:ext uri="{FF2B5EF4-FFF2-40B4-BE49-F238E27FC236}">
                <a16:creationId xmlns:a16="http://schemas.microsoft.com/office/drawing/2014/main" id="{EC128047-303B-47C2-E338-B8D58FF0A5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50594" y="957263"/>
            <a:ext cx="0" cy="29765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44" name="Line 116">
            <a:extLst>
              <a:ext uri="{FF2B5EF4-FFF2-40B4-BE49-F238E27FC236}">
                <a16:creationId xmlns:a16="http://schemas.microsoft.com/office/drawing/2014/main" id="{039634A4-4222-065F-E36D-8AFB602AF29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885" y="957263"/>
            <a:ext cx="0" cy="29765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45" name="Line 117">
            <a:extLst>
              <a:ext uri="{FF2B5EF4-FFF2-40B4-BE49-F238E27FC236}">
                <a16:creationId xmlns:a16="http://schemas.microsoft.com/office/drawing/2014/main" id="{000B367F-7D66-1DA6-008C-382EA60EB4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957263"/>
            <a:ext cx="117991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46" name="Rectangle 118">
            <a:extLst>
              <a:ext uri="{FF2B5EF4-FFF2-40B4-BE49-F238E27FC236}">
                <a16:creationId xmlns:a16="http://schemas.microsoft.com/office/drawing/2014/main" id="{6F8E29CA-2734-A837-3833-E149E160B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9644" y="665560"/>
            <a:ext cx="1143000" cy="319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defTabSz="34290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Technical Descriptors</a:t>
            </a:r>
          </a:p>
        </p:txBody>
      </p:sp>
      <p:sp>
        <p:nvSpPr>
          <p:cNvPr id="48247" name="Line 119">
            <a:extLst>
              <a:ext uri="{FF2B5EF4-FFF2-40B4-BE49-F238E27FC236}">
                <a16:creationId xmlns:a16="http://schemas.microsoft.com/office/drawing/2014/main" id="{BC8FF69F-23E4-2F26-E2BA-C919D38322C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987" y="2297906"/>
            <a:ext cx="442913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48" name="Line 120">
            <a:extLst>
              <a:ext uri="{FF2B5EF4-FFF2-40B4-BE49-F238E27FC236}">
                <a16:creationId xmlns:a16="http://schemas.microsoft.com/office/drawing/2014/main" id="{63C3932C-6FB9-A979-3482-B12014551E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987" y="3489722"/>
            <a:ext cx="442913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49" name="Line 121">
            <a:extLst>
              <a:ext uri="{FF2B5EF4-FFF2-40B4-BE49-F238E27FC236}">
                <a16:creationId xmlns:a16="http://schemas.microsoft.com/office/drawing/2014/main" id="{26FE8F84-E339-6CB6-564A-804BEB57BD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13560" y="1254919"/>
            <a:ext cx="0" cy="1042988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50" name="Line 122">
            <a:extLst>
              <a:ext uri="{FF2B5EF4-FFF2-40B4-BE49-F238E27FC236}">
                <a16:creationId xmlns:a16="http://schemas.microsoft.com/office/drawing/2014/main" id="{25F9F609-1814-A0BF-345F-44CAEF8524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18285" y="957263"/>
            <a:ext cx="0" cy="134064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51" name="Line 123">
            <a:extLst>
              <a:ext uri="{FF2B5EF4-FFF2-40B4-BE49-F238E27FC236}">
                <a16:creationId xmlns:a16="http://schemas.microsoft.com/office/drawing/2014/main" id="{E820BF8B-55EE-4A59-4154-A4F309444C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3560" y="1254919"/>
            <a:ext cx="103584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52" name="Line 124">
            <a:extLst>
              <a:ext uri="{FF2B5EF4-FFF2-40B4-BE49-F238E27FC236}">
                <a16:creationId xmlns:a16="http://schemas.microsoft.com/office/drawing/2014/main" id="{844BD360-F74F-9032-5BBC-4698DF9D50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8285" y="957263"/>
            <a:ext cx="1331119" cy="134064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53" name="Rectangle 125">
            <a:extLst>
              <a:ext uri="{FF2B5EF4-FFF2-40B4-BE49-F238E27FC236}">
                <a16:creationId xmlns:a16="http://schemas.microsoft.com/office/drawing/2014/main" id="{32638D68-940C-C183-BFB6-B412FAEDB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0787" y="998935"/>
            <a:ext cx="569066" cy="20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defTabSz="3429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Primary</a:t>
            </a:r>
          </a:p>
        </p:txBody>
      </p:sp>
      <p:sp>
        <p:nvSpPr>
          <p:cNvPr id="48254" name="Rectangle 126">
            <a:extLst>
              <a:ext uri="{FF2B5EF4-FFF2-40B4-BE49-F238E27FC236}">
                <a16:creationId xmlns:a16="http://schemas.microsoft.com/office/drawing/2014/main" id="{1053C866-458D-D422-61F1-320AF7758D7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266507" y="1910422"/>
            <a:ext cx="569066" cy="20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defTabSz="3429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Primary</a:t>
            </a:r>
          </a:p>
        </p:txBody>
      </p:sp>
      <p:sp>
        <p:nvSpPr>
          <p:cNvPr id="48255" name="Rectangle 127">
            <a:extLst>
              <a:ext uri="{FF2B5EF4-FFF2-40B4-BE49-F238E27FC236}">
                <a16:creationId xmlns:a16="http://schemas.microsoft.com/office/drawing/2014/main" id="{7AD2DFB0-61E6-98EA-6FD1-EEA51640D79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512588" y="1824102"/>
            <a:ext cx="729366" cy="20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defTabSz="3429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Secondary</a:t>
            </a:r>
          </a:p>
        </p:txBody>
      </p:sp>
      <p:sp>
        <p:nvSpPr>
          <p:cNvPr id="48256" name="Rectangle 128">
            <a:extLst>
              <a:ext uri="{FF2B5EF4-FFF2-40B4-BE49-F238E27FC236}">
                <a16:creationId xmlns:a16="http://schemas.microsoft.com/office/drawing/2014/main" id="{8D221C1B-5B56-5D65-91DA-6632EDEAD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744" y="1333501"/>
            <a:ext cx="729366" cy="20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defTabSz="3429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Secondary</a:t>
            </a:r>
          </a:p>
        </p:txBody>
      </p:sp>
      <p:sp>
        <p:nvSpPr>
          <p:cNvPr id="48257" name="Rectangle 129">
            <a:extLst>
              <a:ext uri="{FF2B5EF4-FFF2-40B4-BE49-F238E27FC236}">
                <a16:creationId xmlns:a16="http://schemas.microsoft.com/office/drawing/2014/main" id="{2D344D11-0F50-4B67-A581-7D53024AD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726" y="3505200"/>
            <a:ext cx="819135" cy="402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defTabSz="342900">
              <a:lnSpc>
                <a:spcPct val="80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Technical</a:t>
            </a:r>
          </a:p>
          <a:p>
            <a:pPr algn="ctr" defTabSz="342900">
              <a:lnSpc>
                <a:spcPct val="80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Competitive</a:t>
            </a:r>
          </a:p>
          <a:p>
            <a:pPr algn="ctr" defTabSz="342900">
              <a:lnSpc>
                <a:spcPct val="80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Assessment</a:t>
            </a:r>
          </a:p>
        </p:txBody>
      </p:sp>
      <p:sp>
        <p:nvSpPr>
          <p:cNvPr id="48258" name="Rectangle 130">
            <a:extLst>
              <a:ext uri="{FF2B5EF4-FFF2-40B4-BE49-F238E27FC236}">
                <a16:creationId xmlns:a16="http://schemas.microsoft.com/office/drawing/2014/main" id="{B167A5AF-157E-C400-5A45-41BEF10CB893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5741201" y="4247110"/>
            <a:ext cx="819135" cy="402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defTabSz="342900">
              <a:lnSpc>
                <a:spcPct val="80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Customer</a:t>
            </a:r>
          </a:p>
          <a:p>
            <a:pPr algn="ctr" defTabSz="342900">
              <a:lnSpc>
                <a:spcPct val="80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Competitive</a:t>
            </a:r>
          </a:p>
          <a:p>
            <a:pPr algn="ctr" defTabSz="342900">
              <a:lnSpc>
                <a:spcPct val="80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Assessment</a:t>
            </a:r>
          </a:p>
        </p:txBody>
      </p:sp>
      <p:sp>
        <p:nvSpPr>
          <p:cNvPr id="48259" name="Line 131">
            <a:extLst>
              <a:ext uri="{FF2B5EF4-FFF2-40B4-BE49-F238E27FC236}">
                <a16:creationId xmlns:a16="http://schemas.microsoft.com/office/drawing/2014/main" id="{6571304E-25F6-3D61-2D6C-F600E3C193D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1713" y="3489722"/>
            <a:ext cx="0" cy="595313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60" name="Line 132">
            <a:extLst>
              <a:ext uri="{FF2B5EF4-FFF2-40B4-BE49-F238E27FC236}">
                <a16:creationId xmlns:a16="http://schemas.microsoft.com/office/drawing/2014/main" id="{A6976161-71F1-D3C7-0EFE-6C4EC2A384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9350" y="3489722"/>
            <a:ext cx="0" cy="595313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61" name="Line 133">
            <a:extLst>
              <a:ext uri="{FF2B5EF4-FFF2-40B4-BE49-F238E27FC236}">
                <a16:creationId xmlns:a16="http://schemas.microsoft.com/office/drawing/2014/main" id="{56B7A91F-5615-F7FB-6761-D2474A9B32B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988" y="3489723"/>
            <a:ext cx="0" cy="134064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62" name="Line 134">
            <a:extLst>
              <a:ext uri="{FF2B5EF4-FFF2-40B4-BE49-F238E27FC236}">
                <a16:creationId xmlns:a16="http://schemas.microsoft.com/office/drawing/2014/main" id="{DED69DA5-A1CD-39CB-8DF2-B88F38C994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987" y="4830366"/>
            <a:ext cx="44410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63" name="Line 135">
            <a:extLst>
              <a:ext uri="{FF2B5EF4-FFF2-40B4-BE49-F238E27FC236}">
                <a16:creationId xmlns:a16="http://schemas.microsoft.com/office/drawing/2014/main" id="{8EF02434-FF6A-BFF1-5BD5-65F6E29322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885" y="4085035"/>
            <a:ext cx="444103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64" name="Rectangle 136">
            <a:extLst>
              <a:ext uri="{FF2B5EF4-FFF2-40B4-BE49-F238E27FC236}">
                <a16:creationId xmlns:a16="http://schemas.microsoft.com/office/drawing/2014/main" id="{8A142A6F-7DA0-470C-D99F-A1FE446CD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5719" y="3471863"/>
            <a:ext cx="410766" cy="49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defTabSz="342900">
              <a:lnSpc>
                <a:spcPct val="105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Our</a:t>
            </a:r>
          </a:p>
          <a:p>
            <a:pPr defTabSz="342900">
              <a:lnSpc>
                <a:spcPct val="105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A’s</a:t>
            </a:r>
          </a:p>
          <a:p>
            <a:pPr defTabSz="342900">
              <a:lnSpc>
                <a:spcPct val="105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B’s</a:t>
            </a:r>
          </a:p>
        </p:txBody>
      </p:sp>
      <p:sp>
        <p:nvSpPr>
          <p:cNvPr id="48265" name="Line 137">
            <a:extLst>
              <a:ext uri="{FF2B5EF4-FFF2-40B4-BE49-F238E27FC236}">
                <a16:creationId xmlns:a16="http://schemas.microsoft.com/office/drawing/2014/main" id="{12590AC6-6A39-BAC2-9E53-95B9672AC337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6366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66" name="Line 138">
            <a:extLst>
              <a:ext uri="{FF2B5EF4-FFF2-40B4-BE49-F238E27FC236}">
                <a16:creationId xmlns:a16="http://schemas.microsoft.com/office/drawing/2014/main" id="{F5992D47-B084-314F-B7EB-F523A2A88017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6366" y="3489722"/>
            <a:ext cx="0" cy="1337072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67" name="Line 139">
            <a:extLst>
              <a:ext uri="{FF2B5EF4-FFF2-40B4-BE49-F238E27FC236}">
                <a16:creationId xmlns:a16="http://schemas.microsoft.com/office/drawing/2014/main" id="{6B873C10-D406-C55D-E3E9-A3AB3CFBBA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19900" y="4830366"/>
            <a:ext cx="296466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68" name="Line 140">
            <a:extLst>
              <a:ext uri="{FF2B5EF4-FFF2-40B4-BE49-F238E27FC236}">
                <a16:creationId xmlns:a16="http://schemas.microsoft.com/office/drawing/2014/main" id="{050730E9-93E2-2353-6411-F9B3ED1D3C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19900" y="2296717"/>
            <a:ext cx="706041" cy="119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69" name="Line 141">
            <a:extLst>
              <a:ext uri="{FF2B5EF4-FFF2-40B4-BE49-F238E27FC236}">
                <a16:creationId xmlns:a16="http://schemas.microsoft.com/office/drawing/2014/main" id="{81D96714-59FA-DBF6-7958-D2CEB357446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9900" y="3489722"/>
            <a:ext cx="296466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70" name="Line 142">
            <a:extLst>
              <a:ext uri="{FF2B5EF4-FFF2-40B4-BE49-F238E27FC236}">
                <a16:creationId xmlns:a16="http://schemas.microsoft.com/office/drawing/2014/main" id="{054706B7-4177-FFC4-C877-978C07B4EA5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3269" y="3489722"/>
            <a:ext cx="422672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71" name="Line 143">
            <a:extLst>
              <a:ext uri="{FF2B5EF4-FFF2-40B4-BE49-F238E27FC236}">
                <a16:creationId xmlns:a16="http://schemas.microsoft.com/office/drawing/2014/main" id="{979D255C-0BEE-E904-AB1F-AB5A109803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987" y="2446735"/>
            <a:ext cx="739379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72" name="Line 144">
            <a:extLst>
              <a:ext uri="{FF2B5EF4-FFF2-40B4-BE49-F238E27FC236}">
                <a16:creationId xmlns:a16="http://schemas.microsoft.com/office/drawing/2014/main" id="{5B6D7032-6F0D-D914-5861-3AB0A1E9A2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987" y="2893219"/>
            <a:ext cx="739379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73" name="Line 145">
            <a:extLst>
              <a:ext uri="{FF2B5EF4-FFF2-40B4-BE49-F238E27FC236}">
                <a16:creationId xmlns:a16="http://schemas.microsoft.com/office/drawing/2014/main" id="{F88E0B95-9E41-1939-74F2-5BF940F6F6C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987" y="3043238"/>
            <a:ext cx="739379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74" name="Line 146">
            <a:extLst>
              <a:ext uri="{FF2B5EF4-FFF2-40B4-BE49-F238E27FC236}">
                <a16:creationId xmlns:a16="http://schemas.microsoft.com/office/drawing/2014/main" id="{CC31433E-8566-584C-0FB8-73F08343CA9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987" y="3190875"/>
            <a:ext cx="739379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75" name="Line 147">
            <a:extLst>
              <a:ext uri="{FF2B5EF4-FFF2-40B4-BE49-F238E27FC236}">
                <a16:creationId xmlns:a16="http://schemas.microsoft.com/office/drawing/2014/main" id="{EBEB21D1-9E64-8AD7-3BD7-899AF6CCC03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987" y="3340894"/>
            <a:ext cx="739379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76" name="Line 148">
            <a:extLst>
              <a:ext uri="{FF2B5EF4-FFF2-40B4-BE49-F238E27FC236}">
                <a16:creationId xmlns:a16="http://schemas.microsoft.com/office/drawing/2014/main" id="{D0ABAFE4-5ADD-4582-AE63-36BCEF8B789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987" y="2595563"/>
            <a:ext cx="739379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77" name="Line 149">
            <a:extLst>
              <a:ext uri="{FF2B5EF4-FFF2-40B4-BE49-F238E27FC236}">
                <a16:creationId xmlns:a16="http://schemas.microsoft.com/office/drawing/2014/main" id="{5E43F649-1E73-E6D6-3CF7-A347E4CAE17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987" y="2745581"/>
            <a:ext cx="739379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78" name="Line 150">
            <a:extLst>
              <a:ext uri="{FF2B5EF4-FFF2-40B4-BE49-F238E27FC236}">
                <a16:creationId xmlns:a16="http://schemas.microsoft.com/office/drawing/2014/main" id="{D6C6780A-BBC0-7C22-0E46-05E8DA794C98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5869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79" name="Rectangle 151">
            <a:extLst>
              <a:ext uri="{FF2B5EF4-FFF2-40B4-BE49-F238E27FC236}">
                <a16:creationId xmlns:a16="http://schemas.microsoft.com/office/drawing/2014/main" id="{3E20E566-093D-3CC1-9257-3B2E3F67024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090643" y="3775016"/>
            <a:ext cx="1319213" cy="786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defTabSz="342900">
              <a:lnSpc>
                <a:spcPct val="105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Customer Importance</a:t>
            </a:r>
          </a:p>
          <a:p>
            <a:pPr defTabSz="342900">
              <a:lnSpc>
                <a:spcPct val="105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Target Value</a:t>
            </a:r>
          </a:p>
          <a:p>
            <a:pPr defTabSz="342900">
              <a:lnSpc>
                <a:spcPct val="105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Scale-up Factor</a:t>
            </a:r>
          </a:p>
          <a:p>
            <a:pPr defTabSz="342900">
              <a:lnSpc>
                <a:spcPct val="105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Sales Point</a:t>
            </a:r>
          </a:p>
          <a:p>
            <a:pPr defTabSz="342900">
              <a:lnSpc>
                <a:spcPct val="105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Absolute Weight</a:t>
            </a:r>
          </a:p>
        </p:txBody>
      </p:sp>
      <p:sp>
        <p:nvSpPr>
          <p:cNvPr id="48280" name="Line 152">
            <a:extLst>
              <a:ext uri="{FF2B5EF4-FFF2-40B4-BE49-F238E27FC236}">
                <a16:creationId xmlns:a16="http://schemas.microsoft.com/office/drawing/2014/main" id="{5AF1A289-D373-8CDF-8D72-6476DB558F0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8729" y="2297907"/>
            <a:ext cx="0" cy="252650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81" name="Line 153">
            <a:extLst>
              <a:ext uri="{FF2B5EF4-FFF2-40B4-BE49-F238E27FC236}">
                <a16:creationId xmlns:a16="http://schemas.microsoft.com/office/drawing/2014/main" id="{C2E2C460-65E5-A198-FB7C-20C62394D5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3010" y="3936206"/>
            <a:ext cx="2809875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82" name="Line 154">
            <a:extLst>
              <a:ext uri="{FF2B5EF4-FFF2-40B4-BE49-F238E27FC236}">
                <a16:creationId xmlns:a16="http://schemas.microsoft.com/office/drawing/2014/main" id="{05A56F76-67B1-7B63-AF92-F70D4740A2FA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8322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83" name="Line 155">
            <a:extLst>
              <a:ext uri="{FF2B5EF4-FFF2-40B4-BE49-F238E27FC236}">
                <a16:creationId xmlns:a16="http://schemas.microsoft.com/office/drawing/2014/main" id="{1C049054-99AD-C755-78EC-9C9F02E4BE2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885" y="659607"/>
            <a:ext cx="0" cy="29765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84" name="Line 156">
            <a:extLst>
              <a:ext uri="{FF2B5EF4-FFF2-40B4-BE49-F238E27FC236}">
                <a16:creationId xmlns:a16="http://schemas.microsoft.com/office/drawing/2014/main" id="{F33D9E33-B4DF-6A53-B912-061E4BBD6F4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4625" y="2297906"/>
            <a:ext cx="0" cy="2528888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85" name="Line 157">
            <a:extLst>
              <a:ext uri="{FF2B5EF4-FFF2-40B4-BE49-F238E27FC236}">
                <a16:creationId xmlns:a16="http://schemas.microsoft.com/office/drawing/2014/main" id="{02475D70-9935-AD59-3902-095914B218F3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2263" y="2297907"/>
            <a:ext cx="0" cy="252650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86" name="Line 158">
            <a:extLst>
              <a:ext uri="{FF2B5EF4-FFF2-40B4-BE49-F238E27FC236}">
                <a16:creationId xmlns:a16="http://schemas.microsoft.com/office/drawing/2014/main" id="{5D022518-7265-6325-D51D-473D7EFA83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9900" y="2297907"/>
            <a:ext cx="0" cy="252650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87" name="Line 159">
            <a:extLst>
              <a:ext uri="{FF2B5EF4-FFF2-40B4-BE49-F238E27FC236}">
                <a16:creationId xmlns:a16="http://schemas.microsoft.com/office/drawing/2014/main" id="{043B2279-C492-E94C-6FED-4B5A4CAC13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885" y="3489722"/>
            <a:ext cx="444103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88" name="Line 160">
            <a:extLst>
              <a:ext uri="{FF2B5EF4-FFF2-40B4-BE49-F238E27FC236}">
                <a16:creationId xmlns:a16="http://schemas.microsoft.com/office/drawing/2014/main" id="{C93037DF-B522-C2F0-0A33-223BA11692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659606"/>
            <a:ext cx="117991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89" name="Line 161">
            <a:extLst>
              <a:ext uri="{FF2B5EF4-FFF2-40B4-BE49-F238E27FC236}">
                <a16:creationId xmlns:a16="http://schemas.microsoft.com/office/drawing/2014/main" id="{6FADF8DA-FDA8-6982-127E-A3DC865355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8285" y="957263"/>
            <a:ext cx="1328738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90" name="Line 162">
            <a:extLst>
              <a:ext uri="{FF2B5EF4-FFF2-40B4-BE49-F238E27FC236}">
                <a16:creationId xmlns:a16="http://schemas.microsoft.com/office/drawing/2014/main" id="{A2C6C59B-C940-7D8E-4809-21F86FABF2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50594" y="659607"/>
            <a:ext cx="0" cy="29765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8291" name="Rectangle 163">
            <a:extLst>
              <a:ext uri="{FF2B5EF4-FFF2-40B4-BE49-F238E27FC236}">
                <a16:creationId xmlns:a16="http://schemas.microsoft.com/office/drawing/2014/main" id="{0DA96FE5-C12F-6CBA-F0F6-0C835DFD2B05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5959079" y="3553134"/>
            <a:ext cx="410766" cy="49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defTabSz="342900">
              <a:lnSpc>
                <a:spcPct val="105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Our</a:t>
            </a:r>
          </a:p>
          <a:p>
            <a:pPr defTabSz="342900">
              <a:lnSpc>
                <a:spcPct val="105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A’s</a:t>
            </a:r>
          </a:p>
          <a:p>
            <a:pPr defTabSz="342900">
              <a:lnSpc>
                <a:spcPct val="105000"/>
              </a:lnSpc>
              <a:spcBef>
                <a:spcPct val="0"/>
              </a:spcBef>
              <a:buClr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B’s</a:t>
            </a:r>
          </a:p>
        </p:txBody>
      </p:sp>
      <p:grpSp>
        <p:nvGrpSpPr>
          <p:cNvPr id="48292" name="Group 177">
            <a:extLst>
              <a:ext uri="{FF2B5EF4-FFF2-40B4-BE49-F238E27FC236}">
                <a16:creationId xmlns:a16="http://schemas.microsoft.com/office/drawing/2014/main" id="{6751B599-A470-897E-9E88-B788AA087EE7}"/>
              </a:ext>
            </a:extLst>
          </p:cNvPr>
          <p:cNvGrpSpPr>
            <a:grpSpLocks/>
          </p:cNvGrpSpPr>
          <p:nvPr/>
        </p:nvGrpSpPr>
        <p:grpSpPr bwMode="auto">
          <a:xfrm>
            <a:off x="5859066" y="507206"/>
            <a:ext cx="2101453" cy="1644254"/>
            <a:chOff x="3961" y="426"/>
            <a:chExt cx="1765" cy="1381"/>
          </a:xfrm>
        </p:grpSpPr>
        <p:sp>
          <p:nvSpPr>
            <p:cNvPr id="48316" name="Rectangle 164">
              <a:extLst>
                <a:ext uri="{FF2B5EF4-FFF2-40B4-BE49-F238E27FC236}">
                  <a16:creationId xmlns:a16="http://schemas.microsoft.com/office/drawing/2014/main" id="{12361D50-C948-B6DD-2C7F-A6CFBBA1E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1" y="426"/>
              <a:ext cx="1765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algn="ctr"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r>
                <a:rPr lang="en-US" altLang="en-US" sz="12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Relationship between</a:t>
              </a:r>
            </a:p>
            <a:p>
              <a:pPr algn="ctr"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r>
                <a:rPr lang="en-US" altLang="en-US" sz="12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Customer Requirements and</a:t>
              </a:r>
            </a:p>
            <a:p>
              <a:pPr algn="ctr"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r>
                <a:rPr lang="en-US" altLang="en-US" sz="12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Technical Descriptors</a:t>
              </a:r>
            </a:p>
            <a:p>
              <a:pPr algn="ctr"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r>
                <a:rPr lang="en-US" altLang="en-US" sz="12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WHATs vs. HOWs</a:t>
              </a:r>
            </a:p>
          </p:txBody>
        </p:sp>
        <p:sp>
          <p:nvSpPr>
            <p:cNvPr id="48317" name="Rectangle 165">
              <a:extLst>
                <a:ext uri="{FF2B5EF4-FFF2-40B4-BE49-F238E27FC236}">
                  <a16:creationId xmlns:a16="http://schemas.microsoft.com/office/drawing/2014/main" id="{451E9929-6C47-01B3-11B6-83D1FE065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9" y="1321"/>
              <a:ext cx="481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80000"/>
                </a:lnSpc>
                <a:spcBef>
                  <a:spcPct val="0"/>
                </a:spcBef>
                <a:buClr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Strong</a:t>
              </a:r>
            </a:p>
          </p:txBody>
        </p:sp>
        <p:sp>
          <p:nvSpPr>
            <p:cNvPr id="48318" name="Rectangle 166">
              <a:extLst>
                <a:ext uri="{FF2B5EF4-FFF2-40B4-BE49-F238E27FC236}">
                  <a16:creationId xmlns:a16="http://schemas.microsoft.com/office/drawing/2014/main" id="{0B1AE691-7AD2-6144-1450-7D156D160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464"/>
              <a:ext cx="544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80000"/>
                </a:lnSpc>
                <a:spcBef>
                  <a:spcPct val="0"/>
                </a:spcBef>
                <a:buClr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Medium</a:t>
              </a:r>
            </a:p>
          </p:txBody>
        </p:sp>
        <p:sp>
          <p:nvSpPr>
            <p:cNvPr id="48319" name="Rectangle 167">
              <a:extLst>
                <a:ext uri="{FF2B5EF4-FFF2-40B4-BE49-F238E27FC236}">
                  <a16:creationId xmlns:a16="http://schemas.microsoft.com/office/drawing/2014/main" id="{16ECA596-2A85-E79C-A2F8-52E8D0A32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616"/>
              <a:ext cx="413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80000"/>
                </a:lnSpc>
                <a:spcBef>
                  <a:spcPct val="0"/>
                </a:spcBef>
                <a:buClr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Weak</a:t>
              </a:r>
            </a:p>
          </p:txBody>
        </p:sp>
        <p:sp>
          <p:nvSpPr>
            <p:cNvPr id="48320" name="Oval 168">
              <a:extLst>
                <a:ext uri="{FF2B5EF4-FFF2-40B4-BE49-F238E27FC236}">
                  <a16:creationId xmlns:a16="http://schemas.microsoft.com/office/drawing/2014/main" id="{111B0AA4-FF4D-7AAD-D193-49E4E4AEC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1" y="1482"/>
              <a:ext cx="60" cy="63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  <p:grpSp>
          <p:nvGrpSpPr>
            <p:cNvPr id="48321" name="Group 171">
              <a:extLst>
                <a:ext uri="{FF2B5EF4-FFF2-40B4-BE49-F238E27FC236}">
                  <a16:creationId xmlns:a16="http://schemas.microsoft.com/office/drawing/2014/main" id="{9E1384BA-B0D1-2B4C-2A2C-594107AD25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7" y="1337"/>
              <a:ext cx="60" cy="64"/>
              <a:chOff x="4697" y="1337"/>
              <a:chExt cx="60" cy="64"/>
            </a:xfrm>
          </p:grpSpPr>
          <p:sp>
            <p:nvSpPr>
              <p:cNvPr id="48327" name="Oval 169">
                <a:extLst>
                  <a:ext uri="{FF2B5EF4-FFF2-40B4-BE49-F238E27FC236}">
                    <a16:creationId xmlns:a16="http://schemas.microsoft.com/office/drawing/2014/main" id="{71FDEFDC-CB95-9BCB-3299-556617016F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7" y="1337"/>
                <a:ext cx="60" cy="64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defTabSz="342900">
                  <a:lnSpc>
                    <a:spcPct val="100000"/>
                  </a:lnSpc>
                  <a:spcBef>
                    <a:spcPct val="0"/>
                  </a:spcBef>
                  <a:buClrTx/>
                  <a:buNone/>
                </a:pPr>
                <a:endParaRPr lang="en-US" altLang="en-US" sz="135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48328" name="Oval 170">
                <a:extLst>
                  <a:ext uri="{FF2B5EF4-FFF2-40B4-BE49-F238E27FC236}">
                    <a16:creationId xmlns:a16="http://schemas.microsoft.com/office/drawing/2014/main" id="{3359D95C-9549-1AB9-77B2-B8097A1377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4" y="1355"/>
                <a:ext cx="26" cy="29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defTabSz="342900">
                  <a:lnSpc>
                    <a:spcPct val="100000"/>
                  </a:lnSpc>
                  <a:spcBef>
                    <a:spcPct val="0"/>
                  </a:spcBef>
                  <a:buClrTx/>
                  <a:buNone/>
                </a:pPr>
                <a:endParaRPr lang="en-US" altLang="en-US" sz="135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8322" name="Rectangle 172">
              <a:extLst>
                <a:ext uri="{FF2B5EF4-FFF2-40B4-BE49-F238E27FC236}">
                  <a16:creationId xmlns:a16="http://schemas.microsoft.com/office/drawing/2014/main" id="{3911C9E1-436D-03A3-5680-C4DDF6116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" y="1321"/>
              <a:ext cx="246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80000"/>
                </a:lnSpc>
                <a:spcBef>
                  <a:spcPct val="0"/>
                </a:spcBef>
                <a:buClr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+9</a:t>
              </a:r>
            </a:p>
          </p:txBody>
        </p:sp>
        <p:sp>
          <p:nvSpPr>
            <p:cNvPr id="48323" name="Rectangle 173">
              <a:extLst>
                <a:ext uri="{FF2B5EF4-FFF2-40B4-BE49-F238E27FC236}">
                  <a16:creationId xmlns:a16="http://schemas.microsoft.com/office/drawing/2014/main" id="{E0188D70-D861-0739-D71F-2629EFAAD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" y="1464"/>
              <a:ext cx="246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80000"/>
                </a:lnSpc>
                <a:spcBef>
                  <a:spcPct val="0"/>
                </a:spcBef>
                <a:buClr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+3</a:t>
              </a:r>
            </a:p>
          </p:txBody>
        </p:sp>
        <p:sp>
          <p:nvSpPr>
            <p:cNvPr id="48324" name="Rectangle 174">
              <a:extLst>
                <a:ext uri="{FF2B5EF4-FFF2-40B4-BE49-F238E27FC236}">
                  <a16:creationId xmlns:a16="http://schemas.microsoft.com/office/drawing/2014/main" id="{AAACA414-9901-95DC-E3C5-E5C79D4DB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5" y="1286"/>
              <a:ext cx="803" cy="521"/>
            </a:xfrm>
            <a:prstGeom prst="rect">
              <a:avLst/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48325" name="Rectangle 175">
              <a:extLst>
                <a:ext uri="{FF2B5EF4-FFF2-40B4-BE49-F238E27FC236}">
                  <a16:creationId xmlns:a16="http://schemas.microsoft.com/office/drawing/2014/main" id="{39969E2A-543C-A2AE-87A5-9DF9C98D6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" y="1616"/>
              <a:ext cx="246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80000"/>
                </a:lnSpc>
                <a:spcBef>
                  <a:spcPct val="0"/>
                </a:spcBef>
                <a:buClr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+1</a:t>
              </a:r>
            </a:p>
          </p:txBody>
        </p:sp>
        <p:sp>
          <p:nvSpPr>
            <p:cNvPr id="48326" name="AutoShape 176">
              <a:extLst>
                <a:ext uri="{FF2B5EF4-FFF2-40B4-BE49-F238E27FC236}">
                  <a16:creationId xmlns:a16="http://schemas.microsoft.com/office/drawing/2014/main" id="{402D02ED-0BF9-2933-CE4D-F966D4AFBA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632"/>
              <a:ext cx="60" cy="64"/>
            </a:xfrm>
            <a:prstGeom prst="triangle">
              <a:avLst>
                <a:gd name="adj" fmla="val 49995"/>
              </a:avLst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8293" name="Group 199">
            <a:extLst>
              <a:ext uri="{FF2B5EF4-FFF2-40B4-BE49-F238E27FC236}">
                <a16:creationId xmlns:a16="http://schemas.microsoft.com/office/drawing/2014/main" id="{687A82E7-C0C8-F274-68A6-0CB2703D3983}"/>
              </a:ext>
            </a:extLst>
          </p:cNvPr>
          <p:cNvGrpSpPr>
            <a:grpSpLocks/>
          </p:cNvGrpSpPr>
          <p:nvPr/>
        </p:nvGrpSpPr>
        <p:grpSpPr bwMode="auto">
          <a:xfrm>
            <a:off x="1364456" y="2046685"/>
            <a:ext cx="1587104" cy="825103"/>
            <a:chOff x="186" y="1719"/>
            <a:chExt cx="1333" cy="693"/>
          </a:xfrm>
        </p:grpSpPr>
        <p:sp>
          <p:nvSpPr>
            <p:cNvPr id="48295" name="Rectangle 178">
              <a:extLst>
                <a:ext uri="{FF2B5EF4-FFF2-40B4-BE49-F238E27FC236}">
                  <a16:creationId xmlns:a16="http://schemas.microsoft.com/office/drawing/2014/main" id="{680C92D0-8F78-9484-C046-40B861150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" y="1783"/>
              <a:ext cx="945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80000"/>
                </a:lnSpc>
                <a:spcBef>
                  <a:spcPct val="0"/>
                </a:spcBef>
                <a:buClr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Strong Positive</a:t>
              </a:r>
            </a:p>
          </p:txBody>
        </p:sp>
        <p:sp>
          <p:nvSpPr>
            <p:cNvPr id="48296" name="Rectangle 179">
              <a:extLst>
                <a:ext uri="{FF2B5EF4-FFF2-40B4-BE49-F238E27FC236}">
                  <a16:creationId xmlns:a16="http://schemas.microsoft.com/office/drawing/2014/main" id="{B5BDBB66-BC91-9D18-AA0F-3E51337C9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926"/>
              <a:ext cx="551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80000"/>
                </a:lnSpc>
                <a:spcBef>
                  <a:spcPct val="0"/>
                </a:spcBef>
                <a:buClr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Positive</a:t>
              </a:r>
            </a:p>
          </p:txBody>
        </p:sp>
        <p:sp>
          <p:nvSpPr>
            <p:cNvPr id="48297" name="Rectangle 180">
              <a:extLst>
                <a:ext uri="{FF2B5EF4-FFF2-40B4-BE49-F238E27FC236}">
                  <a16:creationId xmlns:a16="http://schemas.microsoft.com/office/drawing/2014/main" id="{F683110F-4DA4-201F-620E-665882A27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078"/>
              <a:ext cx="590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80000"/>
                </a:lnSpc>
                <a:spcBef>
                  <a:spcPct val="0"/>
                </a:spcBef>
                <a:buClr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Negative</a:t>
              </a:r>
            </a:p>
          </p:txBody>
        </p:sp>
        <p:sp>
          <p:nvSpPr>
            <p:cNvPr id="48298" name="Oval 181">
              <a:extLst>
                <a:ext uri="{FF2B5EF4-FFF2-40B4-BE49-F238E27FC236}">
                  <a16:creationId xmlns:a16="http://schemas.microsoft.com/office/drawing/2014/main" id="{56CEA206-D37A-1A3C-C228-DFDAF2ADA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" y="1944"/>
              <a:ext cx="59" cy="64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  <p:grpSp>
          <p:nvGrpSpPr>
            <p:cNvPr id="48299" name="Group 184">
              <a:extLst>
                <a:ext uri="{FF2B5EF4-FFF2-40B4-BE49-F238E27FC236}">
                  <a16:creationId xmlns:a16="http://schemas.microsoft.com/office/drawing/2014/main" id="{9417474F-8CD7-F759-1DE1-F6068B46AA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8" y="1799"/>
              <a:ext cx="59" cy="64"/>
              <a:chOff x="448" y="1799"/>
              <a:chExt cx="59" cy="64"/>
            </a:xfrm>
          </p:grpSpPr>
          <p:sp>
            <p:nvSpPr>
              <p:cNvPr id="48314" name="Oval 182">
                <a:extLst>
                  <a:ext uri="{FF2B5EF4-FFF2-40B4-BE49-F238E27FC236}">
                    <a16:creationId xmlns:a16="http://schemas.microsoft.com/office/drawing/2014/main" id="{9D7B20FF-24DA-53D6-C572-FDBACEC82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" y="1799"/>
                <a:ext cx="59" cy="64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defTabSz="342900">
                  <a:lnSpc>
                    <a:spcPct val="100000"/>
                  </a:lnSpc>
                  <a:spcBef>
                    <a:spcPct val="0"/>
                  </a:spcBef>
                  <a:buClrTx/>
                  <a:buNone/>
                </a:pPr>
                <a:endParaRPr lang="en-US" altLang="en-US" sz="135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48315" name="Oval 183">
                <a:extLst>
                  <a:ext uri="{FF2B5EF4-FFF2-40B4-BE49-F238E27FC236}">
                    <a16:creationId xmlns:a16="http://schemas.microsoft.com/office/drawing/2014/main" id="{F8559625-9AB1-FB73-3617-B79B80F5E8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" y="1817"/>
                <a:ext cx="25" cy="30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defTabSz="342900">
                  <a:lnSpc>
                    <a:spcPct val="100000"/>
                  </a:lnSpc>
                  <a:spcBef>
                    <a:spcPct val="0"/>
                  </a:spcBef>
                  <a:buClrTx/>
                  <a:buNone/>
                </a:pPr>
                <a:endParaRPr lang="en-US" altLang="en-US" sz="1350" dirty="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48300" name="Group 189">
              <a:extLst>
                <a:ext uri="{FF2B5EF4-FFF2-40B4-BE49-F238E27FC236}">
                  <a16:creationId xmlns:a16="http://schemas.microsoft.com/office/drawing/2014/main" id="{F8BA8878-803C-DEBF-C3AF-85C5B49873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" y="2225"/>
              <a:ext cx="68" cy="71"/>
              <a:chOff x="452" y="2225"/>
              <a:chExt cx="68" cy="71"/>
            </a:xfrm>
          </p:grpSpPr>
          <p:sp>
            <p:nvSpPr>
              <p:cNvPr id="48310" name="Line 185">
                <a:extLst>
                  <a:ext uri="{FF2B5EF4-FFF2-40B4-BE49-F238E27FC236}">
                    <a16:creationId xmlns:a16="http://schemas.microsoft.com/office/drawing/2014/main" id="{F7682704-D68F-B1BD-0BA0-F9B19E1FAD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" y="2260"/>
                <a:ext cx="68" cy="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342900"/>
                <a:endParaRPr lang="en-IN" sz="1350" dirty="0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8311" name="Line 186">
                <a:extLst>
                  <a:ext uri="{FF2B5EF4-FFF2-40B4-BE49-F238E27FC236}">
                    <a16:creationId xmlns:a16="http://schemas.microsoft.com/office/drawing/2014/main" id="{75E0EC26-ECBF-26FB-E525-949CC5F8F8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6" y="2225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342900"/>
                <a:endParaRPr lang="en-IN" sz="1350" dirty="0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8312" name="Line 187">
                <a:extLst>
                  <a:ext uri="{FF2B5EF4-FFF2-40B4-BE49-F238E27FC236}">
                    <a16:creationId xmlns:a16="http://schemas.microsoft.com/office/drawing/2014/main" id="{172E54BF-A327-130E-BAE9-72743BBE75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2" y="2225"/>
                <a:ext cx="68" cy="71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342900"/>
                <a:endParaRPr lang="en-IN" sz="1350" dirty="0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8313" name="Line 188">
                <a:extLst>
                  <a:ext uri="{FF2B5EF4-FFF2-40B4-BE49-F238E27FC236}">
                    <a16:creationId xmlns:a16="http://schemas.microsoft.com/office/drawing/2014/main" id="{158017A0-E707-B5D9-5DA6-A824D049E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52" y="2225"/>
                <a:ext cx="68" cy="71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342900"/>
                <a:endParaRPr lang="en-IN" sz="1350" dirty="0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</p:grpSp>
        <p:grpSp>
          <p:nvGrpSpPr>
            <p:cNvPr id="48301" name="Group 192">
              <a:extLst>
                <a:ext uri="{FF2B5EF4-FFF2-40B4-BE49-F238E27FC236}">
                  <a16:creationId xmlns:a16="http://schemas.microsoft.com/office/drawing/2014/main" id="{50D30E1E-1CB5-9A53-284E-FCDB37D504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" y="2082"/>
              <a:ext cx="68" cy="71"/>
              <a:chOff x="452" y="2082"/>
              <a:chExt cx="68" cy="71"/>
            </a:xfrm>
          </p:grpSpPr>
          <p:sp>
            <p:nvSpPr>
              <p:cNvPr id="48308" name="Line 190">
                <a:extLst>
                  <a:ext uri="{FF2B5EF4-FFF2-40B4-BE49-F238E27FC236}">
                    <a16:creationId xmlns:a16="http://schemas.microsoft.com/office/drawing/2014/main" id="{62E8ABA5-0734-201E-4E78-AEA4A52E8C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2" y="2082"/>
                <a:ext cx="68" cy="71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342900"/>
                <a:endParaRPr lang="en-IN" sz="1350" dirty="0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  <p:sp>
            <p:nvSpPr>
              <p:cNvPr id="48309" name="Line 191">
                <a:extLst>
                  <a:ext uri="{FF2B5EF4-FFF2-40B4-BE49-F238E27FC236}">
                    <a16:creationId xmlns:a16="http://schemas.microsoft.com/office/drawing/2014/main" id="{FA4A4029-6405-7A3E-9C36-969286C442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52" y="2082"/>
                <a:ext cx="68" cy="71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342900"/>
                <a:endParaRPr lang="en-IN" sz="1350" dirty="0">
                  <a:solidFill>
                    <a:prstClr val="white"/>
                  </a:solidFill>
                  <a:latin typeface="Century Gothic" panose="020B0502020202020204"/>
                </a:endParaRPr>
              </a:p>
            </p:txBody>
          </p:sp>
        </p:grpSp>
        <p:sp>
          <p:nvSpPr>
            <p:cNvPr id="48302" name="Rectangle 193">
              <a:extLst>
                <a:ext uri="{FF2B5EF4-FFF2-40B4-BE49-F238E27FC236}">
                  <a16:creationId xmlns:a16="http://schemas.microsoft.com/office/drawing/2014/main" id="{8858B58B-6C9F-656E-29AD-641C47E5B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" y="2212"/>
              <a:ext cx="984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80000"/>
                </a:lnSpc>
                <a:spcBef>
                  <a:spcPct val="0"/>
                </a:spcBef>
                <a:buClr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Strong Negative</a:t>
              </a:r>
            </a:p>
          </p:txBody>
        </p:sp>
        <p:sp>
          <p:nvSpPr>
            <p:cNvPr id="48303" name="Rectangle 194">
              <a:extLst>
                <a:ext uri="{FF2B5EF4-FFF2-40B4-BE49-F238E27FC236}">
                  <a16:creationId xmlns:a16="http://schemas.microsoft.com/office/drawing/2014/main" id="{E119D567-41E9-8125-0EDB-7A1E1FDB39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" y="1783"/>
              <a:ext cx="246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80000"/>
                </a:lnSpc>
                <a:spcBef>
                  <a:spcPct val="0"/>
                </a:spcBef>
                <a:buClr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+9</a:t>
              </a:r>
            </a:p>
          </p:txBody>
        </p:sp>
        <p:sp>
          <p:nvSpPr>
            <p:cNvPr id="48304" name="Rectangle 195">
              <a:extLst>
                <a:ext uri="{FF2B5EF4-FFF2-40B4-BE49-F238E27FC236}">
                  <a16:creationId xmlns:a16="http://schemas.microsoft.com/office/drawing/2014/main" id="{FB533301-EF48-6160-31D8-4468C5FD6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" y="1926"/>
              <a:ext cx="246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80000"/>
                </a:lnSpc>
                <a:spcBef>
                  <a:spcPct val="0"/>
                </a:spcBef>
                <a:buClr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+3</a:t>
              </a:r>
            </a:p>
          </p:txBody>
        </p:sp>
        <p:sp>
          <p:nvSpPr>
            <p:cNvPr id="48305" name="Rectangle 196">
              <a:extLst>
                <a:ext uri="{FF2B5EF4-FFF2-40B4-BE49-F238E27FC236}">
                  <a16:creationId xmlns:a16="http://schemas.microsoft.com/office/drawing/2014/main" id="{4BD986D4-D753-5006-A6B6-59FABAD25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" y="2069"/>
              <a:ext cx="218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80000"/>
                </a:lnSpc>
                <a:spcBef>
                  <a:spcPct val="0"/>
                </a:spcBef>
                <a:buClr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-3</a:t>
              </a:r>
            </a:p>
          </p:txBody>
        </p:sp>
        <p:sp>
          <p:nvSpPr>
            <p:cNvPr id="48306" name="Rectangle 197">
              <a:extLst>
                <a:ext uri="{FF2B5EF4-FFF2-40B4-BE49-F238E27FC236}">
                  <a16:creationId xmlns:a16="http://schemas.microsoft.com/office/drawing/2014/main" id="{28A4941F-33D4-6CE5-1CA9-6619E54C3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" y="2212"/>
              <a:ext cx="218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80000"/>
                </a:lnSpc>
                <a:spcBef>
                  <a:spcPct val="0"/>
                </a:spcBef>
                <a:buClr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-9</a:t>
              </a:r>
            </a:p>
          </p:txBody>
        </p:sp>
        <p:sp>
          <p:nvSpPr>
            <p:cNvPr id="48307" name="Rectangle 198">
              <a:extLst>
                <a:ext uri="{FF2B5EF4-FFF2-40B4-BE49-F238E27FC236}">
                  <a16:creationId xmlns:a16="http://schemas.microsoft.com/office/drawing/2014/main" id="{F2112960-D1AB-4A59-EF79-E5BFE0515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" y="1719"/>
              <a:ext cx="1333" cy="693"/>
            </a:xfrm>
            <a:prstGeom prst="rect">
              <a:avLst/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</p:grpSp>
      <p:sp>
        <p:nvSpPr>
          <p:cNvPr id="48294" name="Rectangle 200">
            <a:extLst>
              <a:ext uri="{FF2B5EF4-FFF2-40B4-BE49-F238E27FC236}">
                <a16:creationId xmlns:a16="http://schemas.microsoft.com/office/drawing/2014/main" id="{B846C769-767E-1498-8DE2-D802462FE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995" y="1154907"/>
            <a:ext cx="2005357" cy="808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defTabSz="3429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Arial" panose="020B0604020202020204" pitchFamily="34" charset="0"/>
              </a:rPr>
              <a:t>Interrelationship between</a:t>
            </a:r>
          </a:p>
          <a:p>
            <a:pPr algn="ctr" defTabSz="3429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Arial" panose="020B0604020202020204" pitchFamily="34" charset="0"/>
              </a:rPr>
              <a:t>Technical Descriptors</a:t>
            </a:r>
          </a:p>
          <a:p>
            <a:pPr algn="ctr" defTabSz="3429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Arial" panose="020B0604020202020204" pitchFamily="34" charset="0"/>
              </a:rPr>
              <a:t>(correlation matrix)</a:t>
            </a:r>
          </a:p>
          <a:p>
            <a:pPr algn="ctr" defTabSz="3429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Arial" panose="020B0604020202020204" pitchFamily="34" charset="0"/>
              </a:rPr>
              <a:t>HOWs vs. HOWs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367AC642-6AED-1036-7A4C-6AFC59BFF2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43050" y="285750"/>
            <a:ext cx="6172200" cy="85725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Technical Descriptors (How’s)</a:t>
            </a:r>
          </a:p>
        </p:txBody>
      </p:sp>
      <p:sp>
        <p:nvSpPr>
          <p:cNvPr id="52227" name="Line 3">
            <a:extLst>
              <a:ext uri="{FF2B5EF4-FFF2-40B4-BE49-F238E27FC236}">
                <a16:creationId xmlns:a16="http://schemas.microsoft.com/office/drawing/2014/main" id="{284B4156-3600-CC41-C04E-52FDFEB5BAA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3041" y="2686050"/>
            <a:ext cx="1541859" cy="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2228" name="Line 4">
            <a:extLst>
              <a:ext uri="{FF2B5EF4-FFF2-40B4-BE49-F238E27FC236}">
                <a16:creationId xmlns:a16="http://schemas.microsoft.com/office/drawing/2014/main" id="{0B00E5CF-0288-D296-20D5-373FF770DF7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8223" y="3771900"/>
            <a:ext cx="3539728" cy="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AFFF35A3-B061-8096-ED63-8EF969ACEAB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584722" y="3251870"/>
            <a:ext cx="2228850" cy="485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350" b="1" dirty="0">
                <a:solidFill>
                  <a:srgbClr val="FFFFFF"/>
                </a:solidFill>
                <a:latin typeface="Arial" panose="020B0604020202020204" pitchFamily="34" charset="0"/>
              </a:rPr>
              <a:t>Technical Descriptors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350" b="1" dirty="0">
                <a:solidFill>
                  <a:srgbClr val="FFFFFF"/>
                </a:solidFill>
                <a:latin typeface="Arial" panose="020B0604020202020204" pitchFamily="34" charset="0"/>
              </a:rPr>
              <a:t>(HOWs)</a:t>
            </a:r>
          </a:p>
        </p:txBody>
      </p:sp>
      <p:sp>
        <p:nvSpPr>
          <p:cNvPr id="52230" name="Line 6">
            <a:extLst>
              <a:ext uri="{FF2B5EF4-FFF2-40B4-BE49-F238E27FC236}">
                <a16:creationId xmlns:a16="http://schemas.microsoft.com/office/drawing/2014/main" id="{634E11BC-44E4-953D-E6C4-6D165865A2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00300" y="2343150"/>
            <a:ext cx="0" cy="228600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2231" name="Line 7">
            <a:extLst>
              <a:ext uri="{FF2B5EF4-FFF2-40B4-BE49-F238E27FC236}">
                <a16:creationId xmlns:a16="http://schemas.microsoft.com/office/drawing/2014/main" id="{B5E8422F-CA1B-0A8C-EE0C-CFD8466984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0300" y="2343150"/>
            <a:ext cx="4057650" cy="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2232" name="Rectangle 8">
            <a:extLst>
              <a:ext uri="{FF2B5EF4-FFF2-40B4-BE49-F238E27FC236}">
                <a16:creationId xmlns:a16="http://schemas.microsoft.com/office/drawing/2014/main" id="{D4C2BF88-0871-C8DC-4F8F-D99CB7CCF720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728100" y="1810313"/>
            <a:ext cx="783868" cy="277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350" b="1" dirty="0">
                <a:solidFill>
                  <a:srgbClr val="FFFFFF"/>
                </a:solidFill>
                <a:latin typeface="Arial" panose="020B0604020202020204" pitchFamily="34" charset="0"/>
              </a:rPr>
              <a:t>Primary</a:t>
            </a:r>
          </a:p>
        </p:txBody>
      </p:sp>
      <p:sp>
        <p:nvSpPr>
          <p:cNvPr id="52233" name="Rectangle 9">
            <a:extLst>
              <a:ext uri="{FF2B5EF4-FFF2-40B4-BE49-F238E27FC236}">
                <a16:creationId xmlns:a16="http://schemas.microsoft.com/office/drawing/2014/main" id="{67EE9B7C-6B5A-8440-EF8C-1127ABED73D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078956" y="1714468"/>
            <a:ext cx="1029891" cy="277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350" b="1" dirty="0">
                <a:solidFill>
                  <a:srgbClr val="FFFFFF"/>
                </a:solidFill>
                <a:latin typeface="Arial" panose="020B0604020202020204" pitchFamily="34" charset="0"/>
              </a:rPr>
              <a:t>Secondary</a:t>
            </a:r>
          </a:p>
        </p:txBody>
      </p:sp>
      <p:sp>
        <p:nvSpPr>
          <p:cNvPr id="52234" name="Line 10">
            <a:extLst>
              <a:ext uri="{FF2B5EF4-FFF2-40B4-BE49-F238E27FC236}">
                <a16:creationId xmlns:a16="http://schemas.microsoft.com/office/drawing/2014/main" id="{30F56FB8-48FC-9AA5-8ED4-F15EAECFA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0300" y="4629150"/>
            <a:ext cx="4057650" cy="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2235" name="Rectangle 11">
            <a:extLst>
              <a:ext uri="{FF2B5EF4-FFF2-40B4-BE49-F238E27FC236}">
                <a16:creationId xmlns:a16="http://schemas.microsoft.com/office/drawing/2014/main" id="{777FD147-55A9-3DD1-7BC3-ABD35FB9AD90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735998" y="1803169"/>
            <a:ext cx="761427" cy="277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350" b="1" dirty="0">
                <a:solidFill>
                  <a:srgbClr val="FFFFFF"/>
                </a:solidFill>
                <a:latin typeface="Arial" panose="020B0604020202020204" pitchFamily="34" charset="0"/>
              </a:rPr>
              <a:t>Tertiary</a:t>
            </a:r>
          </a:p>
        </p:txBody>
      </p:sp>
      <p:sp>
        <p:nvSpPr>
          <p:cNvPr id="52236" name="Line 12">
            <a:extLst>
              <a:ext uri="{FF2B5EF4-FFF2-40B4-BE49-F238E27FC236}">
                <a16:creationId xmlns:a16="http://schemas.microsoft.com/office/drawing/2014/main" id="{AA5A3F88-BE12-1D80-670B-51A68A8C94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1850" y="1314450"/>
            <a:ext cx="0" cy="331470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2237" name="Line 13">
            <a:extLst>
              <a:ext uri="{FF2B5EF4-FFF2-40B4-BE49-F238E27FC236}">
                <a16:creationId xmlns:a16="http://schemas.microsoft.com/office/drawing/2014/main" id="{70C4D60D-6790-BFAB-014B-6D437ACC3F0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4650" y="1314450"/>
            <a:ext cx="0" cy="331470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2238" name="Line 14">
            <a:extLst>
              <a:ext uri="{FF2B5EF4-FFF2-40B4-BE49-F238E27FC236}">
                <a16:creationId xmlns:a16="http://schemas.microsoft.com/office/drawing/2014/main" id="{F6BF6996-481A-3B99-D7BA-0F4744FA2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4650" y="1314450"/>
            <a:ext cx="3543300" cy="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2239" name="Line 15">
            <a:extLst>
              <a:ext uri="{FF2B5EF4-FFF2-40B4-BE49-F238E27FC236}">
                <a16:creationId xmlns:a16="http://schemas.microsoft.com/office/drawing/2014/main" id="{67AF54DE-B19A-AEB4-A201-C3E4CD5C3E2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4900" y="1314450"/>
            <a:ext cx="0" cy="331470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2240" name="Line 16">
            <a:extLst>
              <a:ext uri="{FF2B5EF4-FFF2-40B4-BE49-F238E27FC236}">
                <a16:creationId xmlns:a16="http://schemas.microsoft.com/office/drawing/2014/main" id="{67EE0564-8996-BA7E-0D76-8E8E70C351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7950" y="1314450"/>
            <a:ext cx="0" cy="331470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2241" name="Line 17">
            <a:extLst>
              <a:ext uri="{FF2B5EF4-FFF2-40B4-BE49-F238E27FC236}">
                <a16:creationId xmlns:a16="http://schemas.microsoft.com/office/drawing/2014/main" id="{98098052-F39E-0723-9C79-03666F471C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6091" y="2514600"/>
            <a:ext cx="1541859" cy="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2242" name="Line 18">
            <a:extLst>
              <a:ext uri="{FF2B5EF4-FFF2-40B4-BE49-F238E27FC236}">
                <a16:creationId xmlns:a16="http://schemas.microsoft.com/office/drawing/2014/main" id="{A075D120-6AB0-3AD6-6308-9440CAD1D7A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6091" y="3943350"/>
            <a:ext cx="1541859" cy="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2243" name="Line 19">
            <a:extLst>
              <a:ext uri="{FF2B5EF4-FFF2-40B4-BE49-F238E27FC236}">
                <a16:creationId xmlns:a16="http://schemas.microsoft.com/office/drawing/2014/main" id="{F96FDCE6-EDAB-490C-8D0B-0ABCA3FAF1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6091" y="4114800"/>
            <a:ext cx="1541859" cy="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2244" name="Line 20">
            <a:extLst>
              <a:ext uri="{FF2B5EF4-FFF2-40B4-BE49-F238E27FC236}">
                <a16:creationId xmlns:a16="http://schemas.microsoft.com/office/drawing/2014/main" id="{20C5C4CC-E786-ED37-B7BC-33FF8878FF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6091" y="4286250"/>
            <a:ext cx="1541859" cy="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2245" name="Line 21">
            <a:extLst>
              <a:ext uri="{FF2B5EF4-FFF2-40B4-BE49-F238E27FC236}">
                <a16:creationId xmlns:a16="http://schemas.microsoft.com/office/drawing/2014/main" id="{0138F7D4-57F5-1D50-5AC4-F1E5C28C1F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6091" y="4457700"/>
            <a:ext cx="1541859" cy="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2246" name="Line 22">
            <a:extLst>
              <a:ext uri="{FF2B5EF4-FFF2-40B4-BE49-F238E27FC236}">
                <a16:creationId xmlns:a16="http://schemas.microsoft.com/office/drawing/2014/main" id="{43051D12-4472-BB35-5AD8-95B1DB7C85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3041" y="4286250"/>
            <a:ext cx="1541859" cy="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2247" name="Line 23">
            <a:extLst>
              <a:ext uri="{FF2B5EF4-FFF2-40B4-BE49-F238E27FC236}">
                <a16:creationId xmlns:a16="http://schemas.microsoft.com/office/drawing/2014/main" id="{3BFD4B91-6AA5-D9CF-A1F6-E3531E7DF6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6091" y="2686050"/>
            <a:ext cx="1541859" cy="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2248" name="Line 24">
            <a:extLst>
              <a:ext uri="{FF2B5EF4-FFF2-40B4-BE49-F238E27FC236}">
                <a16:creationId xmlns:a16="http://schemas.microsoft.com/office/drawing/2014/main" id="{CC6F0CAE-795B-C6A4-4F4B-1606C8BB81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6091" y="2857500"/>
            <a:ext cx="1541859" cy="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2249" name="Line 25">
            <a:extLst>
              <a:ext uri="{FF2B5EF4-FFF2-40B4-BE49-F238E27FC236}">
                <a16:creationId xmlns:a16="http://schemas.microsoft.com/office/drawing/2014/main" id="{3742D1CE-CFA4-C57F-FF61-D692B80B49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6091" y="3028950"/>
            <a:ext cx="1541859" cy="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2250" name="Line 26">
            <a:extLst>
              <a:ext uri="{FF2B5EF4-FFF2-40B4-BE49-F238E27FC236}">
                <a16:creationId xmlns:a16="http://schemas.microsoft.com/office/drawing/2014/main" id="{7FB1DD7B-C928-681B-A87F-3813340965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6091" y="3200400"/>
            <a:ext cx="1541859" cy="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2251" name="Line 27">
            <a:extLst>
              <a:ext uri="{FF2B5EF4-FFF2-40B4-BE49-F238E27FC236}">
                <a16:creationId xmlns:a16="http://schemas.microsoft.com/office/drawing/2014/main" id="{CFBE0AC8-D404-C6BF-3F9B-852F8CC0D15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6091" y="3371850"/>
            <a:ext cx="1541859" cy="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2252" name="Line 28">
            <a:extLst>
              <a:ext uri="{FF2B5EF4-FFF2-40B4-BE49-F238E27FC236}">
                <a16:creationId xmlns:a16="http://schemas.microsoft.com/office/drawing/2014/main" id="{7A20749F-923C-CF7F-F409-880BCEF49EA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6091" y="3543300"/>
            <a:ext cx="1541859" cy="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2253" name="Line 29">
            <a:extLst>
              <a:ext uri="{FF2B5EF4-FFF2-40B4-BE49-F238E27FC236}">
                <a16:creationId xmlns:a16="http://schemas.microsoft.com/office/drawing/2014/main" id="{4E599AFB-FB02-E40A-0170-3654C1D8113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3041" y="3028950"/>
            <a:ext cx="1541859" cy="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15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E6E43B8-CACD-9FAA-2F73-3BBB9E010A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85900" y="342900"/>
            <a:ext cx="6172200" cy="85725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Relationship Matrix</a:t>
            </a:r>
          </a:p>
        </p:txBody>
      </p:sp>
      <p:sp>
        <p:nvSpPr>
          <p:cNvPr id="56323" name="Line 3">
            <a:extLst>
              <a:ext uri="{FF2B5EF4-FFF2-40B4-BE49-F238E27FC236}">
                <a16:creationId xmlns:a16="http://schemas.microsoft.com/office/drawing/2014/main" id="{F5F036A6-3E6C-61A4-DC65-3708385D54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6738" y="3143250"/>
            <a:ext cx="0" cy="148590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24" name="Line 4">
            <a:extLst>
              <a:ext uri="{FF2B5EF4-FFF2-40B4-BE49-F238E27FC236}">
                <a16:creationId xmlns:a16="http://schemas.microsoft.com/office/drawing/2014/main" id="{750FE5B5-4A22-D381-07DE-0F120D32F79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2432" y="3328988"/>
            <a:ext cx="1345406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25" name="Line 5">
            <a:extLst>
              <a:ext uri="{FF2B5EF4-FFF2-40B4-BE49-F238E27FC236}">
                <a16:creationId xmlns:a16="http://schemas.microsoft.com/office/drawing/2014/main" id="{842441DE-DF68-6AC1-C0B1-492701AA352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2432" y="3513535"/>
            <a:ext cx="1345406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26" name="Line 6">
            <a:extLst>
              <a:ext uri="{FF2B5EF4-FFF2-40B4-BE49-F238E27FC236}">
                <a16:creationId xmlns:a16="http://schemas.microsoft.com/office/drawing/2014/main" id="{E15F0881-2EF7-D5EA-BD82-9D455AB8CE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2432" y="3700463"/>
            <a:ext cx="1345406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27" name="Line 7">
            <a:extLst>
              <a:ext uri="{FF2B5EF4-FFF2-40B4-BE49-F238E27FC236}">
                <a16:creationId xmlns:a16="http://schemas.microsoft.com/office/drawing/2014/main" id="{6650E538-52BD-BD0F-FD02-CE107DC4A98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2432" y="3886200"/>
            <a:ext cx="1345406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28" name="Line 8">
            <a:extLst>
              <a:ext uri="{FF2B5EF4-FFF2-40B4-BE49-F238E27FC236}">
                <a16:creationId xmlns:a16="http://schemas.microsoft.com/office/drawing/2014/main" id="{C876E441-F921-5148-B371-DC7B55052C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2432" y="4071938"/>
            <a:ext cx="1345406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29" name="Line 9">
            <a:extLst>
              <a:ext uri="{FF2B5EF4-FFF2-40B4-BE49-F238E27FC236}">
                <a16:creationId xmlns:a16="http://schemas.microsoft.com/office/drawing/2014/main" id="{92ADE5BD-B4E7-A922-BDEA-BCE983030F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2432" y="4257675"/>
            <a:ext cx="1345406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30" name="Line 10">
            <a:extLst>
              <a:ext uri="{FF2B5EF4-FFF2-40B4-BE49-F238E27FC236}">
                <a16:creationId xmlns:a16="http://schemas.microsoft.com/office/drawing/2014/main" id="{7725FF00-7488-3D3C-9DE1-A416142E80B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2432" y="4443413"/>
            <a:ext cx="1345406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31" name="Line 11">
            <a:extLst>
              <a:ext uri="{FF2B5EF4-FFF2-40B4-BE49-F238E27FC236}">
                <a16:creationId xmlns:a16="http://schemas.microsoft.com/office/drawing/2014/main" id="{B5CB03AB-EB35-5665-0155-8963DE57038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7256" y="3143250"/>
            <a:ext cx="0" cy="148590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32" name="Line 12">
            <a:extLst>
              <a:ext uri="{FF2B5EF4-FFF2-40B4-BE49-F238E27FC236}">
                <a16:creationId xmlns:a16="http://schemas.microsoft.com/office/drawing/2014/main" id="{51E8AC30-8B1C-5F9A-99C0-261C3D9DA8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2754" y="3143250"/>
            <a:ext cx="0" cy="148590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33" name="Line 13">
            <a:extLst>
              <a:ext uri="{FF2B5EF4-FFF2-40B4-BE49-F238E27FC236}">
                <a16:creationId xmlns:a16="http://schemas.microsoft.com/office/drawing/2014/main" id="{FDA3B5D9-B0C5-C192-D98C-BB25E301FE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3013" y="3143250"/>
            <a:ext cx="0" cy="148590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34" name="Line 14">
            <a:extLst>
              <a:ext uri="{FF2B5EF4-FFF2-40B4-BE49-F238E27FC236}">
                <a16:creationId xmlns:a16="http://schemas.microsoft.com/office/drawing/2014/main" id="{E4FAFAC3-FB00-106F-A104-21B6D6BAA0A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0891" y="3143250"/>
            <a:ext cx="0" cy="148590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35" name="Line 15">
            <a:extLst>
              <a:ext uri="{FF2B5EF4-FFF2-40B4-BE49-F238E27FC236}">
                <a16:creationId xmlns:a16="http://schemas.microsoft.com/office/drawing/2014/main" id="{4355B5A5-BA53-77EC-936D-9D0683C919C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1150" y="3143250"/>
            <a:ext cx="0" cy="148590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36" name="Line 16">
            <a:extLst>
              <a:ext uri="{FF2B5EF4-FFF2-40B4-BE49-F238E27FC236}">
                <a16:creationId xmlns:a16="http://schemas.microsoft.com/office/drawing/2014/main" id="{63044DDF-B99A-DA3D-5A43-4BB34BC4B6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92003" y="4071938"/>
            <a:ext cx="338138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37" name="Line 17">
            <a:extLst>
              <a:ext uri="{FF2B5EF4-FFF2-40B4-BE49-F238E27FC236}">
                <a16:creationId xmlns:a16="http://schemas.microsoft.com/office/drawing/2014/main" id="{1C586D93-4FB5-B688-2B8E-1DBB28D010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822" y="1471613"/>
            <a:ext cx="0" cy="371475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38" name="Line 18">
            <a:extLst>
              <a:ext uri="{FF2B5EF4-FFF2-40B4-BE49-F238E27FC236}">
                <a16:creationId xmlns:a16="http://schemas.microsoft.com/office/drawing/2014/main" id="{DC71261B-56AF-D6F1-FB22-389528909A5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55056" y="3143250"/>
            <a:ext cx="1852613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39" name="Line 19">
            <a:extLst>
              <a:ext uri="{FF2B5EF4-FFF2-40B4-BE49-F238E27FC236}">
                <a16:creationId xmlns:a16="http://schemas.microsoft.com/office/drawing/2014/main" id="{517633CB-D5B7-787F-87D3-3044EC85034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2004" y="3143250"/>
            <a:ext cx="0" cy="148590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40" name="Line 20">
            <a:extLst>
              <a:ext uri="{FF2B5EF4-FFF2-40B4-BE49-F238E27FC236}">
                <a16:creationId xmlns:a16="http://schemas.microsoft.com/office/drawing/2014/main" id="{AB61997F-030C-6D1C-4C26-F9FACF9293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55056" y="3143250"/>
            <a:ext cx="0" cy="148590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41" name="Line 21">
            <a:extLst>
              <a:ext uri="{FF2B5EF4-FFF2-40B4-BE49-F238E27FC236}">
                <a16:creationId xmlns:a16="http://schemas.microsoft.com/office/drawing/2014/main" id="{E88D24D4-6A1A-3FF9-A67A-EA62A0BC4B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0141" y="3143250"/>
            <a:ext cx="0" cy="148590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42" name="Line 22">
            <a:extLst>
              <a:ext uri="{FF2B5EF4-FFF2-40B4-BE49-F238E27FC236}">
                <a16:creationId xmlns:a16="http://schemas.microsoft.com/office/drawing/2014/main" id="{22AB7E04-B336-74E2-BFA0-049620FBE5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0141" y="3328988"/>
            <a:ext cx="1177528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43" name="Line 23">
            <a:extLst>
              <a:ext uri="{FF2B5EF4-FFF2-40B4-BE49-F238E27FC236}">
                <a16:creationId xmlns:a16="http://schemas.microsoft.com/office/drawing/2014/main" id="{E0B3F964-8390-877F-D968-9365CD0E4D1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0141" y="3513535"/>
            <a:ext cx="1177528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44" name="Line 24">
            <a:extLst>
              <a:ext uri="{FF2B5EF4-FFF2-40B4-BE49-F238E27FC236}">
                <a16:creationId xmlns:a16="http://schemas.microsoft.com/office/drawing/2014/main" id="{C9C40DE3-AA6B-F08E-DD2E-495BE162B81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0141" y="3700463"/>
            <a:ext cx="1177528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45" name="Line 25">
            <a:extLst>
              <a:ext uri="{FF2B5EF4-FFF2-40B4-BE49-F238E27FC236}">
                <a16:creationId xmlns:a16="http://schemas.microsoft.com/office/drawing/2014/main" id="{C581084F-A97D-7CF1-A789-D745969FBF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0141" y="3886200"/>
            <a:ext cx="1177528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46" name="Line 26">
            <a:extLst>
              <a:ext uri="{FF2B5EF4-FFF2-40B4-BE49-F238E27FC236}">
                <a16:creationId xmlns:a16="http://schemas.microsoft.com/office/drawing/2014/main" id="{7ACBA0FC-F6DF-DE1C-835A-4F655572E02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0141" y="4071938"/>
            <a:ext cx="1177528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47" name="Line 27">
            <a:extLst>
              <a:ext uri="{FF2B5EF4-FFF2-40B4-BE49-F238E27FC236}">
                <a16:creationId xmlns:a16="http://schemas.microsoft.com/office/drawing/2014/main" id="{7E929388-262A-856F-EB5E-1EB70EFA20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0141" y="4257675"/>
            <a:ext cx="1177528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48" name="Line 28">
            <a:extLst>
              <a:ext uri="{FF2B5EF4-FFF2-40B4-BE49-F238E27FC236}">
                <a16:creationId xmlns:a16="http://schemas.microsoft.com/office/drawing/2014/main" id="{D7C5B550-8ED3-B14C-BB1D-B405942EA6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0141" y="4443413"/>
            <a:ext cx="1177528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49" name="Line 29">
            <a:extLst>
              <a:ext uri="{FF2B5EF4-FFF2-40B4-BE49-F238E27FC236}">
                <a16:creationId xmlns:a16="http://schemas.microsoft.com/office/drawing/2014/main" id="{EBE48205-F7AF-93DE-7E0A-1C2E462EFC5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2431" y="3143250"/>
            <a:ext cx="0" cy="148590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50" name="Line 30">
            <a:extLst>
              <a:ext uri="{FF2B5EF4-FFF2-40B4-BE49-F238E27FC236}">
                <a16:creationId xmlns:a16="http://schemas.microsoft.com/office/drawing/2014/main" id="{970019BE-F338-A4D6-B188-6273001FB61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6738" y="1843087"/>
            <a:ext cx="0" cy="1300163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51" name="Line 31">
            <a:extLst>
              <a:ext uri="{FF2B5EF4-FFF2-40B4-BE49-F238E27FC236}">
                <a16:creationId xmlns:a16="http://schemas.microsoft.com/office/drawing/2014/main" id="{5BA1C4EF-3775-8649-E316-23D1B912F70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5806" y="1843088"/>
            <a:ext cx="0" cy="1296591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52" name="Line 32">
            <a:extLst>
              <a:ext uri="{FF2B5EF4-FFF2-40B4-BE49-F238E27FC236}">
                <a16:creationId xmlns:a16="http://schemas.microsoft.com/office/drawing/2014/main" id="{57F3AD1B-0663-1FDD-3687-92AC9EEAE4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4875" y="1843088"/>
            <a:ext cx="0" cy="1296591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53" name="Line 33">
            <a:extLst>
              <a:ext uri="{FF2B5EF4-FFF2-40B4-BE49-F238E27FC236}">
                <a16:creationId xmlns:a16="http://schemas.microsoft.com/office/drawing/2014/main" id="{5E0B65FA-B7C4-70A9-214C-07AA57A160E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2754" y="1843087"/>
            <a:ext cx="0" cy="1300163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54" name="Line 34">
            <a:extLst>
              <a:ext uri="{FF2B5EF4-FFF2-40B4-BE49-F238E27FC236}">
                <a16:creationId xmlns:a16="http://schemas.microsoft.com/office/drawing/2014/main" id="{AC705AEB-E86E-1092-9E13-A4E71863C3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822" y="1843087"/>
            <a:ext cx="0" cy="1300163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55" name="Line 35">
            <a:extLst>
              <a:ext uri="{FF2B5EF4-FFF2-40B4-BE49-F238E27FC236}">
                <a16:creationId xmlns:a16="http://schemas.microsoft.com/office/drawing/2014/main" id="{86BB820C-D9B6-7D69-76AD-31911E3B0CC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0891" y="1843087"/>
            <a:ext cx="0" cy="1300163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56" name="Line 36">
            <a:extLst>
              <a:ext uri="{FF2B5EF4-FFF2-40B4-BE49-F238E27FC236}">
                <a16:creationId xmlns:a16="http://schemas.microsoft.com/office/drawing/2014/main" id="{3669C6A5-EA80-0C90-9A18-BFA611DF55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9960" y="1843088"/>
            <a:ext cx="0" cy="129421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57" name="Line 37">
            <a:extLst>
              <a:ext uri="{FF2B5EF4-FFF2-40B4-BE49-F238E27FC236}">
                <a16:creationId xmlns:a16="http://schemas.microsoft.com/office/drawing/2014/main" id="{EFABAA29-B7DD-805E-0274-951C0FE19A5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2432" y="1843088"/>
            <a:ext cx="1345406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58" name="Line 38">
            <a:extLst>
              <a:ext uri="{FF2B5EF4-FFF2-40B4-BE49-F238E27FC236}">
                <a16:creationId xmlns:a16="http://schemas.microsoft.com/office/drawing/2014/main" id="{3AB55CBF-E5FE-7909-DC22-072846DC809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2432" y="3143250"/>
            <a:ext cx="1345406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59" name="Line 39">
            <a:extLst>
              <a:ext uri="{FF2B5EF4-FFF2-40B4-BE49-F238E27FC236}">
                <a16:creationId xmlns:a16="http://schemas.microsoft.com/office/drawing/2014/main" id="{CE3FFB39-2488-A816-DF35-C75D0A4B45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12431" y="1847850"/>
            <a:ext cx="0" cy="129540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60" name="Line 40">
            <a:extLst>
              <a:ext uri="{FF2B5EF4-FFF2-40B4-BE49-F238E27FC236}">
                <a16:creationId xmlns:a16="http://schemas.microsoft.com/office/drawing/2014/main" id="{85DA1970-E35C-B34D-5005-61DB75CBA3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9029" y="1843087"/>
            <a:ext cx="0" cy="1300163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61" name="Rectangle 41">
            <a:extLst>
              <a:ext uri="{FF2B5EF4-FFF2-40B4-BE49-F238E27FC236}">
                <a16:creationId xmlns:a16="http://schemas.microsoft.com/office/drawing/2014/main" id="{84259EF8-6CDA-D0E9-71F1-10C052FB269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920479" y="3623662"/>
            <a:ext cx="1219200" cy="396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defTabSz="342900">
              <a:lnSpc>
                <a:spcPct val="85000"/>
              </a:lnSpc>
              <a:spcBef>
                <a:spcPts val="75"/>
              </a:spcBef>
              <a:buClrTx/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Arial" panose="020B0604020202020204" pitchFamily="34" charset="0"/>
              </a:rPr>
              <a:t>Customer</a:t>
            </a:r>
          </a:p>
          <a:p>
            <a:pPr algn="ctr" defTabSz="342900">
              <a:lnSpc>
                <a:spcPct val="85000"/>
              </a:lnSpc>
              <a:spcBef>
                <a:spcPts val="75"/>
              </a:spcBef>
              <a:buClrTx/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Arial" panose="020B0604020202020204" pitchFamily="34" charset="0"/>
              </a:rPr>
              <a:t>Requirements</a:t>
            </a:r>
          </a:p>
        </p:txBody>
      </p:sp>
      <p:sp>
        <p:nvSpPr>
          <p:cNvPr id="56362" name="Line 42">
            <a:extLst>
              <a:ext uri="{FF2B5EF4-FFF2-40B4-BE49-F238E27FC236}">
                <a16:creationId xmlns:a16="http://schemas.microsoft.com/office/drawing/2014/main" id="{80A82743-D61D-1D0C-85D2-285FDC5A88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12431" y="1471613"/>
            <a:ext cx="0" cy="371475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63" name="Line 43">
            <a:extLst>
              <a:ext uri="{FF2B5EF4-FFF2-40B4-BE49-F238E27FC236}">
                <a16:creationId xmlns:a16="http://schemas.microsoft.com/office/drawing/2014/main" id="{39DC92EC-7A41-7D82-1DEA-7E27A97B7A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9029" y="1471613"/>
            <a:ext cx="0" cy="371475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64" name="Line 44">
            <a:extLst>
              <a:ext uri="{FF2B5EF4-FFF2-40B4-BE49-F238E27FC236}">
                <a16:creationId xmlns:a16="http://schemas.microsoft.com/office/drawing/2014/main" id="{697BB0C9-5E45-3778-A80E-28F3745891B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2432" y="1471613"/>
            <a:ext cx="1345406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65" name="Line 45">
            <a:extLst>
              <a:ext uri="{FF2B5EF4-FFF2-40B4-BE49-F238E27FC236}">
                <a16:creationId xmlns:a16="http://schemas.microsoft.com/office/drawing/2014/main" id="{A3CC7F80-EB26-E3A9-3619-A189843005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12431" y="1098948"/>
            <a:ext cx="0" cy="372665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66" name="Rectangle 46">
            <a:extLst>
              <a:ext uri="{FF2B5EF4-FFF2-40B4-BE49-F238E27FC236}">
                <a16:creationId xmlns:a16="http://schemas.microsoft.com/office/drawing/2014/main" id="{2B810DA3-B9F9-1D6A-3560-6F9FAB743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585" y="1083469"/>
            <a:ext cx="1143000" cy="439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defTabSz="3429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Arial" panose="020B0604020202020204" pitchFamily="34" charset="0"/>
              </a:rPr>
              <a:t>Technical Descriptors</a:t>
            </a:r>
          </a:p>
        </p:txBody>
      </p:sp>
      <p:sp>
        <p:nvSpPr>
          <p:cNvPr id="56367" name="Line 47">
            <a:extLst>
              <a:ext uri="{FF2B5EF4-FFF2-40B4-BE49-F238E27FC236}">
                <a16:creationId xmlns:a16="http://schemas.microsoft.com/office/drawing/2014/main" id="{B5C3F71B-A655-C10F-CDA5-4ED0074863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2432" y="1098947"/>
            <a:ext cx="1345406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68" name="Line 48">
            <a:extLst>
              <a:ext uri="{FF2B5EF4-FFF2-40B4-BE49-F238E27FC236}">
                <a16:creationId xmlns:a16="http://schemas.microsoft.com/office/drawing/2014/main" id="{18CE6439-8E70-D713-ABB2-14FE41B972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28950" y="1843087"/>
            <a:ext cx="0" cy="1300163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69" name="Line 49">
            <a:extLst>
              <a:ext uri="{FF2B5EF4-FFF2-40B4-BE49-F238E27FC236}">
                <a16:creationId xmlns:a16="http://schemas.microsoft.com/office/drawing/2014/main" id="{D8A74236-3616-5C6E-5688-C42539341A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0813" y="1471612"/>
            <a:ext cx="0" cy="1671638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70" name="Line 50">
            <a:extLst>
              <a:ext uri="{FF2B5EF4-FFF2-40B4-BE49-F238E27FC236}">
                <a16:creationId xmlns:a16="http://schemas.microsoft.com/office/drawing/2014/main" id="{CE8DBDBA-ADA5-C8DF-52CF-3F091087E1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0813" y="1471613"/>
            <a:ext cx="1516856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71" name="Line 51">
            <a:extLst>
              <a:ext uri="{FF2B5EF4-FFF2-40B4-BE49-F238E27FC236}">
                <a16:creationId xmlns:a16="http://schemas.microsoft.com/office/drawing/2014/main" id="{247BC482-2213-2AC8-F061-7997F160EBB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8950" y="1843088"/>
            <a:ext cx="1178719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72" name="Line 52">
            <a:extLst>
              <a:ext uri="{FF2B5EF4-FFF2-40B4-BE49-F238E27FC236}">
                <a16:creationId xmlns:a16="http://schemas.microsoft.com/office/drawing/2014/main" id="{8B4BDFC4-522F-24D0-7C0A-ADF5380B7B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0813" y="1471612"/>
            <a:ext cx="1516856" cy="1671638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73" name="Rectangle 53">
            <a:extLst>
              <a:ext uri="{FF2B5EF4-FFF2-40B4-BE49-F238E27FC236}">
                <a16:creationId xmlns:a16="http://schemas.microsoft.com/office/drawing/2014/main" id="{36944690-9D76-E977-A035-160417825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1015" y="1500188"/>
            <a:ext cx="710131" cy="254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defTabSz="3429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Arial" panose="020B0604020202020204" pitchFamily="34" charset="0"/>
              </a:rPr>
              <a:t>Primary</a:t>
            </a:r>
          </a:p>
        </p:txBody>
      </p:sp>
      <p:sp>
        <p:nvSpPr>
          <p:cNvPr id="56374" name="Rectangle 54">
            <a:extLst>
              <a:ext uri="{FF2B5EF4-FFF2-40B4-BE49-F238E27FC236}">
                <a16:creationId xmlns:a16="http://schemas.microsoft.com/office/drawing/2014/main" id="{CADC294B-F21F-9958-98D6-CB1A679B5B7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04816" y="2635647"/>
            <a:ext cx="710131" cy="254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defTabSz="3429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Arial" panose="020B0604020202020204" pitchFamily="34" charset="0"/>
              </a:rPr>
              <a:t>Primary</a:t>
            </a:r>
          </a:p>
        </p:txBody>
      </p:sp>
      <p:sp>
        <p:nvSpPr>
          <p:cNvPr id="56375" name="Rectangle 55">
            <a:extLst>
              <a:ext uri="{FF2B5EF4-FFF2-40B4-BE49-F238E27FC236}">
                <a16:creationId xmlns:a16="http://schemas.microsoft.com/office/drawing/2014/main" id="{E17868AA-23EF-18FB-1587-5BA5D887296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735552" y="2560638"/>
            <a:ext cx="924933" cy="254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defTabSz="3429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Arial" panose="020B0604020202020204" pitchFamily="34" charset="0"/>
              </a:rPr>
              <a:t>Secondary</a:t>
            </a:r>
          </a:p>
        </p:txBody>
      </p:sp>
      <p:sp>
        <p:nvSpPr>
          <p:cNvPr id="56376" name="Rectangle 56">
            <a:extLst>
              <a:ext uri="{FF2B5EF4-FFF2-40B4-BE49-F238E27FC236}">
                <a16:creationId xmlns:a16="http://schemas.microsoft.com/office/drawing/2014/main" id="{44471DF7-6260-C88F-AEB0-2D7FD025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8838" y="1885950"/>
            <a:ext cx="924933" cy="254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defTabSz="3429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Arial" panose="020B0604020202020204" pitchFamily="34" charset="0"/>
              </a:rPr>
              <a:t>Secondary</a:t>
            </a:r>
          </a:p>
        </p:txBody>
      </p:sp>
      <p:sp>
        <p:nvSpPr>
          <p:cNvPr id="56377" name="Line 57">
            <a:extLst>
              <a:ext uri="{FF2B5EF4-FFF2-40B4-BE49-F238E27FC236}">
                <a16:creationId xmlns:a16="http://schemas.microsoft.com/office/drawing/2014/main" id="{DA269F1D-3FA5-BF7D-B511-B4502679E4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5806" y="3143250"/>
            <a:ext cx="0" cy="148590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78" name="Line 58">
            <a:extLst>
              <a:ext uri="{FF2B5EF4-FFF2-40B4-BE49-F238E27FC236}">
                <a16:creationId xmlns:a16="http://schemas.microsoft.com/office/drawing/2014/main" id="{80B8AE7D-D31F-7BAF-4DE1-710540D73D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9029" y="1098948"/>
            <a:ext cx="0" cy="372665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79" name="Line 59">
            <a:extLst>
              <a:ext uri="{FF2B5EF4-FFF2-40B4-BE49-F238E27FC236}">
                <a16:creationId xmlns:a16="http://schemas.microsoft.com/office/drawing/2014/main" id="{6CB1074F-D511-34CF-9A6F-28D845B4B5B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53866" y="4629150"/>
            <a:ext cx="3205163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grpSp>
        <p:nvGrpSpPr>
          <p:cNvPr id="56380" name="Group 80">
            <a:extLst>
              <a:ext uri="{FF2B5EF4-FFF2-40B4-BE49-F238E27FC236}">
                <a16:creationId xmlns:a16="http://schemas.microsoft.com/office/drawing/2014/main" id="{AA7C4CD7-39A3-DB08-271E-2C823AAD40B8}"/>
              </a:ext>
            </a:extLst>
          </p:cNvPr>
          <p:cNvGrpSpPr>
            <a:grpSpLocks/>
          </p:cNvGrpSpPr>
          <p:nvPr/>
        </p:nvGrpSpPr>
        <p:grpSpPr bwMode="auto">
          <a:xfrm>
            <a:off x="4254104" y="3193256"/>
            <a:ext cx="1258490" cy="1196579"/>
            <a:chOff x="2613" y="2682"/>
            <a:chExt cx="1057" cy="1005"/>
          </a:xfrm>
        </p:grpSpPr>
        <p:sp>
          <p:nvSpPr>
            <p:cNvPr id="56396" name="Oval 60">
              <a:extLst>
                <a:ext uri="{FF2B5EF4-FFF2-40B4-BE49-F238E27FC236}">
                  <a16:creationId xmlns:a16="http://schemas.microsoft.com/office/drawing/2014/main" id="{4CE0BAEA-63C1-AA3F-7BE2-91B67951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8" y="3155"/>
              <a:ext cx="56" cy="61"/>
            </a:xfrm>
            <a:prstGeom prst="ellipse">
              <a:avLst/>
            </a:prstGeom>
            <a:noFill/>
            <a:ln w="254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56397" name="Oval 61">
              <a:extLst>
                <a:ext uri="{FF2B5EF4-FFF2-40B4-BE49-F238E27FC236}">
                  <a16:creationId xmlns:a16="http://schemas.microsoft.com/office/drawing/2014/main" id="{28761BFA-B37A-41FB-78F5-1DAB25421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5" y="3175"/>
              <a:ext cx="20" cy="24"/>
            </a:xfrm>
            <a:prstGeom prst="ellipse">
              <a:avLst/>
            </a:prstGeom>
            <a:noFill/>
            <a:ln w="254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56398" name="Oval 62">
              <a:extLst>
                <a:ext uri="{FF2B5EF4-FFF2-40B4-BE49-F238E27FC236}">
                  <a16:creationId xmlns:a16="http://schemas.microsoft.com/office/drawing/2014/main" id="{2133A153-8327-4383-C667-223E7D791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5" y="2845"/>
              <a:ext cx="55" cy="62"/>
            </a:xfrm>
            <a:prstGeom prst="ellipse">
              <a:avLst/>
            </a:prstGeom>
            <a:noFill/>
            <a:ln w="254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56399" name="AutoShape 63">
              <a:extLst>
                <a:ext uri="{FF2B5EF4-FFF2-40B4-BE49-F238E27FC236}">
                  <a16:creationId xmlns:a16="http://schemas.microsoft.com/office/drawing/2014/main" id="{85F9D2C0-3B78-90AB-4F80-F8CE232EA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2" y="2838"/>
              <a:ext cx="54" cy="62"/>
            </a:xfrm>
            <a:prstGeom prst="triangle">
              <a:avLst>
                <a:gd name="adj" fmla="val 49995"/>
              </a:avLst>
            </a:prstGeom>
            <a:noFill/>
            <a:ln w="254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56400" name="Oval 64">
              <a:extLst>
                <a:ext uri="{FF2B5EF4-FFF2-40B4-BE49-F238E27FC236}">
                  <a16:creationId xmlns:a16="http://schemas.microsoft.com/office/drawing/2014/main" id="{76042289-68B7-A151-E9C3-6F81E3F02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3" y="2686"/>
              <a:ext cx="55" cy="63"/>
            </a:xfrm>
            <a:prstGeom prst="ellipse">
              <a:avLst/>
            </a:prstGeom>
            <a:noFill/>
            <a:ln w="254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56401" name="Oval 65">
              <a:extLst>
                <a:ext uri="{FF2B5EF4-FFF2-40B4-BE49-F238E27FC236}">
                  <a16:creationId xmlns:a16="http://schemas.microsoft.com/office/drawing/2014/main" id="{44B7E386-28D6-6D9B-1796-BD17D02FF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2706"/>
              <a:ext cx="19" cy="25"/>
            </a:xfrm>
            <a:prstGeom prst="ellipse">
              <a:avLst/>
            </a:prstGeom>
            <a:noFill/>
            <a:ln w="254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56402" name="Oval 66">
              <a:extLst>
                <a:ext uri="{FF2B5EF4-FFF2-40B4-BE49-F238E27FC236}">
                  <a16:creationId xmlns:a16="http://schemas.microsoft.com/office/drawing/2014/main" id="{3A9EC62C-9FC2-5C9F-1DC9-207E7F5E3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5" y="3155"/>
              <a:ext cx="55" cy="61"/>
            </a:xfrm>
            <a:prstGeom prst="ellipse">
              <a:avLst/>
            </a:prstGeom>
            <a:noFill/>
            <a:ln w="254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56403" name="Oval 67">
              <a:extLst>
                <a:ext uri="{FF2B5EF4-FFF2-40B4-BE49-F238E27FC236}">
                  <a16:creationId xmlns:a16="http://schemas.microsoft.com/office/drawing/2014/main" id="{FCE03A78-7D6B-9D5E-698B-3AB5F49F7D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2" y="3175"/>
              <a:ext cx="20" cy="24"/>
            </a:xfrm>
            <a:prstGeom prst="ellipse">
              <a:avLst/>
            </a:prstGeom>
            <a:noFill/>
            <a:ln w="254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56404" name="Oval 68">
              <a:extLst>
                <a:ext uri="{FF2B5EF4-FFF2-40B4-BE49-F238E27FC236}">
                  <a16:creationId xmlns:a16="http://schemas.microsoft.com/office/drawing/2014/main" id="{D0D43E1D-4B4D-FBAD-9AFB-C865FA1CF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2" y="3311"/>
              <a:ext cx="54" cy="62"/>
            </a:xfrm>
            <a:prstGeom prst="ellipse">
              <a:avLst/>
            </a:prstGeom>
            <a:noFill/>
            <a:ln w="254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56405" name="Oval 69">
              <a:extLst>
                <a:ext uri="{FF2B5EF4-FFF2-40B4-BE49-F238E27FC236}">
                  <a16:creationId xmlns:a16="http://schemas.microsoft.com/office/drawing/2014/main" id="{3C8CED58-213C-3E55-261C-E3F73D8034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9" y="3330"/>
              <a:ext cx="20" cy="25"/>
            </a:xfrm>
            <a:prstGeom prst="ellipse">
              <a:avLst/>
            </a:prstGeom>
            <a:noFill/>
            <a:ln w="254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56406" name="Oval 70">
              <a:extLst>
                <a:ext uri="{FF2B5EF4-FFF2-40B4-BE49-F238E27FC236}">
                  <a16:creationId xmlns:a16="http://schemas.microsoft.com/office/drawing/2014/main" id="{220D95B0-DBF6-093C-94BE-A60CC22CE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3623"/>
              <a:ext cx="54" cy="62"/>
            </a:xfrm>
            <a:prstGeom prst="ellipse">
              <a:avLst/>
            </a:prstGeom>
            <a:noFill/>
            <a:ln w="254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56407" name="Oval 71">
              <a:extLst>
                <a:ext uri="{FF2B5EF4-FFF2-40B4-BE49-F238E27FC236}">
                  <a16:creationId xmlns:a16="http://schemas.microsoft.com/office/drawing/2014/main" id="{6D212ED7-729C-74E6-7FB6-F521A5CDC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8" y="3643"/>
              <a:ext cx="20" cy="24"/>
            </a:xfrm>
            <a:prstGeom prst="ellipse">
              <a:avLst/>
            </a:prstGeom>
            <a:noFill/>
            <a:ln w="254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56408" name="Oval 72">
              <a:extLst>
                <a:ext uri="{FF2B5EF4-FFF2-40B4-BE49-F238E27FC236}">
                  <a16:creationId xmlns:a16="http://schemas.microsoft.com/office/drawing/2014/main" id="{CA1BDF72-66EE-6DB8-C706-F6193F834D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9" y="3157"/>
              <a:ext cx="54" cy="61"/>
            </a:xfrm>
            <a:prstGeom prst="ellipse">
              <a:avLst/>
            </a:prstGeom>
            <a:noFill/>
            <a:ln w="254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56409" name="Oval 73">
              <a:extLst>
                <a:ext uri="{FF2B5EF4-FFF2-40B4-BE49-F238E27FC236}">
                  <a16:creationId xmlns:a16="http://schemas.microsoft.com/office/drawing/2014/main" id="{9D304595-6A44-29EC-BB2D-65BC39AC7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6" y="3312"/>
              <a:ext cx="54" cy="63"/>
            </a:xfrm>
            <a:prstGeom prst="ellipse">
              <a:avLst/>
            </a:prstGeom>
            <a:noFill/>
            <a:ln w="254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56410" name="Oval 74">
              <a:extLst>
                <a:ext uri="{FF2B5EF4-FFF2-40B4-BE49-F238E27FC236}">
                  <a16:creationId xmlns:a16="http://schemas.microsoft.com/office/drawing/2014/main" id="{74135341-E5DA-ABF6-847A-E8D962259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7" y="3625"/>
              <a:ext cx="54" cy="62"/>
            </a:xfrm>
            <a:prstGeom prst="ellipse">
              <a:avLst/>
            </a:prstGeom>
            <a:noFill/>
            <a:ln w="254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56411" name="Oval 75">
              <a:extLst>
                <a:ext uri="{FF2B5EF4-FFF2-40B4-BE49-F238E27FC236}">
                  <a16:creationId xmlns:a16="http://schemas.microsoft.com/office/drawing/2014/main" id="{4E37198A-B0C1-5BC6-C489-271306556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" y="3625"/>
              <a:ext cx="55" cy="62"/>
            </a:xfrm>
            <a:prstGeom prst="ellipse">
              <a:avLst/>
            </a:prstGeom>
            <a:noFill/>
            <a:ln w="254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56412" name="AutoShape 76">
              <a:extLst>
                <a:ext uri="{FF2B5EF4-FFF2-40B4-BE49-F238E27FC236}">
                  <a16:creationId xmlns:a16="http://schemas.microsoft.com/office/drawing/2014/main" id="{62CF266F-D35A-03F5-9BD7-F3A72E0C8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3" y="2682"/>
              <a:ext cx="54" cy="61"/>
            </a:xfrm>
            <a:prstGeom prst="triangle">
              <a:avLst>
                <a:gd name="adj" fmla="val 49995"/>
              </a:avLst>
            </a:prstGeom>
            <a:noFill/>
            <a:ln w="254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56413" name="AutoShape 77">
              <a:extLst>
                <a:ext uri="{FF2B5EF4-FFF2-40B4-BE49-F238E27FC236}">
                  <a16:creationId xmlns:a16="http://schemas.microsoft.com/office/drawing/2014/main" id="{5AEEC673-39B1-6454-3F28-400E33E6F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5" y="3150"/>
              <a:ext cx="54" cy="62"/>
            </a:xfrm>
            <a:prstGeom prst="triangle">
              <a:avLst>
                <a:gd name="adj" fmla="val 49995"/>
              </a:avLst>
            </a:prstGeom>
            <a:noFill/>
            <a:ln w="254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56414" name="AutoShape 78">
              <a:extLst>
                <a:ext uri="{FF2B5EF4-FFF2-40B4-BE49-F238E27FC236}">
                  <a16:creationId xmlns:a16="http://schemas.microsoft.com/office/drawing/2014/main" id="{FBBE2AE4-1C89-6076-409E-92913FBD9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3" y="3306"/>
              <a:ext cx="55" cy="62"/>
            </a:xfrm>
            <a:prstGeom prst="triangle">
              <a:avLst>
                <a:gd name="adj" fmla="val 49995"/>
              </a:avLst>
            </a:prstGeom>
            <a:noFill/>
            <a:ln w="254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56415" name="AutoShape 79">
              <a:extLst>
                <a:ext uri="{FF2B5EF4-FFF2-40B4-BE49-F238E27FC236}">
                  <a16:creationId xmlns:a16="http://schemas.microsoft.com/office/drawing/2014/main" id="{6063EE04-95E0-D1AD-FC80-10D4D4396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4" y="3462"/>
              <a:ext cx="55" cy="62"/>
            </a:xfrm>
            <a:prstGeom prst="triangle">
              <a:avLst>
                <a:gd name="adj" fmla="val 49995"/>
              </a:avLst>
            </a:prstGeom>
            <a:noFill/>
            <a:ln w="254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</p:grpSp>
      <p:sp>
        <p:nvSpPr>
          <p:cNvPr id="56381" name="Line 81">
            <a:extLst>
              <a:ext uri="{FF2B5EF4-FFF2-40B4-BE49-F238E27FC236}">
                <a16:creationId xmlns:a16="http://schemas.microsoft.com/office/drawing/2014/main" id="{836C6719-9CFD-AB3A-2C8B-A41C77AF0B0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9029" y="3143250"/>
            <a:ext cx="0" cy="148590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342900"/>
            <a:endParaRPr lang="en-IN" sz="135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56382" name="Rectangle 82">
            <a:extLst>
              <a:ext uri="{FF2B5EF4-FFF2-40B4-BE49-F238E27FC236}">
                <a16:creationId xmlns:a16="http://schemas.microsoft.com/office/drawing/2014/main" id="{93F33DD9-188A-99CE-8BC8-A6F590522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6444" y="2755107"/>
            <a:ext cx="1796654" cy="993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defTabSz="3429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Arial" panose="020B0604020202020204" pitchFamily="34" charset="0"/>
              </a:rPr>
              <a:t>Relationship between</a:t>
            </a:r>
          </a:p>
          <a:p>
            <a:pPr algn="ctr" defTabSz="3429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Arial" panose="020B0604020202020204" pitchFamily="34" charset="0"/>
              </a:rPr>
              <a:t>Customer Requirements and</a:t>
            </a:r>
          </a:p>
          <a:p>
            <a:pPr algn="ctr" defTabSz="3429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Arial" panose="020B0604020202020204" pitchFamily="34" charset="0"/>
              </a:rPr>
              <a:t>Technical Descriptors</a:t>
            </a:r>
          </a:p>
          <a:p>
            <a:pPr algn="ctr" defTabSz="3429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Arial" panose="020B0604020202020204" pitchFamily="34" charset="0"/>
              </a:rPr>
              <a:t>WHATs vs. HOWs</a:t>
            </a:r>
          </a:p>
        </p:txBody>
      </p:sp>
      <p:grpSp>
        <p:nvGrpSpPr>
          <p:cNvPr id="56383" name="Group 95">
            <a:extLst>
              <a:ext uri="{FF2B5EF4-FFF2-40B4-BE49-F238E27FC236}">
                <a16:creationId xmlns:a16="http://schemas.microsoft.com/office/drawing/2014/main" id="{35576254-8CF4-B1B6-DAB9-D46DE3D3459A}"/>
              </a:ext>
            </a:extLst>
          </p:cNvPr>
          <p:cNvGrpSpPr>
            <a:grpSpLocks/>
          </p:cNvGrpSpPr>
          <p:nvPr/>
        </p:nvGrpSpPr>
        <p:grpSpPr bwMode="auto">
          <a:xfrm>
            <a:off x="6187678" y="3781425"/>
            <a:ext cx="1117997" cy="700088"/>
            <a:chOff x="4237" y="3176"/>
            <a:chExt cx="939" cy="588"/>
          </a:xfrm>
        </p:grpSpPr>
        <p:sp>
          <p:nvSpPr>
            <p:cNvPr id="56384" name="Rectangle 83">
              <a:extLst>
                <a:ext uri="{FF2B5EF4-FFF2-40B4-BE49-F238E27FC236}">
                  <a16:creationId xmlns:a16="http://schemas.microsoft.com/office/drawing/2014/main" id="{62301E93-FF60-62F9-0665-70C66D447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6" y="3243"/>
              <a:ext cx="481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80000"/>
                </a:lnSpc>
                <a:spcBef>
                  <a:spcPct val="0"/>
                </a:spcBef>
                <a:buClr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Strong</a:t>
              </a:r>
            </a:p>
          </p:txBody>
        </p:sp>
        <p:sp>
          <p:nvSpPr>
            <p:cNvPr id="56385" name="Rectangle 84">
              <a:extLst>
                <a:ext uri="{FF2B5EF4-FFF2-40B4-BE49-F238E27FC236}">
                  <a16:creationId xmlns:a16="http://schemas.microsoft.com/office/drawing/2014/main" id="{C7C24712-C891-DEF8-78C5-FDFC7538F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" y="3399"/>
              <a:ext cx="544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80000"/>
                </a:lnSpc>
                <a:spcBef>
                  <a:spcPct val="0"/>
                </a:spcBef>
                <a:buClr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Medium</a:t>
              </a:r>
            </a:p>
          </p:txBody>
        </p:sp>
        <p:sp>
          <p:nvSpPr>
            <p:cNvPr id="56386" name="Rectangle 85">
              <a:extLst>
                <a:ext uri="{FF2B5EF4-FFF2-40B4-BE49-F238E27FC236}">
                  <a16:creationId xmlns:a16="http://schemas.microsoft.com/office/drawing/2014/main" id="{9E425285-15BC-5E97-5864-7346C18D5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" y="3565"/>
              <a:ext cx="413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80000"/>
                </a:lnSpc>
                <a:spcBef>
                  <a:spcPct val="0"/>
                </a:spcBef>
                <a:buClr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Weak</a:t>
              </a:r>
            </a:p>
          </p:txBody>
        </p:sp>
        <p:sp>
          <p:nvSpPr>
            <p:cNvPr id="56387" name="Oval 86">
              <a:extLst>
                <a:ext uri="{FF2B5EF4-FFF2-40B4-BE49-F238E27FC236}">
                  <a16:creationId xmlns:a16="http://schemas.microsoft.com/office/drawing/2014/main" id="{4E87A08C-1241-0644-7F66-4BD148497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6" y="3421"/>
              <a:ext cx="55" cy="63"/>
            </a:xfrm>
            <a:prstGeom prst="ellipse">
              <a:avLst/>
            </a:prstGeom>
            <a:noFill/>
            <a:ln w="254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  <p:grpSp>
          <p:nvGrpSpPr>
            <p:cNvPr id="56388" name="Group 89">
              <a:extLst>
                <a:ext uri="{FF2B5EF4-FFF2-40B4-BE49-F238E27FC236}">
                  <a16:creationId xmlns:a16="http://schemas.microsoft.com/office/drawing/2014/main" id="{9931884D-1F0E-8386-FA2F-A0AC820FC0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3263"/>
              <a:ext cx="54" cy="62"/>
              <a:chOff x="4512" y="3263"/>
              <a:chExt cx="54" cy="62"/>
            </a:xfrm>
          </p:grpSpPr>
          <p:sp>
            <p:nvSpPr>
              <p:cNvPr id="56394" name="Oval 87">
                <a:extLst>
                  <a:ext uri="{FF2B5EF4-FFF2-40B4-BE49-F238E27FC236}">
                    <a16:creationId xmlns:a16="http://schemas.microsoft.com/office/drawing/2014/main" id="{1AE18474-8B11-521F-7687-7D52BFA5D6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3263"/>
                <a:ext cx="54" cy="62"/>
              </a:xfrm>
              <a:prstGeom prst="ellipse">
                <a:avLst/>
              </a:prstGeom>
              <a:noFill/>
              <a:ln w="254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defTabSz="342900">
                  <a:lnSpc>
                    <a:spcPct val="100000"/>
                  </a:lnSpc>
                  <a:spcBef>
                    <a:spcPct val="0"/>
                  </a:spcBef>
                  <a:buClrTx/>
                  <a:buNone/>
                </a:pPr>
                <a:endParaRPr lang="en-US" altLang="en-US" sz="135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56395" name="Oval 88">
                <a:extLst>
                  <a:ext uri="{FF2B5EF4-FFF2-40B4-BE49-F238E27FC236}">
                    <a16:creationId xmlns:a16="http://schemas.microsoft.com/office/drawing/2014/main" id="{FD5B8E34-9270-0B74-71A4-A8B2C9656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9" y="3283"/>
                <a:ext cx="20" cy="25"/>
              </a:xfrm>
              <a:prstGeom prst="ellipse">
                <a:avLst/>
              </a:prstGeom>
              <a:noFill/>
              <a:ln w="254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defTabSz="342900">
                  <a:lnSpc>
                    <a:spcPct val="100000"/>
                  </a:lnSpc>
                  <a:spcBef>
                    <a:spcPct val="0"/>
                  </a:spcBef>
                  <a:buClrTx/>
                  <a:buNone/>
                </a:pPr>
                <a:endParaRPr lang="en-US" altLang="en-US" sz="135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56389" name="Rectangle 90">
              <a:extLst>
                <a:ext uri="{FF2B5EF4-FFF2-40B4-BE49-F238E27FC236}">
                  <a16:creationId xmlns:a16="http://schemas.microsoft.com/office/drawing/2014/main" id="{33FACF5F-926C-071D-4A80-7924DE756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2" y="3243"/>
              <a:ext cx="246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80000"/>
                </a:lnSpc>
                <a:spcBef>
                  <a:spcPct val="0"/>
                </a:spcBef>
                <a:buClr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+9</a:t>
              </a:r>
            </a:p>
          </p:txBody>
        </p:sp>
        <p:sp>
          <p:nvSpPr>
            <p:cNvPr id="56390" name="Rectangle 91">
              <a:extLst>
                <a:ext uri="{FF2B5EF4-FFF2-40B4-BE49-F238E27FC236}">
                  <a16:creationId xmlns:a16="http://schemas.microsoft.com/office/drawing/2014/main" id="{9743C071-3398-1A90-CDA5-69C141DB6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2" y="3399"/>
              <a:ext cx="246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80000"/>
                </a:lnSpc>
                <a:spcBef>
                  <a:spcPct val="0"/>
                </a:spcBef>
                <a:buClr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+3</a:t>
              </a:r>
            </a:p>
          </p:txBody>
        </p:sp>
        <p:sp>
          <p:nvSpPr>
            <p:cNvPr id="56391" name="Rectangle 92">
              <a:extLst>
                <a:ext uri="{FF2B5EF4-FFF2-40B4-BE49-F238E27FC236}">
                  <a16:creationId xmlns:a16="http://schemas.microsoft.com/office/drawing/2014/main" id="{51DDAA50-5F2A-A17F-2016-AA6DE1FDF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7" y="3176"/>
              <a:ext cx="939" cy="588"/>
            </a:xfrm>
            <a:prstGeom prst="rect">
              <a:avLst/>
            </a:prstGeom>
            <a:noFill/>
            <a:ln w="254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56392" name="Rectangle 93">
              <a:extLst>
                <a:ext uri="{FF2B5EF4-FFF2-40B4-BE49-F238E27FC236}">
                  <a16:creationId xmlns:a16="http://schemas.microsoft.com/office/drawing/2014/main" id="{4C38753D-8077-BF1F-0AD8-C9ED965805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2" y="3565"/>
              <a:ext cx="246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80000"/>
                </a:lnSpc>
                <a:spcBef>
                  <a:spcPct val="0"/>
                </a:spcBef>
                <a:buClr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+1</a:t>
              </a:r>
            </a:p>
          </p:txBody>
        </p:sp>
        <p:sp>
          <p:nvSpPr>
            <p:cNvPr id="56393" name="AutoShape 94">
              <a:extLst>
                <a:ext uri="{FF2B5EF4-FFF2-40B4-BE49-F238E27FC236}">
                  <a16:creationId xmlns:a16="http://schemas.microsoft.com/office/drawing/2014/main" id="{A3FED1F4-3D61-BB3D-4CFF-D722BB82A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9" y="3586"/>
              <a:ext cx="54" cy="62"/>
            </a:xfrm>
            <a:prstGeom prst="triangle">
              <a:avLst>
                <a:gd name="adj" fmla="val 49995"/>
              </a:avLst>
            </a:prstGeom>
            <a:noFill/>
            <a:ln w="254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defTabSz="342900">
                <a:lnSpc>
                  <a:spcPct val="100000"/>
                </a:lnSpc>
                <a:spcBef>
                  <a:spcPct val="0"/>
                </a:spcBef>
                <a:buClrTx/>
                <a:buNone/>
              </a:pPr>
              <a:endParaRPr lang="en-US" altLang="en-US" sz="1350" dirty="0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1861175A-DE86-15D2-1B6E-F44DE68706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85900" y="0"/>
            <a:ext cx="6172200" cy="85725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Correlation Matrix</a:t>
            </a:r>
          </a:p>
        </p:txBody>
      </p:sp>
      <p:grpSp>
        <p:nvGrpSpPr>
          <p:cNvPr id="58371" name="Group 49">
            <a:extLst>
              <a:ext uri="{FF2B5EF4-FFF2-40B4-BE49-F238E27FC236}">
                <a16:creationId xmlns:a16="http://schemas.microsoft.com/office/drawing/2014/main" id="{71BC41BE-666D-1045-E6CA-968D602FAF20}"/>
              </a:ext>
            </a:extLst>
          </p:cNvPr>
          <p:cNvGrpSpPr>
            <a:grpSpLocks/>
          </p:cNvGrpSpPr>
          <p:nvPr/>
        </p:nvGrpSpPr>
        <p:grpSpPr bwMode="auto">
          <a:xfrm>
            <a:off x="4165998" y="814387"/>
            <a:ext cx="958453" cy="595313"/>
            <a:chOff x="2539" y="684"/>
            <a:chExt cx="805" cy="500"/>
          </a:xfrm>
        </p:grpSpPr>
        <p:grpSp>
          <p:nvGrpSpPr>
            <p:cNvPr id="58504" name="Group 5">
              <a:extLst>
                <a:ext uri="{FF2B5EF4-FFF2-40B4-BE49-F238E27FC236}">
                  <a16:creationId xmlns:a16="http://schemas.microsoft.com/office/drawing/2014/main" id="{881D12B1-39A2-CC3D-C7DF-FF0A0BB047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4" y="759"/>
              <a:ext cx="60" cy="64"/>
              <a:chOff x="3014" y="759"/>
              <a:chExt cx="60" cy="64"/>
            </a:xfrm>
          </p:grpSpPr>
          <p:sp>
            <p:nvSpPr>
              <p:cNvPr id="58548" name="Oval 3">
                <a:extLst>
                  <a:ext uri="{FF2B5EF4-FFF2-40B4-BE49-F238E27FC236}">
                    <a16:creationId xmlns:a16="http://schemas.microsoft.com/office/drawing/2014/main" id="{6EDD2ECB-1486-022C-17B6-7CDE970D2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4" y="759"/>
                <a:ext cx="60" cy="64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  <p:sp>
            <p:nvSpPr>
              <p:cNvPr id="58549" name="Oval 4">
                <a:extLst>
                  <a:ext uri="{FF2B5EF4-FFF2-40B4-BE49-F238E27FC236}">
                    <a16:creationId xmlns:a16="http://schemas.microsoft.com/office/drawing/2014/main" id="{33157E5F-6621-624D-9840-AB59684978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1" y="777"/>
                <a:ext cx="26" cy="29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</p:grpSp>
        <p:grpSp>
          <p:nvGrpSpPr>
            <p:cNvPr id="58505" name="Group 10">
              <a:extLst>
                <a:ext uri="{FF2B5EF4-FFF2-40B4-BE49-F238E27FC236}">
                  <a16:creationId xmlns:a16="http://schemas.microsoft.com/office/drawing/2014/main" id="{C38B8A00-9045-B861-EA3D-55E98A7FA0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73" y="967"/>
              <a:ext cx="68" cy="71"/>
              <a:chOff x="2673" y="967"/>
              <a:chExt cx="68" cy="71"/>
            </a:xfrm>
          </p:grpSpPr>
          <p:sp>
            <p:nvSpPr>
              <p:cNvPr id="58544" name="Line 6">
                <a:extLst>
                  <a:ext uri="{FF2B5EF4-FFF2-40B4-BE49-F238E27FC236}">
                    <a16:creationId xmlns:a16="http://schemas.microsoft.com/office/drawing/2014/main" id="{ABD98DDD-C282-01DF-24FD-F68C78C7A7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3" y="1003"/>
                <a:ext cx="68" cy="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58545" name="Line 7">
                <a:extLst>
                  <a:ext uri="{FF2B5EF4-FFF2-40B4-BE49-F238E27FC236}">
                    <a16:creationId xmlns:a16="http://schemas.microsoft.com/office/drawing/2014/main" id="{D719FED7-0C2F-398A-3660-BD13B69A6E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07" y="967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58546" name="Line 8">
                <a:extLst>
                  <a:ext uri="{FF2B5EF4-FFF2-40B4-BE49-F238E27FC236}">
                    <a16:creationId xmlns:a16="http://schemas.microsoft.com/office/drawing/2014/main" id="{3C3438FD-BC5D-5562-9C01-F153D6603E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73" y="967"/>
                <a:ext cx="68" cy="71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58547" name="Line 9">
                <a:extLst>
                  <a:ext uri="{FF2B5EF4-FFF2-40B4-BE49-F238E27FC236}">
                    <a16:creationId xmlns:a16="http://schemas.microsoft.com/office/drawing/2014/main" id="{59E06F80-C537-9B7A-860A-7A6B441A7F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73" y="967"/>
                <a:ext cx="68" cy="71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</p:grpSp>
        <p:grpSp>
          <p:nvGrpSpPr>
            <p:cNvPr id="58506" name="Group 13">
              <a:extLst>
                <a:ext uri="{FF2B5EF4-FFF2-40B4-BE49-F238E27FC236}">
                  <a16:creationId xmlns:a16="http://schemas.microsoft.com/office/drawing/2014/main" id="{5E56F654-8F16-F8DD-3888-5D8633065D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4" y="902"/>
              <a:ext cx="59" cy="64"/>
              <a:chOff x="2744" y="902"/>
              <a:chExt cx="59" cy="64"/>
            </a:xfrm>
          </p:grpSpPr>
          <p:sp>
            <p:nvSpPr>
              <p:cNvPr id="58542" name="Oval 11">
                <a:extLst>
                  <a:ext uri="{FF2B5EF4-FFF2-40B4-BE49-F238E27FC236}">
                    <a16:creationId xmlns:a16="http://schemas.microsoft.com/office/drawing/2014/main" id="{4EE1C461-F94E-044E-5D66-2B76C17A6E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902"/>
                <a:ext cx="59" cy="64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  <p:sp>
            <p:nvSpPr>
              <p:cNvPr id="58543" name="Oval 12">
                <a:extLst>
                  <a:ext uri="{FF2B5EF4-FFF2-40B4-BE49-F238E27FC236}">
                    <a16:creationId xmlns:a16="http://schemas.microsoft.com/office/drawing/2014/main" id="{68CC8C21-549C-BC37-21AE-33929D8075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0" y="920"/>
                <a:ext cx="26" cy="29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</p:grpSp>
        <p:grpSp>
          <p:nvGrpSpPr>
            <p:cNvPr id="58507" name="Group 16">
              <a:extLst>
                <a:ext uri="{FF2B5EF4-FFF2-40B4-BE49-F238E27FC236}">
                  <a16:creationId xmlns:a16="http://schemas.microsoft.com/office/drawing/2014/main" id="{102D107F-1ADF-4B7E-6C33-B611F6DBAE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4" y="1045"/>
              <a:ext cx="60" cy="64"/>
              <a:chOff x="3284" y="1045"/>
              <a:chExt cx="60" cy="64"/>
            </a:xfrm>
          </p:grpSpPr>
          <p:sp>
            <p:nvSpPr>
              <p:cNvPr id="58540" name="Oval 14">
                <a:extLst>
                  <a:ext uri="{FF2B5EF4-FFF2-40B4-BE49-F238E27FC236}">
                    <a16:creationId xmlns:a16="http://schemas.microsoft.com/office/drawing/2014/main" id="{C61D485C-AE85-DD15-67E6-926286466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4" y="1045"/>
                <a:ext cx="60" cy="64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  <p:sp>
            <p:nvSpPr>
              <p:cNvPr id="58541" name="Oval 15">
                <a:extLst>
                  <a:ext uri="{FF2B5EF4-FFF2-40B4-BE49-F238E27FC236}">
                    <a16:creationId xmlns:a16="http://schemas.microsoft.com/office/drawing/2014/main" id="{2A634B18-9183-4967-2F6F-FE42D3F8E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1" y="1063"/>
                <a:ext cx="26" cy="29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</p:grpSp>
        <p:grpSp>
          <p:nvGrpSpPr>
            <p:cNvPr id="58508" name="Group 19">
              <a:extLst>
                <a:ext uri="{FF2B5EF4-FFF2-40B4-BE49-F238E27FC236}">
                  <a16:creationId xmlns:a16="http://schemas.microsoft.com/office/drawing/2014/main" id="{F52C4850-CE24-811A-446B-FC9C7AA35C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9" y="1117"/>
              <a:ext cx="60" cy="63"/>
              <a:chOff x="2539" y="1117"/>
              <a:chExt cx="60" cy="63"/>
            </a:xfrm>
          </p:grpSpPr>
          <p:sp>
            <p:nvSpPr>
              <p:cNvPr id="58538" name="Oval 17">
                <a:extLst>
                  <a:ext uri="{FF2B5EF4-FFF2-40B4-BE49-F238E27FC236}">
                    <a16:creationId xmlns:a16="http://schemas.microsoft.com/office/drawing/2014/main" id="{E78CEA3F-4160-3DC6-926B-DB9D8EE82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9" y="1117"/>
                <a:ext cx="60" cy="63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  <p:sp>
            <p:nvSpPr>
              <p:cNvPr id="58539" name="Oval 18">
                <a:extLst>
                  <a:ext uri="{FF2B5EF4-FFF2-40B4-BE49-F238E27FC236}">
                    <a16:creationId xmlns:a16="http://schemas.microsoft.com/office/drawing/2014/main" id="{8651EAE5-9922-D656-2072-34205D0855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6" y="1135"/>
                <a:ext cx="26" cy="29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</p:grpSp>
        <p:grpSp>
          <p:nvGrpSpPr>
            <p:cNvPr id="58509" name="Group 22">
              <a:extLst>
                <a:ext uri="{FF2B5EF4-FFF2-40B4-BE49-F238E27FC236}">
                  <a16:creationId xmlns:a16="http://schemas.microsoft.com/office/drawing/2014/main" id="{9DACCF83-AC3F-A66E-B4D3-12A676B8F7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4" y="1045"/>
              <a:ext cx="60" cy="64"/>
              <a:chOff x="3014" y="1045"/>
              <a:chExt cx="60" cy="64"/>
            </a:xfrm>
          </p:grpSpPr>
          <p:sp>
            <p:nvSpPr>
              <p:cNvPr id="58536" name="Oval 20">
                <a:extLst>
                  <a:ext uri="{FF2B5EF4-FFF2-40B4-BE49-F238E27FC236}">
                    <a16:creationId xmlns:a16="http://schemas.microsoft.com/office/drawing/2014/main" id="{B82031DC-E34E-C7D7-7E28-EA6873481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4" y="1045"/>
                <a:ext cx="60" cy="64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  <p:sp>
            <p:nvSpPr>
              <p:cNvPr id="58537" name="Oval 21">
                <a:extLst>
                  <a:ext uri="{FF2B5EF4-FFF2-40B4-BE49-F238E27FC236}">
                    <a16:creationId xmlns:a16="http://schemas.microsoft.com/office/drawing/2014/main" id="{B1D87201-8559-2C6F-47A8-8CD6C14365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1" y="1063"/>
                <a:ext cx="26" cy="29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</p:grpSp>
        <p:grpSp>
          <p:nvGrpSpPr>
            <p:cNvPr id="58510" name="Group 27">
              <a:extLst>
                <a:ext uri="{FF2B5EF4-FFF2-40B4-BE49-F238E27FC236}">
                  <a16:creationId xmlns:a16="http://schemas.microsoft.com/office/drawing/2014/main" id="{3831CC6F-4026-220C-A0D6-D7A41691EA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47" y="1041"/>
              <a:ext cx="67" cy="72"/>
              <a:chOff x="3147" y="1041"/>
              <a:chExt cx="67" cy="72"/>
            </a:xfrm>
          </p:grpSpPr>
          <p:sp>
            <p:nvSpPr>
              <p:cNvPr id="58532" name="Line 23">
                <a:extLst>
                  <a:ext uri="{FF2B5EF4-FFF2-40B4-BE49-F238E27FC236}">
                    <a16:creationId xmlns:a16="http://schemas.microsoft.com/office/drawing/2014/main" id="{F9A0C361-D302-43E1-7C33-2A9D380221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7" y="1077"/>
                <a:ext cx="67" cy="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58533" name="Line 24">
                <a:extLst>
                  <a:ext uri="{FF2B5EF4-FFF2-40B4-BE49-F238E27FC236}">
                    <a16:creationId xmlns:a16="http://schemas.microsoft.com/office/drawing/2014/main" id="{1F4DAF40-95FB-D5C3-2D9B-2135D9D95D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0" y="1041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58534" name="Line 25">
                <a:extLst>
                  <a:ext uri="{FF2B5EF4-FFF2-40B4-BE49-F238E27FC236}">
                    <a16:creationId xmlns:a16="http://schemas.microsoft.com/office/drawing/2014/main" id="{4D7D8E71-5DD3-51A2-E0F0-C7CA7EB4CD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47" y="1041"/>
                <a:ext cx="67" cy="72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58535" name="Line 26">
                <a:extLst>
                  <a:ext uri="{FF2B5EF4-FFF2-40B4-BE49-F238E27FC236}">
                    <a16:creationId xmlns:a16="http://schemas.microsoft.com/office/drawing/2014/main" id="{18D7C959-C6A6-8DF1-3DC7-1B1E436C54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147" y="1041"/>
                <a:ext cx="67" cy="72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</p:grpSp>
        <p:grpSp>
          <p:nvGrpSpPr>
            <p:cNvPr id="58511" name="Group 32">
              <a:extLst>
                <a:ext uri="{FF2B5EF4-FFF2-40B4-BE49-F238E27FC236}">
                  <a16:creationId xmlns:a16="http://schemas.microsoft.com/office/drawing/2014/main" id="{8C1F5EDC-A64E-BB5A-A50C-3E06CB1D74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6" y="895"/>
              <a:ext cx="68" cy="72"/>
              <a:chOff x="2876" y="895"/>
              <a:chExt cx="68" cy="72"/>
            </a:xfrm>
          </p:grpSpPr>
          <p:sp>
            <p:nvSpPr>
              <p:cNvPr id="58528" name="Line 28">
                <a:extLst>
                  <a:ext uri="{FF2B5EF4-FFF2-40B4-BE49-F238E27FC236}">
                    <a16:creationId xmlns:a16="http://schemas.microsoft.com/office/drawing/2014/main" id="{D8B9B8A0-15D3-B1C0-D0F9-B10278EE50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6" y="931"/>
                <a:ext cx="68" cy="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58529" name="Line 29">
                <a:extLst>
                  <a:ext uri="{FF2B5EF4-FFF2-40B4-BE49-F238E27FC236}">
                    <a16:creationId xmlns:a16="http://schemas.microsoft.com/office/drawing/2014/main" id="{6438073B-EBB7-5FDE-202D-742A987477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895"/>
                <a:ext cx="0" cy="72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58530" name="Line 30">
                <a:extLst>
                  <a:ext uri="{FF2B5EF4-FFF2-40B4-BE49-F238E27FC236}">
                    <a16:creationId xmlns:a16="http://schemas.microsoft.com/office/drawing/2014/main" id="{433EA993-640B-4C90-A68D-CFA7BDE201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76" y="895"/>
                <a:ext cx="68" cy="72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58531" name="Line 31">
                <a:extLst>
                  <a:ext uri="{FF2B5EF4-FFF2-40B4-BE49-F238E27FC236}">
                    <a16:creationId xmlns:a16="http://schemas.microsoft.com/office/drawing/2014/main" id="{6809F4D1-C88E-951F-086D-71B27039B0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76" y="895"/>
                <a:ext cx="68" cy="72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</p:grpSp>
        <p:grpSp>
          <p:nvGrpSpPr>
            <p:cNvPr id="58512" name="Group 37">
              <a:extLst>
                <a:ext uri="{FF2B5EF4-FFF2-40B4-BE49-F238E27FC236}">
                  <a16:creationId xmlns:a16="http://schemas.microsoft.com/office/drawing/2014/main" id="{244A8BB5-07B0-0992-0693-02FD460759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4" y="1110"/>
              <a:ext cx="67" cy="71"/>
              <a:chOff x="2944" y="1110"/>
              <a:chExt cx="67" cy="71"/>
            </a:xfrm>
          </p:grpSpPr>
          <p:sp>
            <p:nvSpPr>
              <p:cNvPr id="58524" name="Line 33">
                <a:extLst>
                  <a:ext uri="{FF2B5EF4-FFF2-40B4-BE49-F238E27FC236}">
                    <a16:creationId xmlns:a16="http://schemas.microsoft.com/office/drawing/2014/main" id="{474438AD-8476-1B4D-76A4-AF8A7EA2FA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1146"/>
                <a:ext cx="67" cy="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58525" name="Line 34">
                <a:extLst>
                  <a:ext uri="{FF2B5EF4-FFF2-40B4-BE49-F238E27FC236}">
                    <a16:creationId xmlns:a16="http://schemas.microsoft.com/office/drawing/2014/main" id="{968F7440-B364-338B-0ED1-3235E8F413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8" y="1110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58526" name="Line 35">
                <a:extLst>
                  <a:ext uri="{FF2B5EF4-FFF2-40B4-BE49-F238E27FC236}">
                    <a16:creationId xmlns:a16="http://schemas.microsoft.com/office/drawing/2014/main" id="{A368FC50-BEEA-98EC-A724-D53981F668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44" y="1110"/>
                <a:ext cx="67" cy="71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58527" name="Line 36">
                <a:extLst>
                  <a:ext uri="{FF2B5EF4-FFF2-40B4-BE49-F238E27FC236}">
                    <a16:creationId xmlns:a16="http://schemas.microsoft.com/office/drawing/2014/main" id="{D45AEE3D-3C00-21D0-9BA5-9E9DCDA3E6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44" y="1110"/>
                <a:ext cx="67" cy="71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</p:grpSp>
        <p:sp>
          <p:nvSpPr>
            <p:cNvPr id="58513" name="Oval 38">
              <a:extLst>
                <a:ext uri="{FF2B5EF4-FFF2-40B4-BE49-F238E27FC236}">
                  <a16:creationId xmlns:a16="http://schemas.microsoft.com/office/drawing/2014/main" id="{795F1F00-9933-78C1-F727-7FA9C3D498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3" y="904"/>
              <a:ext cx="59" cy="63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58514" name="Oval 39">
              <a:extLst>
                <a:ext uri="{FF2B5EF4-FFF2-40B4-BE49-F238E27FC236}">
                  <a16:creationId xmlns:a16="http://schemas.microsoft.com/office/drawing/2014/main" id="{2D897838-DB4C-6FBE-47AA-6F68E425CF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0" y="1118"/>
              <a:ext cx="60" cy="64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grpSp>
          <p:nvGrpSpPr>
            <p:cNvPr id="58515" name="Group 42">
              <a:extLst>
                <a:ext uri="{FF2B5EF4-FFF2-40B4-BE49-F238E27FC236}">
                  <a16:creationId xmlns:a16="http://schemas.microsoft.com/office/drawing/2014/main" id="{6D930F64-28EA-65F9-C68C-C4D0DEFF70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1" y="684"/>
              <a:ext cx="68" cy="71"/>
              <a:chOff x="2941" y="684"/>
              <a:chExt cx="68" cy="71"/>
            </a:xfrm>
          </p:grpSpPr>
          <p:sp>
            <p:nvSpPr>
              <p:cNvPr id="58522" name="Line 40">
                <a:extLst>
                  <a:ext uri="{FF2B5EF4-FFF2-40B4-BE49-F238E27FC236}">
                    <a16:creationId xmlns:a16="http://schemas.microsoft.com/office/drawing/2014/main" id="{F3580A5B-902F-FA96-8C9C-72AD67B791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41" y="684"/>
                <a:ext cx="68" cy="71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58523" name="Line 41">
                <a:extLst>
                  <a:ext uri="{FF2B5EF4-FFF2-40B4-BE49-F238E27FC236}">
                    <a16:creationId xmlns:a16="http://schemas.microsoft.com/office/drawing/2014/main" id="{E17585D5-AD38-C871-5862-D256E0F1D3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41" y="684"/>
                <a:ext cx="68" cy="71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</p:grpSp>
        <p:grpSp>
          <p:nvGrpSpPr>
            <p:cNvPr id="58516" name="Group 45">
              <a:extLst>
                <a:ext uri="{FF2B5EF4-FFF2-40B4-BE49-F238E27FC236}">
                  <a16:creationId xmlns:a16="http://schemas.microsoft.com/office/drawing/2014/main" id="{55D77353-0844-A2E9-9CDB-EF8A6BFA6C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44" y="898"/>
              <a:ext cx="67" cy="72"/>
              <a:chOff x="3144" y="898"/>
              <a:chExt cx="67" cy="72"/>
            </a:xfrm>
          </p:grpSpPr>
          <p:sp>
            <p:nvSpPr>
              <p:cNvPr id="58520" name="Line 43">
                <a:extLst>
                  <a:ext uri="{FF2B5EF4-FFF2-40B4-BE49-F238E27FC236}">
                    <a16:creationId xmlns:a16="http://schemas.microsoft.com/office/drawing/2014/main" id="{614B0837-94C6-C22E-B9F1-F97613037E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44" y="898"/>
                <a:ext cx="67" cy="72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58521" name="Line 44">
                <a:extLst>
                  <a:ext uri="{FF2B5EF4-FFF2-40B4-BE49-F238E27FC236}">
                    <a16:creationId xmlns:a16="http://schemas.microsoft.com/office/drawing/2014/main" id="{82CFE374-054D-E490-BF66-B5BDAA0BAF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144" y="898"/>
                <a:ext cx="67" cy="72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</p:grpSp>
        <p:grpSp>
          <p:nvGrpSpPr>
            <p:cNvPr id="58517" name="Group 48">
              <a:extLst>
                <a:ext uri="{FF2B5EF4-FFF2-40B4-BE49-F238E27FC236}">
                  <a16:creationId xmlns:a16="http://schemas.microsoft.com/office/drawing/2014/main" id="{BDDD4F10-0A76-937B-73AA-CAD2DD2FFB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6" y="1113"/>
              <a:ext cx="67" cy="71"/>
              <a:chOff x="2806" y="1113"/>
              <a:chExt cx="67" cy="71"/>
            </a:xfrm>
          </p:grpSpPr>
          <p:sp>
            <p:nvSpPr>
              <p:cNvPr id="58518" name="Line 46">
                <a:extLst>
                  <a:ext uri="{FF2B5EF4-FFF2-40B4-BE49-F238E27FC236}">
                    <a16:creationId xmlns:a16="http://schemas.microsoft.com/office/drawing/2014/main" id="{AD199927-68E4-DAB1-38CB-14BF1F39BA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06" y="1113"/>
                <a:ext cx="67" cy="71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58519" name="Line 47">
                <a:extLst>
                  <a:ext uri="{FF2B5EF4-FFF2-40B4-BE49-F238E27FC236}">
                    <a16:creationId xmlns:a16="http://schemas.microsoft.com/office/drawing/2014/main" id="{43F062EB-C509-140E-FCD1-C563361E32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06" y="1113"/>
                <a:ext cx="67" cy="71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</p:grpSp>
      </p:grpSp>
      <p:sp>
        <p:nvSpPr>
          <p:cNvPr id="58372" name="Line 50">
            <a:extLst>
              <a:ext uri="{FF2B5EF4-FFF2-40B4-BE49-F238E27FC236}">
                <a16:creationId xmlns:a16="http://schemas.microsoft.com/office/drawing/2014/main" id="{2CF28231-381A-F1CC-2F40-384EBA2D47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1716" y="3326606"/>
            <a:ext cx="0" cy="136326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73" name="Line 51">
            <a:extLst>
              <a:ext uri="{FF2B5EF4-FFF2-40B4-BE49-F238E27FC236}">
                <a16:creationId xmlns:a16="http://schemas.microsoft.com/office/drawing/2014/main" id="{DA6891C5-75CA-FB16-D1CE-31672A0891F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2172" y="3496866"/>
            <a:ext cx="128468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74" name="Line 52">
            <a:extLst>
              <a:ext uri="{FF2B5EF4-FFF2-40B4-BE49-F238E27FC236}">
                <a16:creationId xmlns:a16="http://schemas.microsoft.com/office/drawing/2014/main" id="{40045D4F-7FF4-EBBB-F2BC-B62AAF0399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2172" y="3667125"/>
            <a:ext cx="128468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75" name="Line 53">
            <a:extLst>
              <a:ext uri="{FF2B5EF4-FFF2-40B4-BE49-F238E27FC236}">
                <a16:creationId xmlns:a16="http://schemas.microsoft.com/office/drawing/2014/main" id="{39DB5138-C8DD-0A81-025E-45194252A5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2172" y="3838575"/>
            <a:ext cx="128468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76" name="Line 54">
            <a:extLst>
              <a:ext uri="{FF2B5EF4-FFF2-40B4-BE49-F238E27FC236}">
                <a16:creationId xmlns:a16="http://schemas.microsoft.com/office/drawing/2014/main" id="{AF691738-1B28-B761-660E-F6C684A69AD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2172" y="4008835"/>
            <a:ext cx="128468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77" name="Line 55">
            <a:extLst>
              <a:ext uri="{FF2B5EF4-FFF2-40B4-BE49-F238E27FC236}">
                <a16:creationId xmlns:a16="http://schemas.microsoft.com/office/drawing/2014/main" id="{150A8BC8-3E7D-9DAF-101D-018379C1F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2172" y="4179094"/>
            <a:ext cx="128468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78" name="Line 56">
            <a:extLst>
              <a:ext uri="{FF2B5EF4-FFF2-40B4-BE49-F238E27FC236}">
                <a16:creationId xmlns:a16="http://schemas.microsoft.com/office/drawing/2014/main" id="{C8541A7F-FC3B-A2DE-64E2-D61913F09C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2172" y="4349354"/>
            <a:ext cx="128468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79" name="Line 57">
            <a:extLst>
              <a:ext uri="{FF2B5EF4-FFF2-40B4-BE49-F238E27FC236}">
                <a16:creationId xmlns:a16="http://schemas.microsoft.com/office/drawing/2014/main" id="{0595AB99-020C-4526-6E67-0CCE5D44DB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2172" y="4519613"/>
            <a:ext cx="128468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80" name="Line 58">
            <a:extLst>
              <a:ext uri="{FF2B5EF4-FFF2-40B4-BE49-F238E27FC236}">
                <a16:creationId xmlns:a16="http://schemas.microsoft.com/office/drawing/2014/main" id="{904FF31F-100B-3A14-37DF-D881DF4E5A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5566" y="3326606"/>
            <a:ext cx="0" cy="136326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81" name="Line 59">
            <a:extLst>
              <a:ext uri="{FF2B5EF4-FFF2-40B4-BE49-F238E27FC236}">
                <a16:creationId xmlns:a16="http://schemas.microsoft.com/office/drawing/2014/main" id="{3F89F87E-DCE8-6075-7A7C-E5D5BC3A24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5110" y="3326606"/>
            <a:ext cx="0" cy="136326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82" name="Line 60">
            <a:extLst>
              <a:ext uri="{FF2B5EF4-FFF2-40B4-BE49-F238E27FC236}">
                <a16:creationId xmlns:a16="http://schemas.microsoft.com/office/drawing/2014/main" id="{A64AC996-08CF-05DD-4282-7C4A7E0FFE6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7035" y="3326606"/>
            <a:ext cx="0" cy="136326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83" name="Line 61">
            <a:extLst>
              <a:ext uri="{FF2B5EF4-FFF2-40B4-BE49-F238E27FC236}">
                <a16:creationId xmlns:a16="http://schemas.microsoft.com/office/drawing/2014/main" id="{E56ACABE-0E9C-E709-BE02-915C02D2A15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6579" y="3326606"/>
            <a:ext cx="0" cy="136326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84" name="Line 62">
            <a:extLst>
              <a:ext uri="{FF2B5EF4-FFF2-40B4-BE49-F238E27FC236}">
                <a16:creationId xmlns:a16="http://schemas.microsoft.com/office/drawing/2014/main" id="{AD9598C2-6547-3B2A-F59F-98F3BB519CE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9694" y="3326606"/>
            <a:ext cx="0" cy="136326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85" name="Line 63">
            <a:extLst>
              <a:ext uri="{FF2B5EF4-FFF2-40B4-BE49-F238E27FC236}">
                <a16:creationId xmlns:a16="http://schemas.microsoft.com/office/drawing/2014/main" id="{B23592CB-8A60-79F9-C4F9-951C5C51F4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4373" y="4179094"/>
            <a:ext cx="321469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86" name="Line 64">
            <a:extLst>
              <a:ext uri="{FF2B5EF4-FFF2-40B4-BE49-F238E27FC236}">
                <a16:creationId xmlns:a16="http://schemas.microsoft.com/office/drawing/2014/main" id="{23644FCA-00B0-974F-2FA4-C535717E76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5844" y="1793082"/>
            <a:ext cx="0" cy="34171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87" name="Line 65">
            <a:extLst>
              <a:ext uri="{FF2B5EF4-FFF2-40B4-BE49-F238E27FC236}">
                <a16:creationId xmlns:a16="http://schemas.microsoft.com/office/drawing/2014/main" id="{ADA3EB56-865C-7DE8-C7AC-4673435FE0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1713" y="3326606"/>
            <a:ext cx="1769269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88" name="Line 66">
            <a:extLst>
              <a:ext uri="{FF2B5EF4-FFF2-40B4-BE49-F238E27FC236}">
                <a16:creationId xmlns:a16="http://schemas.microsoft.com/office/drawing/2014/main" id="{0509E737-1928-B545-EB5F-26601900A5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4372" y="3326606"/>
            <a:ext cx="0" cy="136326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89" name="Line 67">
            <a:extLst>
              <a:ext uri="{FF2B5EF4-FFF2-40B4-BE49-F238E27FC236}">
                <a16:creationId xmlns:a16="http://schemas.microsoft.com/office/drawing/2014/main" id="{6590EF2C-1647-800A-AF10-A7D55B3D154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1713" y="3326606"/>
            <a:ext cx="0" cy="136326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90" name="Line 68">
            <a:extLst>
              <a:ext uri="{FF2B5EF4-FFF2-40B4-BE49-F238E27FC236}">
                <a16:creationId xmlns:a16="http://schemas.microsoft.com/office/drawing/2014/main" id="{F2126813-99D6-7917-9A7E-85C741504A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1713" y="4689872"/>
            <a:ext cx="1769269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91" name="Line 69">
            <a:extLst>
              <a:ext uri="{FF2B5EF4-FFF2-40B4-BE49-F238E27FC236}">
                <a16:creationId xmlns:a16="http://schemas.microsoft.com/office/drawing/2014/main" id="{EDE02568-8DEA-E7DD-4308-41E2B4B8C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5841" y="3326606"/>
            <a:ext cx="0" cy="136326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92" name="Line 70">
            <a:extLst>
              <a:ext uri="{FF2B5EF4-FFF2-40B4-BE49-F238E27FC236}">
                <a16:creationId xmlns:a16="http://schemas.microsoft.com/office/drawing/2014/main" id="{0A34D727-25C2-2E63-7747-4E5D1229F9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5842" y="3496866"/>
            <a:ext cx="112514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93" name="Line 71">
            <a:extLst>
              <a:ext uri="{FF2B5EF4-FFF2-40B4-BE49-F238E27FC236}">
                <a16:creationId xmlns:a16="http://schemas.microsoft.com/office/drawing/2014/main" id="{060D3E6E-DB14-AD2A-4383-70C78F4D97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5842" y="3667125"/>
            <a:ext cx="112514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94" name="Line 72">
            <a:extLst>
              <a:ext uri="{FF2B5EF4-FFF2-40B4-BE49-F238E27FC236}">
                <a16:creationId xmlns:a16="http://schemas.microsoft.com/office/drawing/2014/main" id="{F8AE2975-3AC7-3158-822C-F679896E49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5842" y="3838575"/>
            <a:ext cx="112514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95" name="Line 73">
            <a:extLst>
              <a:ext uri="{FF2B5EF4-FFF2-40B4-BE49-F238E27FC236}">
                <a16:creationId xmlns:a16="http://schemas.microsoft.com/office/drawing/2014/main" id="{C5E3A858-37B5-A346-3DC8-5A80AF6B3C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5842" y="4008835"/>
            <a:ext cx="112514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96" name="Line 74">
            <a:extLst>
              <a:ext uri="{FF2B5EF4-FFF2-40B4-BE49-F238E27FC236}">
                <a16:creationId xmlns:a16="http://schemas.microsoft.com/office/drawing/2014/main" id="{5B0419B3-A2B8-4BCB-6C76-B4007105ED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5842" y="4179094"/>
            <a:ext cx="112514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97" name="Line 75">
            <a:extLst>
              <a:ext uri="{FF2B5EF4-FFF2-40B4-BE49-F238E27FC236}">
                <a16:creationId xmlns:a16="http://schemas.microsoft.com/office/drawing/2014/main" id="{71F9076F-50AF-9A68-1BCE-3D521448D33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5842" y="4349354"/>
            <a:ext cx="112514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98" name="Line 76">
            <a:extLst>
              <a:ext uri="{FF2B5EF4-FFF2-40B4-BE49-F238E27FC236}">
                <a16:creationId xmlns:a16="http://schemas.microsoft.com/office/drawing/2014/main" id="{820206DA-414B-C438-A325-01A85E5F70F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5842" y="4519613"/>
            <a:ext cx="112514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399" name="Line 77">
            <a:extLst>
              <a:ext uri="{FF2B5EF4-FFF2-40B4-BE49-F238E27FC236}">
                <a16:creationId xmlns:a16="http://schemas.microsoft.com/office/drawing/2014/main" id="{EE3811D7-8F11-DC08-684C-78A13B8F841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2172" y="3326606"/>
            <a:ext cx="0" cy="136326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00" name="Line 78">
            <a:extLst>
              <a:ext uri="{FF2B5EF4-FFF2-40B4-BE49-F238E27FC236}">
                <a16:creationId xmlns:a16="http://schemas.microsoft.com/office/drawing/2014/main" id="{84EE9C05-4315-C99E-B219-06B4F4668C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2172" y="4689872"/>
            <a:ext cx="128468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01" name="Line 79">
            <a:extLst>
              <a:ext uri="{FF2B5EF4-FFF2-40B4-BE49-F238E27FC236}">
                <a16:creationId xmlns:a16="http://schemas.microsoft.com/office/drawing/2014/main" id="{29BFA765-4589-92A2-4EF1-6279C94194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9238" y="3326606"/>
            <a:ext cx="0" cy="136326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02" name="Line 80">
            <a:extLst>
              <a:ext uri="{FF2B5EF4-FFF2-40B4-BE49-F238E27FC236}">
                <a16:creationId xmlns:a16="http://schemas.microsoft.com/office/drawing/2014/main" id="{F0C6CBBD-EB2D-21BC-312D-7937E504F6B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1716" y="2134792"/>
            <a:ext cx="0" cy="119181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03" name="Line 81">
            <a:extLst>
              <a:ext uri="{FF2B5EF4-FFF2-40B4-BE49-F238E27FC236}">
                <a16:creationId xmlns:a16="http://schemas.microsoft.com/office/drawing/2014/main" id="{1C1435C5-26EA-E2A4-AF0A-E857A7F647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2450" y="2134791"/>
            <a:ext cx="0" cy="118824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04" name="Line 82">
            <a:extLst>
              <a:ext uri="{FF2B5EF4-FFF2-40B4-BE49-F238E27FC236}">
                <a16:creationId xmlns:a16="http://schemas.microsoft.com/office/drawing/2014/main" id="{38E77DAC-090C-8E66-C44D-CE9AC84743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4375" y="2134791"/>
            <a:ext cx="0" cy="118824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05" name="Line 83">
            <a:extLst>
              <a:ext uri="{FF2B5EF4-FFF2-40B4-BE49-F238E27FC236}">
                <a16:creationId xmlns:a16="http://schemas.microsoft.com/office/drawing/2014/main" id="{B4295037-C6D3-975A-751D-A3598F21B1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5110" y="2134792"/>
            <a:ext cx="0" cy="119181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06" name="Line 84">
            <a:extLst>
              <a:ext uri="{FF2B5EF4-FFF2-40B4-BE49-F238E27FC236}">
                <a16:creationId xmlns:a16="http://schemas.microsoft.com/office/drawing/2014/main" id="{8007056A-74D6-B3B6-D822-D340BABB6CA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5844" y="2134792"/>
            <a:ext cx="0" cy="119181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07" name="Line 85">
            <a:extLst>
              <a:ext uri="{FF2B5EF4-FFF2-40B4-BE49-F238E27FC236}">
                <a16:creationId xmlns:a16="http://schemas.microsoft.com/office/drawing/2014/main" id="{A495FC08-214E-3910-C05D-42180327A4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6579" y="2134792"/>
            <a:ext cx="0" cy="119181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08" name="Line 86">
            <a:extLst>
              <a:ext uri="{FF2B5EF4-FFF2-40B4-BE49-F238E27FC236}">
                <a16:creationId xmlns:a16="http://schemas.microsoft.com/office/drawing/2014/main" id="{3B006174-FDE2-F0BF-B2AB-9717F8E3C6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7313" y="2134791"/>
            <a:ext cx="0" cy="1187053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09" name="Line 87">
            <a:extLst>
              <a:ext uri="{FF2B5EF4-FFF2-40B4-BE49-F238E27FC236}">
                <a16:creationId xmlns:a16="http://schemas.microsoft.com/office/drawing/2014/main" id="{56D23EB0-ACC3-0C2D-E099-99E5B1C987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2172" y="2134791"/>
            <a:ext cx="128468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10" name="Line 88">
            <a:extLst>
              <a:ext uri="{FF2B5EF4-FFF2-40B4-BE49-F238E27FC236}">
                <a16:creationId xmlns:a16="http://schemas.microsoft.com/office/drawing/2014/main" id="{3C078C84-193C-1161-F799-2CBDFDE885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2172" y="3326606"/>
            <a:ext cx="128468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11" name="Line 89">
            <a:extLst>
              <a:ext uri="{FF2B5EF4-FFF2-40B4-BE49-F238E27FC236}">
                <a16:creationId xmlns:a16="http://schemas.microsoft.com/office/drawing/2014/main" id="{67419DBA-6B10-F015-421E-385715A63A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42172" y="2139554"/>
            <a:ext cx="0" cy="1187053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12" name="Line 90">
            <a:extLst>
              <a:ext uri="{FF2B5EF4-FFF2-40B4-BE49-F238E27FC236}">
                <a16:creationId xmlns:a16="http://schemas.microsoft.com/office/drawing/2014/main" id="{88E1442D-6088-6A7C-8AF6-3FDF77835A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9238" y="2134792"/>
            <a:ext cx="0" cy="119181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13" name="Rectangle 91">
            <a:extLst>
              <a:ext uri="{FF2B5EF4-FFF2-40B4-BE49-F238E27FC236}">
                <a16:creationId xmlns:a16="http://schemas.microsoft.com/office/drawing/2014/main" id="{54853C70-2F9E-1BB0-781B-9E08427B64C1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820466" y="3808377"/>
            <a:ext cx="1259681" cy="365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Arial" panose="020B0604020202020204" pitchFamily="34" charset="0"/>
              </a:rPr>
              <a:t>Customer Requirements</a:t>
            </a:r>
          </a:p>
        </p:txBody>
      </p:sp>
      <p:sp>
        <p:nvSpPr>
          <p:cNvPr id="58414" name="Line 92">
            <a:extLst>
              <a:ext uri="{FF2B5EF4-FFF2-40B4-BE49-F238E27FC236}">
                <a16:creationId xmlns:a16="http://schemas.microsoft.com/office/drawing/2014/main" id="{42F72065-90D5-2911-BA36-55C1BBA8D6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42172" y="1793082"/>
            <a:ext cx="0" cy="34171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15" name="Line 93">
            <a:extLst>
              <a:ext uri="{FF2B5EF4-FFF2-40B4-BE49-F238E27FC236}">
                <a16:creationId xmlns:a16="http://schemas.microsoft.com/office/drawing/2014/main" id="{E82F5998-E2B5-5AE3-7129-47D88297F49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9238" y="1793082"/>
            <a:ext cx="0" cy="34171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16" name="Line 94">
            <a:extLst>
              <a:ext uri="{FF2B5EF4-FFF2-40B4-BE49-F238E27FC236}">
                <a16:creationId xmlns:a16="http://schemas.microsoft.com/office/drawing/2014/main" id="{51104370-38F0-93C0-9D2A-FEFC0FCAC1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2172" y="1793081"/>
            <a:ext cx="128468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17" name="Line 95">
            <a:extLst>
              <a:ext uri="{FF2B5EF4-FFF2-40B4-BE49-F238E27FC236}">
                <a16:creationId xmlns:a16="http://schemas.microsoft.com/office/drawing/2014/main" id="{1E31C38E-69B9-D9FB-499E-75117CF1D3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42172" y="1452563"/>
            <a:ext cx="0" cy="340519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18" name="Rectangle 96">
            <a:extLst>
              <a:ext uri="{FF2B5EF4-FFF2-40B4-BE49-F238E27FC236}">
                <a16:creationId xmlns:a16="http://schemas.microsoft.com/office/drawing/2014/main" id="{B31A69A6-19D2-C7EC-5D80-816D7AFA1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3610" y="1431132"/>
            <a:ext cx="1143000" cy="38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Arial" panose="020B0604020202020204" pitchFamily="34" charset="0"/>
              </a:rPr>
              <a:t>Technical Descriptors</a:t>
            </a:r>
          </a:p>
        </p:txBody>
      </p:sp>
      <p:sp>
        <p:nvSpPr>
          <p:cNvPr id="58419" name="Line 97">
            <a:extLst>
              <a:ext uri="{FF2B5EF4-FFF2-40B4-BE49-F238E27FC236}">
                <a16:creationId xmlns:a16="http://schemas.microsoft.com/office/drawing/2014/main" id="{0898F9CE-28DC-0412-178A-843576C1B9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44554" y="771525"/>
            <a:ext cx="640556" cy="681038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20" name="Line 98">
            <a:extLst>
              <a:ext uri="{FF2B5EF4-FFF2-40B4-BE49-F238E27FC236}">
                <a16:creationId xmlns:a16="http://schemas.microsoft.com/office/drawing/2014/main" id="{6490340A-8FA9-2D0E-A0DC-2DD9EF9306A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24326" y="1368029"/>
            <a:ext cx="79772" cy="8453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21" name="Line 99">
            <a:extLst>
              <a:ext uri="{FF2B5EF4-FFF2-40B4-BE49-F238E27FC236}">
                <a16:creationId xmlns:a16="http://schemas.microsoft.com/office/drawing/2014/main" id="{A3ECB506-8293-CDC3-31AC-DFB1BEB03FA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04097" y="1282304"/>
            <a:ext cx="161925" cy="170259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22" name="Line 100">
            <a:extLst>
              <a:ext uri="{FF2B5EF4-FFF2-40B4-BE49-F238E27FC236}">
                <a16:creationId xmlns:a16="http://schemas.microsoft.com/office/drawing/2014/main" id="{5E6BEC55-0A02-7797-9D2E-3698B447BA9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83869" y="1197769"/>
            <a:ext cx="242888" cy="25479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23" name="Line 101">
            <a:extLst>
              <a:ext uri="{FF2B5EF4-FFF2-40B4-BE49-F238E27FC236}">
                <a16:creationId xmlns:a16="http://schemas.microsoft.com/office/drawing/2014/main" id="{3E85BA43-D7CB-D0F6-B492-716609FFB3D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66023" y="1112044"/>
            <a:ext cx="320278" cy="340519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24" name="Line 102">
            <a:extLst>
              <a:ext uri="{FF2B5EF4-FFF2-40B4-BE49-F238E27FC236}">
                <a16:creationId xmlns:a16="http://schemas.microsoft.com/office/drawing/2014/main" id="{37D0B26E-5B1D-5302-15A5-FC6B2C50B50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46985" y="1026319"/>
            <a:ext cx="402431" cy="42624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25" name="Line 103">
            <a:extLst>
              <a:ext uri="{FF2B5EF4-FFF2-40B4-BE49-F238E27FC236}">
                <a16:creationId xmlns:a16="http://schemas.microsoft.com/office/drawing/2014/main" id="{CE54316B-C0BB-BB70-D15B-B4859E5D5F8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26756" y="941785"/>
            <a:ext cx="482204" cy="510778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26" name="Line 104">
            <a:extLst>
              <a:ext uri="{FF2B5EF4-FFF2-40B4-BE49-F238E27FC236}">
                <a16:creationId xmlns:a16="http://schemas.microsoft.com/office/drawing/2014/main" id="{5FAA12C0-4D3A-2A09-D1A8-AA1F459306F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06529" y="856060"/>
            <a:ext cx="564356" cy="596503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27" name="Line 105">
            <a:extLst>
              <a:ext uri="{FF2B5EF4-FFF2-40B4-BE49-F238E27FC236}">
                <a16:creationId xmlns:a16="http://schemas.microsoft.com/office/drawing/2014/main" id="{9B61C2DD-36ED-96E7-F3C1-3E651C0B65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14650" y="2134792"/>
            <a:ext cx="0" cy="119181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28" name="Line 106">
            <a:extLst>
              <a:ext uri="{FF2B5EF4-FFF2-40B4-BE49-F238E27FC236}">
                <a16:creationId xmlns:a16="http://schemas.microsoft.com/office/drawing/2014/main" id="{300DB91C-BE02-3EAD-593D-9A03B11829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1991" y="1793081"/>
            <a:ext cx="0" cy="153352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29" name="Line 107">
            <a:extLst>
              <a:ext uri="{FF2B5EF4-FFF2-40B4-BE49-F238E27FC236}">
                <a16:creationId xmlns:a16="http://schemas.microsoft.com/office/drawing/2014/main" id="{C7F740C1-D8DA-1792-032D-D3798CBA32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1992" y="1793081"/>
            <a:ext cx="144899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30" name="Line 108">
            <a:extLst>
              <a:ext uri="{FF2B5EF4-FFF2-40B4-BE49-F238E27FC236}">
                <a16:creationId xmlns:a16="http://schemas.microsoft.com/office/drawing/2014/main" id="{6344C252-AEA6-90E7-14A9-C7E977DB16D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4651" y="2134791"/>
            <a:ext cx="1126331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31" name="Line 109">
            <a:extLst>
              <a:ext uri="{FF2B5EF4-FFF2-40B4-BE49-F238E27FC236}">
                <a16:creationId xmlns:a16="http://schemas.microsoft.com/office/drawing/2014/main" id="{C4DA921F-B523-269E-7524-B8656566357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1992" y="1793081"/>
            <a:ext cx="1448990" cy="153352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32" name="Rectangle 110">
            <a:extLst>
              <a:ext uri="{FF2B5EF4-FFF2-40B4-BE49-F238E27FC236}">
                <a16:creationId xmlns:a16="http://schemas.microsoft.com/office/drawing/2014/main" id="{85DAB5EB-DE57-8CA7-C024-2417A3C72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6234" y="1870473"/>
            <a:ext cx="710131" cy="254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Arial" panose="020B0604020202020204" pitchFamily="34" charset="0"/>
              </a:rPr>
              <a:t>Primary</a:t>
            </a:r>
          </a:p>
        </p:txBody>
      </p:sp>
      <p:sp>
        <p:nvSpPr>
          <p:cNvPr id="58433" name="Rectangle 111">
            <a:extLst>
              <a:ext uri="{FF2B5EF4-FFF2-40B4-BE49-F238E27FC236}">
                <a16:creationId xmlns:a16="http://schemas.microsoft.com/office/drawing/2014/main" id="{630DE3BA-07A8-2782-D3FB-56984F889359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397660" y="2853532"/>
            <a:ext cx="710131" cy="254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Arial" panose="020B0604020202020204" pitchFamily="34" charset="0"/>
              </a:rPr>
              <a:t>Primary</a:t>
            </a:r>
          </a:p>
        </p:txBody>
      </p:sp>
      <p:sp>
        <p:nvSpPr>
          <p:cNvPr id="58434" name="Rectangle 112">
            <a:extLst>
              <a:ext uri="{FF2B5EF4-FFF2-40B4-BE49-F238E27FC236}">
                <a16:creationId xmlns:a16="http://schemas.microsoft.com/office/drawing/2014/main" id="{29504330-616B-6B47-523B-19A578B4350C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623633" y="2758282"/>
            <a:ext cx="924933" cy="254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Arial" panose="020B0604020202020204" pitchFamily="34" charset="0"/>
              </a:rPr>
              <a:t>Secondary</a:t>
            </a:r>
          </a:p>
        </p:txBody>
      </p:sp>
      <p:sp>
        <p:nvSpPr>
          <p:cNvPr id="58435" name="Rectangle 113">
            <a:extLst>
              <a:ext uri="{FF2B5EF4-FFF2-40B4-BE49-F238E27FC236}">
                <a16:creationId xmlns:a16="http://schemas.microsoft.com/office/drawing/2014/main" id="{C75ABB13-74D9-F7EE-109C-C0A9B715D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92" y="2182416"/>
            <a:ext cx="924933" cy="254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Arial" panose="020B0604020202020204" pitchFamily="34" charset="0"/>
              </a:rPr>
              <a:t>Secondary</a:t>
            </a:r>
          </a:p>
        </p:txBody>
      </p:sp>
      <p:sp>
        <p:nvSpPr>
          <p:cNvPr id="58436" name="Line 114">
            <a:extLst>
              <a:ext uri="{FF2B5EF4-FFF2-40B4-BE49-F238E27FC236}">
                <a16:creationId xmlns:a16="http://schemas.microsoft.com/office/drawing/2014/main" id="{3DCA313F-29C3-DC46-529E-4A298053C29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2450" y="3326606"/>
            <a:ext cx="0" cy="136326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37" name="Line 115">
            <a:extLst>
              <a:ext uri="{FF2B5EF4-FFF2-40B4-BE49-F238E27FC236}">
                <a16:creationId xmlns:a16="http://schemas.microsoft.com/office/drawing/2014/main" id="{BFBBFE2B-9FAB-A513-2E3D-140E39160D4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9238" y="1452563"/>
            <a:ext cx="0" cy="340519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38" name="Line 116">
            <a:extLst>
              <a:ext uri="{FF2B5EF4-FFF2-40B4-BE49-F238E27FC236}">
                <a16:creationId xmlns:a16="http://schemas.microsoft.com/office/drawing/2014/main" id="{108D9835-F334-D4AA-4EE8-0103E8BE9FF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85110" y="771525"/>
            <a:ext cx="640556" cy="681038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39" name="Line 117">
            <a:extLst>
              <a:ext uri="{FF2B5EF4-FFF2-40B4-BE49-F238E27FC236}">
                <a16:creationId xmlns:a16="http://schemas.microsoft.com/office/drawing/2014/main" id="{94DACB78-8698-0E68-D2C3-0C535DAE6E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66123" y="1368029"/>
            <a:ext cx="78581" cy="8453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40" name="Line 118">
            <a:extLst>
              <a:ext uri="{FF2B5EF4-FFF2-40B4-BE49-F238E27FC236}">
                <a16:creationId xmlns:a16="http://schemas.microsoft.com/office/drawing/2014/main" id="{73790177-E98A-92E4-1830-098DC5ADB7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03006" y="1282304"/>
            <a:ext cx="163116" cy="170259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41" name="Line 119">
            <a:extLst>
              <a:ext uri="{FF2B5EF4-FFF2-40B4-BE49-F238E27FC236}">
                <a16:creationId xmlns:a16="http://schemas.microsoft.com/office/drawing/2014/main" id="{94F74C71-C58D-7EAD-B5D9-8FCAD46E22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2272" y="1197769"/>
            <a:ext cx="242888" cy="25479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42" name="Line 120">
            <a:extLst>
              <a:ext uri="{FF2B5EF4-FFF2-40B4-BE49-F238E27FC236}">
                <a16:creationId xmlns:a16="http://schemas.microsoft.com/office/drawing/2014/main" id="{3AB70B47-C549-7C50-3390-6D26B7B2A6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2729" y="1112044"/>
            <a:ext cx="320278" cy="340519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43" name="Line 121">
            <a:extLst>
              <a:ext uri="{FF2B5EF4-FFF2-40B4-BE49-F238E27FC236}">
                <a16:creationId xmlns:a16="http://schemas.microsoft.com/office/drawing/2014/main" id="{4F2ABAB6-8E23-6F2F-678D-CDAC1BF5D9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20804" y="1026319"/>
            <a:ext cx="402431" cy="42624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44" name="Line 122">
            <a:extLst>
              <a:ext uri="{FF2B5EF4-FFF2-40B4-BE49-F238E27FC236}">
                <a16:creationId xmlns:a16="http://schemas.microsoft.com/office/drawing/2014/main" id="{B9080440-18FF-0C97-EC4A-FF80CDAE69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61260" y="941785"/>
            <a:ext cx="481013" cy="510778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45" name="Line 123">
            <a:extLst>
              <a:ext uri="{FF2B5EF4-FFF2-40B4-BE49-F238E27FC236}">
                <a16:creationId xmlns:a16="http://schemas.microsoft.com/office/drawing/2014/main" id="{B34005BA-0D26-2C18-836D-92CCD79AE9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8144" y="856060"/>
            <a:ext cx="565547" cy="596503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58446" name="Line 124">
            <a:extLst>
              <a:ext uri="{FF2B5EF4-FFF2-40B4-BE49-F238E27FC236}">
                <a16:creationId xmlns:a16="http://schemas.microsoft.com/office/drawing/2014/main" id="{FB5A80F1-BA29-7D7B-01A8-022E6738F1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42172" y="1456135"/>
            <a:ext cx="128468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grpSp>
        <p:nvGrpSpPr>
          <p:cNvPr id="58447" name="Group 145">
            <a:extLst>
              <a:ext uri="{FF2B5EF4-FFF2-40B4-BE49-F238E27FC236}">
                <a16:creationId xmlns:a16="http://schemas.microsoft.com/office/drawing/2014/main" id="{3E7A078B-AD91-A39E-BB30-80EED648DE4D}"/>
              </a:ext>
            </a:extLst>
          </p:cNvPr>
          <p:cNvGrpSpPr>
            <a:grpSpLocks/>
          </p:cNvGrpSpPr>
          <p:nvPr/>
        </p:nvGrpSpPr>
        <p:grpSpPr bwMode="auto">
          <a:xfrm>
            <a:off x="4077891" y="3369469"/>
            <a:ext cx="1209675" cy="1104900"/>
            <a:chOff x="2465" y="2830"/>
            <a:chExt cx="1016" cy="928"/>
          </a:xfrm>
        </p:grpSpPr>
        <p:sp>
          <p:nvSpPr>
            <p:cNvPr id="58484" name="Oval 125">
              <a:extLst>
                <a:ext uri="{FF2B5EF4-FFF2-40B4-BE49-F238E27FC236}">
                  <a16:creationId xmlns:a16="http://schemas.microsoft.com/office/drawing/2014/main" id="{84F84820-6479-D454-322A-D02ACE889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0" y="3263"/>
              <a:ext cx="60" cy="64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58485" name="Oval 126">
              <a:extLst>
                <a:ext uri="{FF2B5EF4-FFF2-40B4-BE49-F238E27FC236}">
                  <a16:creationId xmlns:a16="http://schemas.microsoft.com/office/drawing/2014/main" id="{5D09E64A-6EEA-A74F-1B52-4B43CB7280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7" y="3281"/>
              <a:ext cx="26" cy="29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58486" name="Oval 127">
              <a:extLst>
                <a:ext uri="{FF2B5EF4-FFF2-40B4-BE49-F238E27FC236}">
                  <a16:creationId xmlns:a16="http://schemas.microsoft.com/office/drawing/2014/main" id="{DC80D75F-D1FB-35EB-2B04-24BC85A86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0" y="2979"/>
              <a:ext cx="59" cy="63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58487" name="AutoShape 128">
              <a:extLst>
                <a:ext uri="{FF2B5EF4-FFF2-40B4-BE49-F238E27FC236}">
                  <a16:creationId xmlns:a16="http://schemas.microsoft.com/office/drawing/2014/main" id="{11F5525A-1DA9-BA9A-963F-CDB8100D4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1" y="2973"/>
              <a:ext cx="59" cy="63"/>
            </a:xfrm>
            <a:prstGeom prst="triangle">
              <a:avLst>
                <a:gd name="adj" fmla="val 49995"/>
              </a:avLst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58488" name="Oval 129">
              <a:extLst>
                <a:ext uri="{FF2B5EF4-FFF2-40B4-BE49-F238E27FC236}">
                  <a16:creationId xmlns:a16="http://schemas.microsoft.com/office/drawing/2014/main" id="{3888818E-106E-D792-0661-DA0B78993A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6" y="2834"/>
              <a:ext cx="60" cy="64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58489" name="Oval 130">
              <a:extLst>
                <a:ext uri="{FF2B5EF4-FFF2-40B4-BE49-F238E27FC236}">
                  <a16:creationId xmlns:a16="http://schemas.microsoft.com/office/drawing/2014/main" id="{37E8D04A-BEF8-E152-2B11-C4E587618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3" y="2852"/>
              <a:ext cx="26" cy="29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58490" name="Oval 131">
              <a:extLst>
                <a:ext uri="{FF2B5EF4-FFF2-40B4-BE49-F238E27FC236}">
                  <a16:creationId xmlns:a16="http://schemas.microsoft.com/office/drawing/2014/main" id="{CAA2912E-894D-9F12-F79A-46F873F91E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1" y="3263"/>
              <a:ext cx="60" cy="64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58491" name="Oval 132">
              <a:extLst>
                <a:ext uri="{FF2B5EF4-FFF2-40B4-BE49-F238E27FC236}">
                  <a16:creationId xmlns:a16="http://schemas.microsoft.com/office/drawing/2014/main" id="{D04D90B7-8837-8DD8-ED11-13176F5B72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8" y="3281"/>
              <a:ext cx="26" cy="29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58492" name="Oval 133">
              <a:extLst>
                <a:ext uri="{FF2B5EF4-FFF2-40B4-BE49-F238E27FC236}">
                  <a16:creationId xmlns:a16="http://schemas.microsoft.com/office/drawing/2014/main" id="{1665AE28-D92C-E519-41DD-138E11599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" y="3406"/>
              <a:ext cx="59" cy="64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58493" name="Oval 134">
              <a:extLst>
                <a:ext uri="{FF2B5EF4-FFF2-40B4-BE49-F238E27FC236}">
                  <a16:creationId xmlns:a16="http://schemas.microsoft.com/office/drawing/2014/main" id="{57A57D8F-966A-301D-60E1-642D8325B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8" y="3424"/>
              <a:ext cx="25" cy="3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58494" name="Oval 135">
              <a:extLst>
                <a:ext uri="{FF2B5EF4-FFF2-40B4-BE49-F238E27FC236}">
                  <a16:creationId xmlns:a16="http://schemas.microsoft.com/office/drawing/2014/main" id="{BC537AAD-13EA-9137-CB51-E6CC24FCB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" y="3693"/>
              <a:ext cx="59" cy="63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58495" name="Oval 136">
              <a:extLst>
                <a:ext uri="{FF2B5EF4-FFF2-40B4-BE49-F238E27FC236}">
                  <a16:creationId xmlns:a16="http://schemas.microsoft.com/office/drawing/2014/main" id="{2AC4FD62-969D-C60C-D303-080229177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4" y="3710"/>
              <a:ext cx="25" cy="3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58496" name="Oval 137">
              <a:extLst>
                <a:ext uri="{FF2B5EF4-FFF2-40B4-BE49-F238E27FC236}">
                  <a16:creationId xmlns:a16="http://schemas.microsoft.com/office/drawing/2014/main" id="{2DA0DF24-B28C-D134-B130-CE0B19A7B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265"/>
              <a:ext cx="60" cy="63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58497" name="Oval 138">
              <a:extLst>
                <a:ext uri="{FF2B5EF4-FFF2-40B4-BE49-F238E27FC236}">
                  <a16:creationId xmlns:a16="http://schemas.microsoft.com/office/drawing/2014/main" id="{711081C4-D592-2F73-162C-8885C12157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1" y="3408"/>
              <a:ext cx="60" cy="63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58498" name="Oval 139">
              <a:extLst>
                <a:ext uri="{FF2B5EF4-FFF2-40B4-BE49-F238E27FC236}">
                  <a16:creationId xmlns:a16="http://schemas.microsoft.com/office/drawing/2014/main" id="{F37BBB3C-6656-E19E-CBBE-AE7A14108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5" y="3694"/>
              <a:ext cx="60" cy="64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58499" name="Oval 140">
              <a:extLst>
                <a:ext uri="{FF2B5EF4-FFF2-40B4-BE49-F238E27FC236}">
                  <a16:creationId xmlns:a16="http://schemas.microsoft.com/office/drawing/2014/main" id="{A54BEB32-5692-8214-A8D8-D59B2E571B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6" y="3694"/>
              <a:ext cx="59" cy="64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58500" name="AutoShape 141">
              <a:extLst>
                <a:ext uri="{FF2B5EF4-FFF2-40B4-BE49-F238E27FC236}">
                  <a16:creationId xmlns:a16="http://schemas.microsoft.com/office/drawing/2014/main" id="{ECA8BE9E-498E-10AE-2BAB-60A68B8C8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5" y="2830"/>
              <a:ext cx="59" cy="63"/>
            </a:xfrm>
            <a:prstGeom prst="triangle">
              <a:avLst>
                <a:gd name="adj" fmla="val 49995"/>
              </a:avLst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58501" name="AutoShape 142">
              <a:extLst>
                <a:ext uri="{FF2B5EF4-FFF2-40B4-BE49-F238E27FC236}">
                  <a16:creationId xmlns:a16="http://schemas.microsoft.com/office/drawing/2014/main" id="{93D5A135-9F79-9838-69D8-CF140F704E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1" y="3259"/>
              <a:ext cx="60" cy="63"/>
            </a:xfrm>
            <a:prstGeom prst="triangle">
              <a:avLst>
                <a:gd name="adj" fmla="val 49995"/>
              </a:avLst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58502" name="AutoShape 143">
              <a:extLst>
                <a:ext uri="{FF2B5EF4-FFF2-40B4-BE49-F238E27FC236}">
                  <a16:creationId xmlns:a16="http://schemas.microsoft.com/office/drawing/2014/main" id="{A8FC0D66-5017-E1B2-C939-AF0CBFF37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" y="3402"/>
              <a:ext cx="60" cy="63"/>
            </a:xfrm>
            <a:prstGeom prst="triangle">
              <a:avLst>
                <a:gd name="adj" fmla="val 49995"/>
              </a:avLst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58503" name="AutoShape 144">
              <a:extLst>
                <a:ext uri="{FF2B5EF4-FFF2-40B4-BE49-F238E27FC236}">
                  <a16:creationId xmlns:a16="http://schemas.microsoft.com/office/drawing/2014/main" id="{7A1A4DEB-09D0-1649-5100-EF49B2036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0" y="3545"/>
              <a:ext cx="60" cy="64"/>
            </a:xfrm>
            <a:prstGeom prst="triangle">
              <a:avLst>
                <a:gd name="adj" fmla="val 49995"/>
              </a:avLst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</p:grpSp>
      <p:grpSp>
        <p:nvGrpSpPr>
          <p:cNvPr id="58448" name="Group 181">
            <a:extLst>
              <a:ext uri="{FF2B5EF4-FFF2-40B4-BE49-F238E27FC236}">
                <a16:creationId xmlns:a16="http://schemas.microsoft.com/office/drawing/2014/main" id="{771098D6-C740-FBDD-7D10-9CE9D678CD0A}"/>
              </a:ext>
            </a:extLst>
          </p:cNvPr>
          <p:cNvGrpSpPr>
            <a:grpSpLocks/>
          </p:cNvGrpSpPr>
          <p:nvPr/>
        </p:nvGrpSpPr>
        <p:grpSpPr bwMode="auto">
          <a:xfrm>
            <a:off x="5219702" y="948929"/>
            <a:ext cx="2746772" cy="3619500"/>
            <a:chOff x="3424" y="797"/>
            <a:chExt cx="2307" cy="3040"/>
          </a:xfrm>
        </p:grpSpPr>
        <p:sp>
          <p:nvSpPr>
            <p:cNvPr id="58449" name="Rectangle 146">
              <a:extLst>
                <a:ext uri="{FF2B5EF4-FFF2-40B4-BE49-F238E27FC236}">
                  <a16:creationId xmlns:a16="http://schemas.microsoft.com/office/drawing/2014/main" id="{8FC62517-162F-D779-DDC9-6E7B3858A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2" y="2456"/>
              <a:ext cx="1765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Relationship between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Customer Requirements and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Technical Descriptors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WHATs vs. HOWs</a:t>
              </a:r>
            </a:p>
          </p:txBody>
        </p:sp>
        <p:sp>
          <p:nvSpPr>
            <p:cNvPr id="58450" name="Rectangle 147">
              <a:extLst>
                <a:ext uri="{FF2B5EF4-FFF2-40B4-BE49-F238E27FC236}">
                  <a16:creationId xmlns:a16="http://schemas.microsoft.com/office/drawing/2014/main" id="{3953CBEB-FF21-DE47-5B3C-2EC1B525D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0" y="1412"/>
              <a:ext cx="945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Strong Positive</a:t>
              </a:r>
            </a:p>
          </p:txBody>
        </p:sp>
        <p:sp>
          <p:nvSpPr>
            <p:cNvPr id="58451" name="Rectangle 148">
              <a:extLst>
                <a:ext uri="{FF2B5EF4-FFF2-40B4-BE49-F238E27FC236}">
                  <a16:creationId xmlns:a16="http://schemas.microsoft.com/office/drawing/2014/main" id="{72A4B198-66FC-3837-ADFA-02E61D920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9" y="1555"/>
              <a:ext cx="551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Positive</a:t>
              </a:r>
            </a:p>
          </p:txBody>
        </p:sp>
        <p:sp>
          <p:nvSpPr>
            <p:cNvPr id="58452" name="Rectangle 149">
              <a:extLst>
                <a:ext uri="{FF2B5EF4-FFF2-40B4-BE49-F238E27FC236}">
                  <a16:creationId xmlns:a16="http://schemas.microsoft.com/office/drawing/2014/main" id="{A0D6E9F8-243B-3EB1-4A9E-F2EFAB11C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9" y="1707"/>
              <a:ext cx="590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Negative</a:t>
              </a:r>
            </a:p>
          </p:txBody>
        </p:sp>
        <p:sp>
          <p:nvSpPr>
            <p:cNvPr id="58453" name="Oval 150">
              <a:extLst>
                <a:ext uri="{FF2B5EF4-FFF2-40B4-BE49-F238E27FC236}">
                  <a16:creationId xmlns:a16="http://schemas.microsoft.com/office/drawing/2014/main" id="{5B332CEA-1E0E-11AD-063D-59C56053F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3" y="1573"/>
              <a:ext cx="59" cy="64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grpSp>
          <p:nvGrpSpPr>
            <p:cNvPr id="58454" name="Group 153">
              <a:extLst>
                <a:ext uri="{FF2B5EF4-FFF2-40B4-BE49-F238E27FC236}">
                  <a16:creationId xmlns:a16="http://schemas.microsoft.com/office/drawing/2014/main" id="{BF996520-B782-BBF1-2C54-801D1668DA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09" y="1428"/>
              <a:ext cx="59" cy="64"/>
              <a:chOff x="4109" y="1428"/>
              <a:chExt cx="59" cy="64"/>
            </a:xfrm>
          </p:grpSpPr>
          <p:sp>
            <p:nvSpPr>
              <p:cNvPr id="58482" name="Oval 151">
                <a:extLst>
                  <a:ext uri="{FF2B5EF4-FFF2-40B4-BE49-F238E27FC236}">
                    <a16:creationId xmlns:a16="http://schemas.microsoft.com/office/drawing/2014/main" id="{417A2061-3024-269E-9CBA-C1F46E54EC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9" y="1428"/>
                <a:ext cx="59" cy="64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  <p:sp>
            <p:nvSpPr>
              <p:cNvPr id="58483" name="Oval 152">
                <a:extLst>
                  <a:ext uri="{FF2B5EF4-FFF2-40B4-BE49-F238E27FC236}">
                    <a16:creationId xmlns:a16="http://schemas.microsoft.com/office/drawing/2014/main" id="{F191E12B-6431-C441-1D0A-E2C55D456E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6" y="1446"/>
                <a:ext cx="25" cy="30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</p:grpSp>
        <p:grpSp>
          <p:nvGrpSpPr>
            <p:cNvPr id="58455" name="Group 158">
              <a:extLst>
                <a:ext uri="{FF2B5EF4-FFF2-40B4-BE49-F238E27FC236}">
                  <a16:creationId xmlns:a16="http://schemas.microsoft.com/office/drawing/2014/main" id="{8A7FF99D-5248-0D65-491F-957A77CBC3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13" y="1854"/>
              <a:ext cx="68" cy="71"/>
              <a:chOff x="4113" y="1854"/>
              <a:chExt cx="68" cy="71"/>
            </a:xfrm>
          </p:grpSpPr>
          <p:sp>
            <p:nvSpPr>
              <p:cNvPr id="58478" name="Line 154">
                <a:extLst>
                  <a:ext uri="{FF2B5EF4-FFF2-40B4-BE49-F238E27FC236}">
                    <a16:creationId xmlns:a16="http://schemas.microsoft.com/office/drawing/2014/main" id="{0A367999-9E8D-CE96-25F2-CFF7D5221B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3" y="1889"/>
                <a:ext cx="68" cy="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58479" name="Line 155">
                <a:extLst>
                  <a:ext uri="{FF2B5EF4-FFF2-40B4-BE49-F238E27FC236}">
                    <a16:creationId xmlns:a16="http://schemas.microsoft.com/office/drawing/2014/main" id="{87DAE240-908C-D45B-D848-6A814517A1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7" y="1854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58480" name="Line 156">
                <a:extLst>
                  <a:ext uri="{FF2B5EF4-FFF2-40B4-BE49-F238E27FC236}">
                    <a16:creationId xmlns:a16="http://schemas.microsoft.com/office/drawing/2014/main" id="{EE32DA6C-081E-CD36-3436-7B1F55F52C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13" y="1854"/>
                <a:ext cx="68" cy="71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58481" name="Line 157">
                <a:extLst>
                  <a:ext uri="{FF2B5EF4-FFF2-40B4-BE49-F238E27FC236}">
                    <a16:creationId xmlns:a16="http://schemas.microsoft.com/office/drawing/2014/main" id="{FBAC79AD-465D-9847-F37F-87449ADDBA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113" y="1854"/>
                <a:ext cx="68" cy="71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</p:grpSp>
        <p:grpSp>
          <p:nvGrpSpPr>
            <p:cNvPr id="58456" name="Group 161">
              <a:extLst>
                <a:ext uri="{FF2B5EF4-FFF2-40B4-BE49-F238E27FC236}">
                  <a16:creationId xmlns:a16="http://schemas.microsoft.com/office/drawing/2014/main" id="{6DDA3947-6A21-8125-CA02-8DEFAE6E0E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13" y="1711"/>
              <a:ext cx="68" cy="71"/>
              <a:chOff x="4113" y="1711"/>
              <a:chExt cx="68" cy="71"/>
            </a:xfrm>
          </p:grpSpPr>
          <p:sp>
            <p:nvSpPr>
              <p:cNvPr id="58476" name="Line 159">
                <a:extLst>
                  <a:ext uri="{FF2B5EF4-FFF2-40B4-BE49-F238E27FC236}">
                    <a16:creationId xmlns:a16="http://schemas.microsoft.com/office/drawing/2014/main" id="{35C460D9-AAA2-7DB9-7434-5C7A0758AA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13" y="1711"/>
                <a:ext cx="68" cy="71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58477" name="Line 160">
                <a:extLst>
                  <a:ext uri="{FF2B5EF4-FFF2-40B4-BE49-F238E27FC236}">
                    <a16:creationId xmlns:a16="http://schemas.microsoft.com/office/drawing/2014/main" id="{918AC485-34E8-67A6-EC84-8777D104C8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113" y="1711"/>
                <a:ext cx="68" cy="71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</p:grpSp>
        <p:sp>
          <p:nvSpPr>
            <p:cNvPr id="58457" name="Rectangle 162">
              <a:extLst>
                <a:ext uri="{FF2B5EF4-FFF2-40B4-BE49-F238E27FC236}">
                  <a16:creationId xmlns:a16="http://schemas.microsoft.com/office/drawing/2014/main" id="{8ADB1EC1-FE87-1EB1-2672-C5C8E0E14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0" y="1841"/>
              <a:ext cx="984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Strong Negative</a:t>
              </a:r>
            </a:p>
          </p:txBody>
        </p:sp>
        <p:sp>
          <p:nvSpPr>
            <p:cNvPr id="58458" name="Rectangle 163">
              <a:extLst>
                <a:ext uri="{FF2B5EF4-FFF2-40B4-BE49-F238E27FC236}">
                  <a16:creationId xmlns:a16="http://schemas.microsoft.com/office/drawing/2014/main" id="{0196F565-57B3-7B4F-AB6C-E1665AD24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" y="1412"/>
              <a:ext cx="246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+9</a:t>
              </a:r>
            </a:p>
          </p:txBody>
        </p:sp>
        <p:sp>
          <p:nvSpPr>
            <p:cNvPr id="58459" name="Rectangle 164">
              <a:extLst>
                <a:ext uri="{FF2B5EF4-FFF2-40B4-BE49-F238E27FC236}">
                  <a16:creationId xmlns:a16="http://schemas.microsoft.com/office/drawing/2014/main" id="{F15106B3-AAA6-1F38-5B45-6BAF4B944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" y="1555"/>
              <a:ext cx="246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+3</a:t>
              </a:r>
            </a:p>
          </p:txBody>
        </p:sp>
        <p:sp>
          <p:nvSpPr>
            <p:cNvPr id="58460" name="Rectangle 165">
              <a:extLst>
                <a:ext uri="{FF2B5EF4-FFF2-40B4-BE49-F238E27FC236}">
                  <a16:creationId xmlns:a16="http://schemas.microsoft.com/office/drawing/2014/main" id="{FB3ADC80-7AF0-2E7A-91C1-5B7C2E249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5" y="1698"/>
              <a:ext cx="218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-3</a:t>
              </a:r>
            </a:p>
          </p:txBody>
        </p:sp>
        <p:sp>
          <p:nvSpPr>
            <p:cNvPr id="58461" name="Rectangle 166">
              <a:extLst>
                <a:ext uri="{FF2B5EF4-FFF2-40B4-BE49-F238E27FC236}">
                  <a16:creationId xmlns:a16="http://schemas.microsoft.com/office/drawing/2014/main" id="{DB696515-0AD1-F4DD-2F04-6D0709929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5" y="1841"/>
              <a:ext cx="218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-9</a:t>
              </a:r>
            </a:p>
          </p:txBody>
        </p:sp>
        <p:sp>
          <p:nvSpPr>
            <p:cNvPr id="58462" name="Rectangle 167">
              <a:extLst>
                <a:ext uri="{FF2B5EF4-FFF2-40B4-BE49-F238E27FC236}">
                  <a16:creationId xmlns:a16="http://schemas.microsoft.com/office/drawing/2014/main" id="{9607715D-70B5-E2E1-5BF0-6CF5F5044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7" y="1348"/>
              <a:ext cx="1333" cy="693"/>
            </a:xfrm>
            <a:prstGeom prst="rect">
              <a:avLst/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58463" name="Rectangle 168">
              <a:extLst>
                <a:ext uri="{FF2B5EF4-FFF2-40B4-BE49-F238E27FC236}">
                  <a16:creationId xmlns:a16="http://schemas.microsoft.com/office/drawing/2014/main" id="{CAAB0645-4657-39E5-A032-132A6F5A5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797"/>
              <a:ext cx="2307" cy="5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Interrelationship between Technical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Descriptors (correlation matrix)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HOWs vs. HOWs</a:t>
              </a:r>
            </a:p>
          </p:txBody>
        </p:sp>
        <p:sp>
          <p:nvSpPr>
            <p:cNvPr id="58464" name="Rectangle 169">
              <a:extLst>
                <a:ext uri="{FF2B5EF4-FFF2-40B4-BE49-F238E27FC236}">
                  <a16:creationId xmlns:a16="http://schemas.microsoft.com/office/drawing/2014/main" id="{D0780E42-A58F-8130-D1C8-1594E8959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0" y="3351"/>
              <a:ext cx="481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Strong</a:t>
              </a:r>
            </a:p>
          </p:txBody>
        </p:sp>
        <p:sp>
          <p:nvSpPr>
            <p:cNvPr id="58465" name="Rectangle 170">
              <a:extLst>
                <a:ext uri="{FF2B5EF4-FFF2-40B4-BE49-F238E27FC236}">
                  <a16:creationId xmlns:a16="http://schemas.microsoft.com/office/drawing/2014/main" id="{78073577-F4B1-9215-A57B-A306CEBC9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3494"/>
              <a:ext cx="544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Medium</a:t>
              </a:r>
            </a:p>
          </p:txBody>
        </p:sp>
        <p:sp>
          <p:nvSpPr>
            <p:cNvPr id="58466" name="Rectangle 171">
              <a:extLst>
                <a:ext uri="{FF2B5EF4-FFF2-40B4-BE49-F238E27FC236}">
                  <a16:creationId xmlns:a16="http://schemas.microsoft.com/office/drawing/2014/main" id="{78579B43-4AA3-DD2D-F445-7466C5CE7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3646"/>
              <a:ext cx="413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Weak</a:t>
              </a:r>
            </a:p>
          </p:txBody>
        </p:sp>
        <p:sp>
          <p:nvSpPr>
            <p:cNvPr id="58467" name="Oval 172">
              <a:extLst>
                <a:ext uri="{FF2B5EF4-FFF2-40B4-BE49-F238E27FC236}">
                  <a16:creationId xmlns:a16="http://schemas.microsoft.com/office/drawing/2014/main" id="{2904A3A7-8F04-641E-FEAC-FB223CA6F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2" y="3512"/>
              <a:ext cx="60" cy="63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grpSp>
          <p:nvGrpSpPr>
            <p:cNvPr id="58468" name="Group 175">
              <a:extLst>
                <a:ext uri="{FF2B5EF4-FFF2-40B4-BE49-F238E27FC236}">
                  <a16:creationId xmlns:a16="http://schemas.microsoft.com/office/drawing/2014/main" id="{D68DFA56-F91A-4EEB-83F8-7226597C41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3367"/>
              <a:ext cx="60" cy="64"/>
              <a:chOff x="4368" y="3367"/>
              <a:chExt cx="60" cy="64"/>
            </a:xfrm>
          </p:grpSpPr>
          <p:sp>
            <p:nvSpPr>
              <p:cNvPr id="58474" name="Oval 173">
                <a:extLst>
                  <a:ext uri="{FF2B5EF4-FFF2-40B4-BE49-F238E27FC236}">
                    <a16:creationId xmlns:a16="http://schemas.microsoft.com/office/drawing/2014/main" id="{DB9AA8AD-8179-44CE-C650-01299ED787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3367"/>
                <a:ext cx="60" cy="64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  <p:sp>
            <p:nvSpPr>
              <p:cNvPr id="58475" name="Oval 174">
                <a:extLst>
                  <a:ext uri="{FF2B5EF4-FFF2-40B4-BE49-F238E27FC236}">
                    <a16:creationId xmlns:a16="http://schemas.microsoft.com/office/drawing/2014/main" id="{CEF25C65-8E33-C499-1038-318428BDBE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5" y="3385"/>
                <a:ext cx="26" cy="29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</p:grpSp>
        <p:sp>
          <p:nvSpPr>
            <p:cNvPr id="58469" name="Rectangle 176">
              <a:extLst>
                <a:ext uri="{FF2B5EF4-FFF2-40B4-BE49-F238E27FC236}">
                  <a16:creationId xmlns:a16="http://schemas.microsoft.com/office/drawing/2014/main" id="{D2F70216-DB28-EA6A-7235-FD03CFD44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2" y="3351"/>
              <a:ext cx="246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+9</a:t>
              </a:r>
            </a:p>
          </p:txBody>
        </p:sp>
        <p:sp>
          <p:nvSpPr>
            <p:cNvPr id="58470" name="Rectangle 177">
              <a:extLst>
                <a:ext uri="{FF2B5EF4-FFF2-40B4-BE49-F238E27FC236}">
                  <a16:creationId xmlns:a16="http://schemas.microsoft.com/office/drawing/2014/main" id="{DAAEA720-022B-AE4C-6CBD-3DF333F90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2" y="3494"/>
              <a:ext cx="246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+3</a:t>
              </a:r>
            </a:p>
          </p:txBody>
        </p:sp>
        <p:sp>
          <p:nvSpPr>
            <p:cNvPr id="58471" name="Rectangle 178">
              <a:extLst>
                <a:ext uri="{FF2B5EF4-FFF2-40B4-BE49-F238E27FC236}">
                  <a16:creationId xmlns:a16="http://schemas.microsoft.com/office/drawing/2014/main" id="{CF13AD26-6DD8-6535-EBE0-8EB156BCB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6" y="3316"/>
              <a:ext cx="803" cy="521"/>
            </a:xfrm>
            <a:prstGeom prst="rect">
              <a:avLst/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58472" name="Rectangle 179">
              <a:extLst>
                <a:ext uri="{FF2B5EF4-FFF2-40B4-BE49-F238E27FC236}">
                  <a16:creationId xmlns:a16="http://schemas.microsoft.com/office/drawing/2014/main" id="{45CCACD2-F8DD-05CB-0138-868F074EED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2" y="3646"/>
              <a:ext cx="246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+1</a:t>
              </a:r>
            </a:p>
          </p:txBody>
        </p:sp>
        <p:sp>
          <p:nvSpPr>
            <p:cNvPr id="58473" name="AutoShape 180">
              <a:extLst>
                <a:ext uri="{FF2B5EF4-FFF2-40B4-BE49-F238E27FC236}">
                  <a16:creationId xmlns:a16="http://schemas.microsoft.com/office/drawing/2014/main" id="{295D94B5-5BE0-F905-C65E-ADADA148D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5" y="3662"/>
              <a:ext cx="60" cy="64"/>
            </a:xfrm>
            <a:prstGeom prst="triangle">
              <a:avLst>
                <a:gd name="adj" fmla="val 49995"/>
              </a:avLst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</p:grp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58" name="Group 65">
            <a:extLst>
              <a:ext uri="{FF2B5EF4-FFF2-40B4-BE49-F238E27FC236}">
                <a16:creationId xmlns:a16="http://schemas.microsoft.com/office/drawing/2014/main" id="{541D3BAC-06D5-0730-E25A-20E910FACE9B}"/>
              </a:ext>
            </a:extLst>
          </p:cNvPr>
          <p:cNvGrpSpPr>
            <a:grpSpLocks/>
          </p:cNvGrpSpPr>
          <p:nvPr/>
        </p:nvGrpSpPr>
        <p:grpSpPr bwMode="auto">
          <a:xfrm>
            <a:off x="4745831" y="114300"/>
            <a:ext cx="1177529" cy="542925"/>
            <a:chOff x="3026" y="96"/>
            <a:chExt cx="989" cy="456"/>
          </a:xfrm>
        </p:grpSpPr>
        <p:sp>
          <p:nvSpPr>
            <p:cNvPr id="70878" name="Line 2">
              <a:extLst>
                <a:ext uri="{FF2B5EF4-FFF2-40B4-BE49-F238E27FC236}">
                  <a16:creationId xmlns:a16="http://schemas.microsoft.com/office/drawing/2014/main" id="{F88B0FC0-D776-98A0-1E7E-C1A000BE3B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30" y="96"/>
              <a:ext cx="491" cy="451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1350" dirty="0"/>
            </a:p>
          </p:txBody>
        </p:sp>
        <p:sp>
          <p:nvSpPr>
            <p:cNvPr id="70879" name="Line 3">
              <a:extLst>
                <a:ext uri="{FF2B5EF4-FFF2-40B4-BE49-F238E27FC236}">
                  <a16:creationId xmlns:a16="http://schemas.microsoft.com/office/drawing/2014/main" id="{C5FE5A18-CBDF-3E59-59C5-7D10D8292E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92" y="491"/>
              <a:ext cx="60" cy="56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1350" dirty="0"/>
            </a:p>
          </p:txBody>
        </p:sp>
        <p:sp>
          <p:nvSpPr>
            <p:cNvPr id="70880" name="Line 4">
              <a:extLst>
                <a:ext uri="{FF2B5EF4-FFF2-40B4-BE49-F238E27FC236}">
                  <a16:creationId xmlns:a16="http://schemas.microsoft.com/office/drawing/2014/main" id="{2FD137C1-8B63-0F3B-56B8-F82D975D50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52" y="434"/>
              <a:ext cx="125" cy="113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1350" dirty="0"/>
            </a:p>
          </p:txBody>
        </p:sp>
        <p:sp>
          <p:nvSpPr>
            <p:cNvPr id="70881" name="Line 5">
              <a:extLst>
                <a:ext uri="{FF2B5EF4-FFF2-40B4-BE49-F238E27FC236}">
                  <a16:creationId xmlns:a16="http://schemas.microsoft.com/office/drawing/2014/main" id="{8B03A0E9-0B8C-213E-CC99-9632360754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14" y="378"/>
              <a:ext cx="186" cy="169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1350" dirty="0"/>
            </a:p>
          </p:txBody>
        </p:sp>
        <p:sp>
          <p:nvSpPr>
            <p:cNvPr id="70882" name="Line 6">
              <a:extLst>
                <a:ext uri="{FF2B5EF4-FFF2-40B4-BE49-F238E27FC236}">
                  <a16:creationId xmlns:a16="http://schemas.microsoft.com/office/drawing/2014/main" id="{1F4FCBD0-3A87-F44D-0E3B-7DA7818584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77" y="322"/>
              <a:ext cx="245" cy="225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1350" dirty="0"/>
            </a:p>
          </p:txBody>
        </p:sp>
        <p:sp>
          <p:nvSpPr>
            <p:cNvPr id="70883" name="Line 7">
              <a:extLst>
                <a:ext uri="{FF2B5EF4-FFF2-40B4-BE49-F238E27FC236}">
                  <a16:creationId xmlns:a16="http://schemas.microsoft.com/office/drawing/2014/main" id="{09E7C74D-5F99-F998-9898-B1C59B73DC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8" y="265"/>
              <a:ext cx="309" cy="282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1350" dirty="0"/>
            </a:p>
          </p:txBody>
        </p:sp>
        <p:sp>
          <p:nvSpPr>
            <p:cNvPr id="70884" name="Line 8">
              <a:extLst>
                <a:ext uri="{FF2B5EF4-FFF2-40B4-BE49-F238E27FC236}">
                  <a16:creationId xmlns:a16="http://schemas.microsoft.com/office/drawing/2014/main" id="{EE1E5D5D-65E2-40D5-9398-990E541B06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00" y="209"/>
              <a:ext cx="369" cy="33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1350" dirty="0"/>
            </a:p>
          </p:txBody>
        </p:sp>
        <p:sp>
          <p:nvSpPr>
            <p:cNvPr id="70885" name="Line 9">
              <a:extLst>
                <a:ext uri="{FF2B5EF4-FFF2-40B4-BE49-F238E27FC236}">
                  <a16:creationId xmlns:a16="http://schemas.microsoft.com/office/drawing/2014/main" id="{48703E49-8345-72B4-E203-647731E5BE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61" y="152"/>
              <a:ext cx="432" cy="395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1350" dirty="0"/>
            </a:p>
          </p:txBody>
        </p:sp>
        <p:sp>
          <p:nvSpPr>
            <p:cNvPr id="70886" name="Line 10">
              <a:extLst>
                <a:ext uri="{FF2B5EF4-FFF2-40B4-BE49-F238E27FC236}">
                  <a16:creationId xmlns:a16="http://schemas.microsoft.com/office/drawing/2014/main" id="{28FC1657-D01E-3392-05E3-DC8C8213B5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21" y="96"/>
              <a:ext cx="491" cy="451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1350" dirty="0"/>
            </a:p>
          </p:txBody>
        </p:sp>
        <p:sp>
          <p:nvSpPr>
            <p:cNvPr id="70887" name="Line 11">
              <a:extLst>
                <a:ext uri="{FF2B5EF4-FFF2-40B4-BE49-F238E27FC236}">
                  <a16:creationId xmlns:a16="http://schemas.microsoft.com/office/drawing/2014/main" id="{E0F36E7B-C03F-2394-24FC-5AE099760A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9" y="491"/>
              <a:ext cx="61" cy="56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1350" dirty="0"/>
            </a:p>
          </p:txBody>
        </p:sp>
        <p:sp>
          <p:nvSpPr>
            <p:cNvPr id="70888" name="Line 12">
              <a:extLst>
                <a:ext uri="{FF2B5EF4-FFF2-40B4-BE49-F238E27FC236}">
                  <a16:creationId xmlns:a16="http://schemas.microsoft.com/office/drawing/2014/main" id="{1BCBDF88-42B8-C1B2-F752-D2A7BCF6F6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65" y="434"/>
              <a:ext cx="124" cy="113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1350" dirty="0"/>
            </a:p>
          </p:txBody>
        </p:sp>
        <p:sp>
          <p:nvSpPr>
            <p:cNvPr id="70889" name="Line 13">
              <a:extLst>
                <a:ext uri="{FF2B5EF4-FFF2-40B4-BE49-F238E27FC236}">
                  <a16:creationId xmlns:a16="http://schemas.microsoft.com/office/drawing/2014/main" id="{B19004D1-35DD-9E49-A5BA-ABDFDD21BF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2" y="378"/>
              <a:ext cx="186" cy="169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1350" dirty="0"/>
            </a:p>
          </p:txBody>
        </p:sp>
        <p:sp>
          <p:nvSpPr>
            <p:cNvPr id="70890" name="Line 14">
              <a:extLst>
                <a:ext uri="{FF2B5EF4-FFF2-40B4-BE49-F238E27FC236}">
                  <a16:creationId xmlns:a16="http://schemas.microsoft.com/office/drawing/2014/main" id="{212889F4-0FB1-DB93-99B9-AC8DA3AE31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9" y="322"/>
              <a:ext cx="246" cy="225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1350" dirty="0"/>
            </a:p>
          </p:txBody>
        </p:sp>
        <p:sp>
          <p:nvSpPr>
            <p:cNvPr id="70891" name="Line 15">
              <a:extLst>
                <a:ext uri="{FF2B5EF4-FFF2-40B4-BE49-F238E27FC236}">
                  <a16:creationId xmlns:a16="http://schemas.microsoft.com/office/drawing/2014/main" id="{CF9C5ACA-E743-BCDF-A267-4D52A50348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95" y="265"/>
              <a:ext cx="308" cy="282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1350" dirty="0"/>
            </a:p>
          </p:txBody>
        </p:sp>
        <p:sp>
          <p:nvSpPr>
            <p:cNvPr id="70892" name="Line 16">
              <a:extLst>
                <a:ext uri="{FF2B5EF4-FFF2-40B4-BE49-F238E27FC236}">
                  <a16:creationId xmlns:a16="http://schemas.microsoft.com/office/drawing/2014/main" id="{326CADC3-246A-D497-159E-A4E6FE4473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73" y="209"/>
              <a:ext cx="369" cy="33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1350" dirty="0"/>
            </a:p>
          </p:txBody>
        </p:sp>
        <p:sp>
          <p:nvSpPr>
            <p:cNvPr id="70893" name="Line 17">
              <a:extLst>
                <a:ext uri="{FF2B5EF4-FFF2-40B4-BE49-F238E27FC236}">
                  <a16:creationId xmlns:a16="http://schemas.microsoft.com/office/drawing/2014/main" id="{F555CB7E-C40C-3779-C839-2E18A1A618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8" y="152"/>
              <a:ext cx="433" cy="395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1350" dirty="0"/>
            </a:p>
          </p:txBody>
        </p:sp>
        <p:sp>
          <p:nvSpPr>
            <p:cNvPr id="70894" name="Line 18">
              <a:extLst>
                <a:ext uri="{FF2B5EF4-FFF2-40B4-BE49-F238E27FC236}">
                  <a16:creationId xmlns:a16="http://schemas.microsoft.com/office/drawing/2014/main" id="{73FF558C-9960-6B59-ABC2-F5E892EA02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6" y="552"/>
              <a:ext cx="989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 sz="1350" dirty="0"/>
            </a:p>
          </p:txBody>
        </p:sp>
        <p:grpSp>
          <p:nvGrpSpPr>
            <p:cNvPr id="70895" name="Group 21">
              <a:extLst>
                <a:ext uri="{FF2B5EF4-FFF2-40B4-BE49-F238E27FC236}">
                  <a16:creationId xmlns:a16="http://schemas.microsoft.com/office/drawing/2014/main" id="{F2CE26C6-72EB-B9E4-3555-C2AA5F1127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4" y="188"/>
              <a:ext cx="54" cy="48"/>
              <a:chOff x="3554" y="188"/>
              <a:chExt cx="54" cy="48"/>
            </a:xfrm>
          </p:grpSpPr>
          <p:sp>
            <p:nvSpPr>
              <p:cNvPr id="70939" name="Oval 19">
                <a:extLst>
                  <a:ext uri="{FF2B5EF4-FFF2-40B4-BE49-F238E27FC236}">
                    <a16:creationId xmlns:a16="http://schemas.microsoft.com/office/drawing/2014/main" id="{B39A610B-6077-E508-7348-3C9FB9772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4" y="188"/>
                <a:ext cx="54" cy="48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  <p:sp>
            <p:nvSpPr>
              <p:cNvPr id="70940" name="Oval 20">
                <a:extLst>
                  <a:ext uri="{FF2B5EF4-FFF2-40B4-BE49-F238E27FC236}">
                    <a16:creationId xmlns:a16="http://schemas.microsoft.com/office/drawing/2014/main" id="{EC5C8C4C-9223-B74A-4FFD-50F84B810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0" y="202"/>
                <a:ext cx="22" cy="22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</p:grpSp>
        <p:grpSp>
          <p:nvGrpSpPr>
            <p:cNvPr id="70896" name="Group 26">
              <a:extLst>
                <a:ext uri="{FF2B5EF4-FFF2-40B4-BE49-F238E27FC236}">
                  <a16:creationId xmlns:a16="http://schemas.microsoft.com/office/drawing/2014/main" id="{5D11B554-1DD7-EE76-80E1-EF80F864AD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44" y="351"/>
              <a:ext cx="61" cy="56"/>
              <a:chOff x="3244" y="351"/>
              <a:chExt cx="61" cy="56"/>
            </a:xfrm>
          </p:grpSpPr>
          <p:sp>
            <p:nvSpPr>
              <p:cNvPr id="70935" name="Line 22">
                <a:extLst>
                  <a:ext uri="{FF2B5EF4-FFF2-40B4-BE49-F238E27FC236}">
                    <a16:creationId xmlns:a16="http://schemas.microsoft.com/office/drawing/2014/main" id="{B8B0C8BE-2CED-4FD4-740E-AAAD68BF5B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4" y="379"/>
                <a:ext cx="61" cy="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70936" name="Line 23">
                <a:extLst>
                  <a:ext uri="{FF2B5EF4-FFF2-40B4-BE49-F238E27FC236}">
                    <a16:creationId xmlns:a16="http://schemas.microsoft.com/office/drawing/2014/main" id="{6C95450D-7A8A-89B5-621E-F08A394EF3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5" y="351"/>
                <a:ext cx="0" cy="56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70937" name="Line 24">
                <a:extLst>
                  <a:ext uri="{FF2B5EF4-FFF2-40B4-BE49-F238E27FC236}">
                    <a16:creationId xmlns:a16="http://schemas.microsoft.com/office/drawing/2014/main" id="{DA29B9D9-478C-7B40-63E8-D171F900A6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44" y="351"/>
                <a:ext cx="61" cy="56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70938" name="Line 25">
                <a:extLst>
                  <a:ext uri="{FF2B5EF4-FFF2-40B4-BE49-F238E27FC236}">
                    <a16:creationId xmlns:a16="http://schemas.microsoft.com/office/drawing/2014/main" id="{0C3E09CB-3109-CCC6-9B51-C7A664AB02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244" y="351"/>
                <a:ext cx="61" cy="56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</p:grpSp>
        <p:grpSp>
          <p:nvGrpSpPr>
            <p:cNvPr id="70897" name="Group 29">
              <a:extLst>
                <a:ext uri="{FF2B5EF4-FFF2-40B4-BE49-F238E27FC236}">
                  <a16:creationId xmlns:a16="http://schemas.microsoft.com/office/drawing/2014/main" id="{F19C05BF-54FC-7615-308A-B5561C0B7B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7" y="301"/>
              <a:ext cx="54" cy="48"/>
              <a:chOff x="3307" y="301"/>
              <a:chExt cx="54" cy="48"/>
            </a:xfrm>
          </p:grpSpPr>
          <p:sp>
            <p:nvSpPr>
              <p:cNvPr id="70933" name="Oval 27">
                <a:extLst>
                  <a:ext uri="{FF2B5EF4-FFF2-40B4-BE49-F238E27FC236}">
                    <a16:creationId xmlns:a16="http://schemas.microsoft.com/office/drawing/2014/main" id="{3EBABC1A-BFAB-EB88-9EB4-1FDA2A9500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7" y="301"/>
                <a:ext cx="54" cy="48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  <p:sp>
            <p:nvSpPr>
              <p:cNvPr id="70934" name="Oval 28">
                <a:extLst>
                  <a:ext uri="{FF2B5EF4-FFF2-40B4-BE49-F238E27FC236}">
                    <a16:creationId xmlns:a16="http://schemas.microsoft.com/office/drawing/2014/main" id="{86D437A0-18F5-F8AE-DBF7-9285757E3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23" y="315"/>
                <a:ext cx="23" cy="21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</p:grpSp>
        <p:grpSp>
          <p:nvGrpSpPr>
            <p:cNvPr id="70898" name="Group 32">
              <a:extLst>
                <a:ext uri="{FF2B5EF4-FFF2-40B4-BE49-F238E27FC236}">
                  <a16:creationId xmlns:a16="http://schemas.microsoft.com/office/drawing/2014/main" id="{15712541-455A-C0A9-29B2-2EA889D046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1" y="414"/>
              <a:ext cx="54" cy="48"/>
              <a:chOff x="3801" y="414"/>
              <a:chExt cx="54" cy="48"/>
            </a:xfrm>
          </p:grpSpPr>
          <p:sp>
            <p:nvSpPr>
              <p:cNvPr id="70931" name="Oval 30">
                <a:extLst>
                  <a:ext uri="{FF2B5EF4-FFF2-40B4-BE49-F238E27FC236}">
                    <a16:creationId xmlns:a16="http://schemas.microsoft.com/office/drawing/2014/main" id="{18A3A6B1-7BCB-3188-CE50-3501EA76E6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1" y="414"/>
                <a:ext cx="54" cy="48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  <p:sp>
            <p:nvSpPr>
              <p:cNvPr id="70932" name="Oval 31">
                <a:extLst>
                  <a:ext uri="{FF2B5EF4-FFF2-40B4-BE49-F238E27FC236}">
                    <a16:creationId xmlns:a16="http://schemas.microsoft.com/office/drawing/2014/main" id="{3C714C1F-72CF-299C-E1AE-AE2CA109B8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6" y="428"/>
                <a:ext cx="23" cy="21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</p:grpSp>
        <p:grpSp>
          <p:nvGrpSpPr>
            <p:cNvPr id="70899" name="Group 35">
              <a:extLst>
                <a:ext uri="{FF2B5EF4-FFF2-40B4-BE49-F238E27FC236}">
                  <a16:creationId xmlns:a16="http://schemas.microsoft.com/office/drawing/2014/main" id="{C667A880-DAB0-092F-003F-2E4774CBBF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1" y="470"/>
              <a:ext cx="54" cy="49"/>
              <a:chOff x="3121" y="470"/>
              <a:chExt cx="54" cy="49"/>
            </a:xfrm>
          </p:grpSpPr>
          <p:sp>
            <p:nvSpPr>
              <p:cNvPr id="70929" name="Oval 33">
                <a:extLst>
                  <a:ext uri="{FF2B5EF4-FFF2-40B4-BE49-F238E27FC236}">
                    <a16:creationId xmlns:a16="http://schemas.microsoft.com/office/drawing/2014/main" id="{44DD2BC1-C0C4-F57E-C7FA-39E693CE75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1" y="470"/>
                <a:ext cx="54" cy="49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  <p:sp>
            <p:nvSpPr>
              <p:cNvPr id="70930" name="Oval 34">
                <a:extLst>
                  <a:ext uri="{FF2B5EF4-FFF2-40B4-BE49-F238E27FC236}">
                    <a16:creationId xmlns:a16="http://schemas.microsoft.com/office/drawing/2014/main" id="{924640F4-C9CC-E8C0-BA6A-27898CBF1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7" y="484"/>
                <a:ext cx="23" cy="22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</p:grpSp>
        <p:grpSp>
          <p:nvGrpSpPr>
            <p:cNvPr id="70900" name="Group 38">
              <a:extLst>
                <a:ext uri="{FF2B5EF4-FFF2-40B4-BE49-F238E27FC236}">
                  <a16:creationId xmlns:a16="http://schemas.microsoft.com/office/drawing/2014/main" id="{E81DFA2D-0FB9-17AC-887D-C396A5348E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4" y="414"/>
              <a:ext cx="54" cy="48"/>
              <a:chOff x="3554" y="414"/>
              <a:chExt cx="54" cy="48"/>
            </a:xfrm>
          </p:grpSpPr>
          <p:sp>
            <p:nvSpPr>
              <p:cNvPr id="70927" name="Oval 36">
                <a:extLst>
                  <a:ext uri="{FF2B5EF4-FFF2-40B4-BE49-F238E27FC236}">
                    <a16:creationId xmlns:a16="http://schemas.microsoft.com/office/drawing/2014/main" id="{22871154-7DCD-CBC6-3BE9-955377EE69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4" y="414"/>
                <a:ext cx="54" cy="48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  <p:sp>
            <p:nvSpPr>
              <p:cNvPr id="70928" name="Oval 37">
                <a:extLst>
                  <a:ext uri="{FF2B5EF4-FFF2-40B4-BE49-F238E27FC236}">
                    <a16:creationId xmlns:a16="http://schemas.microsoft.com/office/drawing/2014/main" id="{3518A8D6-26BA-F18A-52B1-B40A364BAC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0" y="428"/>
                <a:ext cx="22" cy="21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</p:grpSp>
        <p:grpSp>
          <p:nvGrpSpPr>
            <p:cNvPr id="70901" name="Group 43">
              <a:extLst>
                <a:ext uri="{FF2B5EF4-FFF2-40B4-BE49-F238E27FC236}">
                  <a16:creationId xmlns:a16="http://schemas.microsoft.com/office/drawing/2014/main" id="{57C42707-FF1B-3B74-96B5-2A23245F9C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6" y="410"/>
              <a:ext cx="61" cy="56"/>
              <a:chOff x="3676" y="410"/>
              <a:chExt cx="61" cy="56"/>
            </a:xfrm>
          </p:grpSpPr>
          <p:sp>
            <p:nvSpPr>
              <p:cNvPr id="70923" name="Line 39">
                <a:extLst>
                  <a:ext uri="{FF2B5EF4-FFF2-40B4-BE49-F238E27FC236}">
                    <a16:creationId xmlns:a16="http://schemas.microsoft.com/office/drawing/2014/main" id="{491E3C08-CE58-8D02-08EA-971119EA62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76" y="438"/>
                <a:ext cx="61" cy="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70924" name="Line 40">
                <a:extLst>
                  <a:ext uri="{FF2B5EF4-FFF2-40B4-BE49-F238E27FC236}">
                    <a16:creationId xmlns:a16="http://schemas.microsoft.com/office/drawing/2014/main" id="{E384386E-D4A9-3AB5-8E40-5912C9A6A8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6" y="410"/>
                <a:ext cx="0" cy="56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70925" name="Line 41">
                <a:extLst>
                  <a:ext uri="{FF2B5EF4-FFF2-40B4-BE49-F238E27FC236}">
                    <a16:creationId xmlns:a16="http://schemas.microsoft.com/office/drawing/2014/main" id="{95CA4416-EBD1-5F63-1D24-4D3B976EB7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76" y="410"/>
                <a:ext cx="61" cy="56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70926" name="Line 42">
                <a:extLst>
                  <a:ext uri="{FF2B5EF4-FFF2-40B4-BE49-F238E27FC236}">
                    <a16:creationId xmlns:a16="http://schemas.microsoft.com/office/drawing/2014/main" id="{7A0F68EE-1629-830E-3FED-DD88B26CEF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76" y="410"/>
                <a:ext cx="61" cy="56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</p:grpSp>
        <p:grpSp>
          <p:nvGrpSpPr>
            <p:cNvPr id="70902" name="Group 48">
              <a:extLst>
                <a:ext uri="{FF2B5EF4-FFF2-40B4-BE49-F238E27FC236}">
                  <a16:creationId xmlns:a16="http://schemas.microsoft.com/office/drawing/2014/main" id="{1195884C-2E84-0431-34F6-D35810F02D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9" y="295"/>
              <a:ext cx="62" cy="56"/>
              <a:chOff x="3429" y="295"/>
              <a:chExt cx="62" cy="56"/>
            </a:xfrm>
          </p:grpSpPr>
          <p:sp>
            <p:nvSpPr>
              <p:cNvPr id="70919" name="Line 44">
                <a:extLst>
                  <a:ext uri="{FF2B5EF4-FFF2-40B4-BE49-F238E27FC236}">
                    <a16:creationId xmlns:a16="http://schemas.microsoft.com/office/drawing/2014/main" id="{8E513994-8F98-AD80-25CF-1DBF28E2C9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9" y="323"/>
                <a:ext cx="62" cy="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70920" name="Line 45">
                <a:extLst>
                  <a:ext uri="{FF2B5EF4-FFF2-40B4-BE49-F238E27FC236}">
                    <a16:creationId xmlns:a16="http://schemas.microsoft.com/office/drawing/2014/main" id="{608AE5D9-A36D-9E78-CDB7-32968980AE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0" y="295"/>
                <a:ext cx="0" cy="56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70921" name="Line 46">
                <a:extLst>
                  <a:ext uri="{FF2B5EF4-FFF2-40B4-BE49-F238E27FC236}">
                    <a16:creationId xmlns:a16="http://schemas.microsoft.com/office/drawing/2014/main" id="{EBA6732C-7C78-3FCF-06E3-59CD2D9417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29" y="295"/>
                <a:ext cx="62" cy="56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70922" name="Line 47">
                <a:extLst>
                  <a:ext uri="{FF2B5EF4-FFF2-40B4-BE49-F238E27FC236}">
                    <a16:creationId xmlns:a16="http://schemas.microsoft.com/office/drawing/2014/main" id="{A9B155F9-4338-0505-9DD8-36126A5677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29" y="295"/>
                <a:ext cx="62" cy="56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</p:grpSp>
        <p:grpSp>
          <p:nvGrpSpPr>
            <p:cNvPr id="70903" name="Group 53">
              <a:extLst>
                <a:ext uri="{FF2B5EF4-FFF2-40B4-BE49-F238E27FC236}">
                  <a16:creationId xmlns:a16="http://schemas.microsoft.com/office/drawing/2014/main" id="{20D77C91-A36B-79D7-C3D2-3436BF422B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1" y="464"/>
              <a:ext cx="61" cy="56"/>
              <a:chOff x="3491" y="464"/>
              <a:chExt cx="61" cy="56"/>
            </a:xfrm>
          </p:grpSpPr>
          <p:sp>
            <p:nvSpPr>
              <p:cNvPr id="70915" name="Line 49">
                <a:extLst>
                  <a:ext uri="{FF2B5EF4-FFF2-40B4-BE49-F238E27FC236}">
                    <a16:creationId xmlns:a16="http://schemas.microsoft.com/office/drawing/2014/main" id="{FCE54D50-37EF-C35E-5CA4-82D56AE7EB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1" y="492"/>
                <a:ext cx="61" cy="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70916" name="Line 50">
                <a:extLst>
                  <a:ext uri="{FF2B5EF4-FFF2-40B4-BE49-F238E27FC236}">
                    <a16:creationId xmlns:a16="http://schemas.microsoft.com/office/drawing/2014/main" id="{98BAF143-10E5-6184-7807-49AC691532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1" y="464"/>
                <a:ext cx="0" cy="56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70917" name="Line 51">
                <a:extLst>
                  <a:ext uri="{FF2B5EF4-FFF2-40B4-BE49-F238E27FC236}">
                    <a16:creationId xmlns:a16="http://schemas.microsoft.com/office/drawing/2014/main" id="{8EA91A79-5DD0-7A5F-EF31-8DACD2707B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91" y="464"/>
                <a:ext cx="61" cy="56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70918" name="Line 52">
                <a:extLst>
                  <a:ext uri="{FF2B5EF4-FFF2-40B4-BE49-F238E27FC236}">
                    <a16:creationId xmlns:a16="http://schemas.microsoft.com/office/drawing/2014/main" id="{299AF58B-1085-B173-89DD-A5A4061E60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91" y="464"/>
                <a:ext cx="61" cy="56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</p:grpSp>
        <p:sp>
          <p:nvSpPr>
            <p:cNvPr id="70904" name="Oval 54">
              <a:extLst>
                <a:ext uri="{FF2B5EF4-FFF2-40B4-BE49-F238E27FC236}">
                  <a16:creationId xmlns:a16="http://schemas.microsoft.com/office/drawing/2014/main" id="{1DBEA7B0-2983-3C5F-4F08-ED7F41913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3" y="302"/>
              <a:ext cx="54" cy="48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70905" name="Oval 55">
              <a:extLst>
                <a:ext uri="{FF2B5EF4-FFF2-40B4-BE49-F238E27FC236}">
                  <a16:creationId xmlns:a16="http://schemas.microsoft.com/office/drawing/2014/main" id="{0AE0C76A-D139-CEC2-321F-C4BC6C1A4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5" y="471"/>
              <a:ext cx="53" cy="49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grpSp>
          <p:nvGrpSpPr>
            <p:cNvPr id="70906" name="Group 58">
              <a:extLst>
                <a:ext uri="{FF2B5EF4-FFF2-40B4-BE49-F238E27FC236}">
                  <a16:creationId xmlns:a16="http://schemas.microsoft.com/office/drawing/2014/main" id="{16390DD1-62EA-44B0-A098-D047682048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87" y="128"/>
              <a:ext cx="62" cy="56"/>
              <a:chOff x="3487" y="128"/>
              <a:chExt cx="62" cy="56"/>
            </a:xfrm>
          </p:grpSpPr>
          <p:sp>
            <p:nvSpPr>
              <p:cNvPr id="70913" name="Line 56">
                <a:extLst>
                  <a:ext uri="{FF2B5EF4-FFF2-40B4-BE49-F238E27FC236}">
                    <a16:creationId xmlns:a16="http://schemas.microsoft.com/office/drawing/2014/main" id="{D26B7D82-5D17-7EF9-A2BF-0EB6D8314A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87" y="128"/>
                <a:ext cx="62" cy="56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70914" name="Line 57">
                <a:extLst>
                  <a:ext uri="{FF2B5EF4-FFF2-40B4-BE49-F238E27FC236}">
                    <a16:creationId xmlns:a16="http://schemas.microsoft.com/office/drawing/2014/main" id="{2F098AF8-8931-4906-15EE-BC25D17631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87" y="128"/>
                <a:ext cx="62" cy="56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</p:grpSp>
        <p:grpSp>
          <p:nvGrpSpPr>
            <p:cNvPr id="70907" name="Group 61">
              <a:extLst>
                <a:ext uri="{FF2B5EF4-FFF2-40B4-BE49-F238E27FC236}">
                  <a16:creationId xmlns:a16="http://schemas.microsoft.com/office/drawing/2014/main" id="{73E3E4C2-65D4-B07F-C210-5E51239936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2" y="297"/>
              <a:ext cx="62" cy="56"/>
              <a:chOff x="3672" y="297"/>
              <a:chExt cx="62" cy="56"/>
            </a:xfrm>
          </p:grpSpPr>
          <p:sp>
            <p:nvSpPr>
              <p:cNvPr id="70911" name="Line 59">
                <a:extLst>
                  <a:ext uri="{FF2B5EF4-FFF2-40B4-BE49-F238E27FC236}">
                    <a16:creationId xmlns:a16="http://schemas.microsoft.com/office/drawing/2014/main" id="{FE94121E-6527-B866-9AF3-4221417693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72" y="297"/>
                <a:ext cx="62" cy="56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70912" name="Line 60">
                <a:extLst>
                  <a:ext uri="{FF2B5EF4-FFF2-40B4-BE49-F238E27FC236}">
                    <a16:creationId xmlns:a16="http://schemas.microsoft.com/office/drawing/2014/main" id="{2025D65E-FF39-9661-34EC-7B254FDA57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72" y="297"/>
                <a:ext cx="62" cy="56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</p:grpSp>
        <p:grpSp>
          <p:nvGrpSpPr>
            <p:cNvPr id="70908" name="Group 64">
              <a:extLst>
                <a:ext uri="{FF2B5EF4-FFF2-40B4-BE49-F238E27FC236}">
                  <a16:creationId xmlns:a16="http://schemas.microsoft.com/office/drawing/2014/main" id="{AA30C6C9-2880-5A99-47A2-5B61E4553F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4" y="466"/>
              <a:ext cx="62" cy="57"/>
              <a:chOff x="3364" y="466"/>
              <a:chExt cx="62" cy="57"/>
            </a:xfrm>
          </p:grpSpPr>
          <p:sp>
            <p:nvSpPr>
              <p:cNvPr id="70909" name="Line 62">
                <a:extLst>
                  <a:ext uri="{FF2B5EF4-FFF2-40B4-BE49-F238E27FC236}">
                    <a16:creationId xmlns:a16="http://schemas.microsoft.com/office/drawing/2014/main" id="{8CF60740-AA02-A5E5-09E7-CC005269C2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64" y="466"/>
                <a:ext cx="62" cy="57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70910" name="Line 63">
                <a:extLst>
                  <a:ext uri="{FF2B5EF4-FFF2-40B4-BE49-F238E27FC236}">
                    <a16:creationId xmlns:a16="http://schemas.microsoft.com/office/drawing/2014/main" id="{7C60D630-773A-80D7-FDF2-643073CF53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64" y="466"/>
                <a:ext cx="62" cy="57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</p:grpSp>
      </p:grpSp>
      <p:sp>
        <p:nvSpPr>
          <p:cNvPr id="70659" name="Rectangle 66">
            <a:extLst>
              <a:ext uri="{FF2B5EF4-FFF2-40B4-BE49-F238E27FC236}">
                <a16:creationId xmlns:a16="http://schemas.microsoft.com/office/drawing/2014/main" id="{D483FDF7-4A8D-EE1A-6137-748D3026D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5385" y="4192192"/>
            <a:ext cx="1742464" cy="20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Absolute Weight and Percent</a:t>
            </a:r>
          </a:p>
        </p:txBody>
      </p:sp>
      <p:sp>
        <p:nvSpPr>
          <p:cNvPr id="70660" name="Line 67">
            <a:extLst>
              <a:ext uri="{FF2B5EF4-FFF2-40B4-BE49-F238E27FC236}">
                <a16:creationId xmlns:a16="http://schemas.microsoft.com/office/drawing/2014/main" id="{6F6B538C-1697-05AD-A6B5-7F8108AE9C92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944541"/>
            <a:ext cx="295275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61" name="Line 68">
            <a:extLst>
              <a:ext uri="{FF2B5EF4-FFF2-40B4-BE49-F238E27FC236}">
                <a16:creationId xmlns:a16="http://schemas.microsoft.com/office/drawing/2014/main" id="{09B45BA1-9EEF-3E9A-CB94-054A9F83A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221956"/>
            <a:ext cx="162520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62" name="Line 69">
            <a:extLst>
              <a:ext uri="{FF2B5EF4-FFF2-40B4-BE49-F238E27FC236}">
                <a16:creationId xmlns:a16="http://schemas.microsoft.com/office/drawing/2014/main" id="{97A2536C-D288-070F-AE35-A952736DDC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5850" y="3944541"/>
            <a:ext cx="0" cy="557213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63" name="Line 70">
            <a:extLst>
              <a:ext uri="{FF2B5EF4-FFF2-40B4-BE49-F238E27FC236}">
                <a16:creationId xmlns:a16="http://schemas.microsoft.com/office/drawing/2014/main" id="{16C35A2F-4719-BD25-5380-6D70743EB3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363641"/>
            <a:ext cx="162520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64" name="Line 71">
            <a:extLst>
              <a:ext uri="{FF2B5EF4-FFF2-40B4-BE49-F238E27FC236}">
                <a16:creationId xmlns:a16="http://schemas.microsoft.com/office/drawing/2014/main" id="{401FBCC5-14CB-6756-1087-0A789CFF18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085035"/>
            <a:ext cx="162520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65" name="Line 72">
            <a:extLst>
              <a:ext uri="{FF2B5EF4-FFF2-40B4-BE49-F238E27FC236}">
                <a16:creationId xmlns:a16="http://schemas.microsoft.com/office/drawing/2014/main" id="{01934246-2838-B086-624F-CA4147CBB4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3944541"/>
            <a:ext cx="1329929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66" name="Line 73">
            <a:extLst>
              <a:ext uri="{FF2B5EF4-FFF2-40B4-BE49-F238E27FC236}">
                <a16:creationId xmlns:a16="http://schemas.microsoft.com/office/drawing/2014/main" id="{471AEDCA-7CD3-1B5A-F76A-B0BEF9827DD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4679" y="3944541"/>
            <a:ext cx="1190" cy="557213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67" name="Line 74">
            <a:extLst>
              <a:ext uri="{FF2B5EF4-FFF2-40B4-BE49-F238E27FC236}">
                <a16:creationId xmlns:a16="http://schemas.microsoft.com/office/drawing/2014/main" id="{C6D1B0E6-6C3A-1E6A-9AFE-CA07933B52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1125" y="3944541"/>
            <a:ext cx="1191" cy="557213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68" name="Line 75">
            <a:extLst>
              <a:ext uri="{FF2B5EF4-FFF2-40B4-BE49-F238E27FC236}">
                <a16:creationId xmlns:a16="http://schemas.microsoft.com/office/drawing/2014/main" id="{7FD92B58-FDD2-73B8-B8DC-D31CBA9606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9954" y="3944541"/>
            <a:ext cx="0" cy="557213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69" name="Line 76">
            <a:extLst>
              <a:ext uri="{FF2B5EF4-FFF2-40B4-BE49-F238E27FC236}">
                <a16:creationId xmlns:a16="http://schemas.microsoft.com/office/drawing/2014/main" id="{98A50D24-3518-2D18-72A9-9074C8BDD3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7591" y="3944541"/>
            <a:ext cx="3572" cy="556022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70" name="Line 77">
            <a:extLst>
              <a:ext uri="{FF2B5EF4-FFF2-40B4-BE49-F238E27FC236}">
                <a16:creationId xmlns:a16="http://schemas.microsoft.com/office/drawing/2014/main" id="{6B4364D0-7D81-4054-E683-6460F1A804E3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5229" y="3944541"/>
            <a:ext cx="0" cy="557213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71" name="Line 78">
            <a:extLst>
              <a:ext uri="{FF2B5EF4-FFF2-40B4-BE49-F238E27FC236}">
                <a16:creationId xmlns:a16="http://schemas.microsoft.com/office/drawing/2014/main" id="{03EE62E8-AFF8-97B4-F5BB-9C7ED9859C6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1675" y="3944541"/>
            <a:ext cx="0" cy="557213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72" name="Line 79">
            <a:extLst>
              <a:ext uri="{FF2B5EF4-FFF2-40B4-BE49-F238E27FC236}">
                <a16:creationId xmlns:a16="http://schemas.microsoft.com/office/drawing/2014/main" id="{80331148-4FA1-0B34-DA10-FEBABA02E4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944541"/>
            <a:ext cx="0" cy="557213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73" name="Line 80">
            <a:extLst>
              <a:ext uri="{FF2B5EF4-FFF2-40B4-BE49-F238E27FC236}">
                <a16:creationId xmlns:a16="http://schemas.microsoft.com/office/drawing/2014/main" id="{AD1F2163-64E0-C53A-FF54-200621A04F1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501754"/>
            <a:ext cx="162520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74" name="Line 81">
            <a:extLst>
              <a:ext uri="{FF2B5EF4-FFF2-40B4-BE49-F238E27FC236}">
                <a16:creationId xmlns:a16="http://schemas.microsoft.com/office/drawing/2014/main" id="{5A791284-DC44-707E-BE1D-8F47727F1B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9404" y="3944541"/>
            <a:ext cx="0" cy="14049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75" name="Line 82">
            <a:extLst>
              <a:ext uri="{FF2B5EF4-FFF2-40B4-BE49-F238E27FC236}">
                <a16:creationId xmlns:a16="http://schemas.microsoft.com/office/drawing/2014/main" id="{ADA43FF4-4A29-DAD4-62D4-288E39F206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4501754"/>
            <a:ext cx="1178719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76" name="Line 83">
            <a:extLst>
              <a:ext uri="{FF2B5EF4-FFF2-40B4-BE49-F238E27FC236}">
                <a16:creationId xmlns:a16="http://schemas.microsoft.com/office/drawing/2014/main" id="{DEBC8835-BE2F-6F6B-F7C3-4D743C1B664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0504" y="3944542"/>
            <a:ext cx="0" cy="69770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77" name="Line 84">
            <a:extLst>
              <a:ext uri="{FF2B5EF4-FFF2-40B4-BE49-F238E27FC236}">
                <a16:creationId xmlns:a16="http://schemas.microsoft.com/office/drawing/2014/main" id="{2ABB544D-4A58-E850-C489-1119BD9851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9404" y="4501754"/>
            <a:ext cx="0" cy="27741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78" name="Line 85">
            <a:extLst>
              <a:ext uri="{FF2B5EF4-FFF2-40B4-BE49-F238E27FC236}">
                <a16:creationId xmlns:a16="http://schemas.microsoft.com/office/drawing/2014/main" id="{1E240613-58EE-8935-2559-72EB8D3718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4779169"/>
            <a:ext cx="117991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79" name="Line 86">
            <a:extLst>
              <a:ext uri="{FF2B5EF4-FFF2-40B4-BE49-F238E27FC236}">
                <a16:creationId xmlns:a16="http://schemas.microsoft.com/office/drawing/2014/main" id="{47F13E8C-2EFE-0BE8-293C-5FABDF59E5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30504" y="4642247"/>
            <a:ext cx="0" cy="136922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80" name="Rectangle 87">
            <a:extLst>
              <a:ext uri="{FF2B5EF4-FFF2-40B4-BE49-F238E27FC236}">
                <a16:creationId xmlns:a16="http://schemas.microsoft.com/office/drawing/2014/main" id="{26316506-AF79-5F15-D337-6EAA63900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1779" y="4477941"/>
            <a:ext cx="1272778" cy="346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Prioritized Technical Descriptors</a:t>
            </a:r>
          </a:p>
        </p:txBody>
      </p:sp>
      <p:sp>
        <p:nvSpPr>
          <p:cNvPr id="70681" name="Rectangle 88">
            <a:extLst>
              <a:ext uri="{FF2B5EF4-FFF2-40B4-BE49-F238E27FC236}">
                <a16:creationId xmlns:a16="http://schemas.microsoft.com/office/drawing/2014/main" id="{70C9C8DA-8E3C-E9B1-F148-BBCB30D6F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194" y="3925492"/>
            <a:ext cx="1761700" cy="20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Degree of Technical Difficulty</a:t>
            </a:r>
          </a:p>
        </p:txBody>
      </p:sp>
      <p:sp>
        <p:nvSpPr>
          <p:cNvPr id="70682" name="Rectangle 89">
            <a:extLst>
              <a:ext uri="{FF2B5EF4-FFF2-40B4-BE49-F238E27FC236}">
                <a16:creationId xmlns:a16="http://schemas.microsoft.com/office/drawing/2014/main" id="{D6AEB7CE-4FC9-F62D-D6C4-4B422D850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8957" y="4335067"/>
            <a:ext cx="1691168" cy="20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Relative Weight and Percent</a:t>
            </a:r>
          </a:p>
        </p:txBody>
      </p:sp>
      <p:sp>
        <p:nvSpPr>
          <p:cNvPr id="70683" name="Rectangle 90">
            <a:extLst>
              <a:ext uri="{FF2B5EF4-FFF2-40B4-BE49-F238E27FC236}">
                <a16:creationId xmlns:a16="http://schemas.microsoft.com/office/drawing/2014/main" id="{9A3C2148-04B7-35B0-7506-13CCE8F0D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6575" y="4058842"/>
            <a:ext cx="831958" cy="20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Target Value</a:t>
            </a:r>
          </a:p>
        </p:txBody>
      </p:sp>
      <p:sp>
        <p:nvSpPr>
          <p:cNvPr id="70684" name="Line 91">
            <a:extLst>
              <a:ext uri="{FF2B5EF4-FFF2-40B4-BE49-F238E27FC236}">
                <a16:creationId xmlns:a16="http://schemas.microsoft.com/office/drawing/2014/main" id="{9B80B807-3EA8-3E49-C3A7-4C1CBCC801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9404" y="4085035"/>
            <a:ext cx="0" cy="416719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85" name="Line 92">
            <a:extLst>
              <a:ext uri="{FF2B5EF4-FFF2-40B4-BE49-F238E27FC236}">
                <a16:creationId xmlns:a16="http://schemas.microsoft.com/office/drawing/2014/main" id="{3730B76F-8C00-995D-0030-BFCFCC995F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9404" y="3944541"/>
            <a:ext cx="11811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86" name="Line 93">
            <a:extLst>
              <a:ext uri="{FF2B5EF4-FFF2-40B4-BE49-F238E27FC236}">
                <a16:creationId xmlns:a16="http://schemas.microsoft.com/office/drawing/2014/main" id="{BB4E577E-2D5F-C162-036E-760D9322FE5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9404" y="4085035"/>
            <a:ext cx="11811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87" name="Line 94">
            <a:extLst>
              <a:ext uri="{FF2B5EF4-FFF2-40B4-BE49-F238E27FC236}">
                <a16:creationId xmlns:a16="http://schemas.microsoft.com/office/drawing/2014/main" id="{F1A5FFC2-E3AB-DBCF-8085-20FCA267AE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9404" y="4221956"/>
            <a:ext cx="11811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88" name="Line 95">
            <a:extLst>
              <a:ext uri="{FF2B5EF4-FFF2-40B4-BE49-F238E27FC236}">
                <a16:creationId xmlns:a16="http://schemas.microsoft.com/office/drawing/2014/main" id="{9E579231-D6EF-9183-DAD9-F6A263E03A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9404" y="4363641"/>
            <a:ext cx="11811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grpSp>
        <p:nvGrpSpPr>
          <p:cNvPr id="70689" name="Group 98">
            <a:extLst>
              <a:ext uri="{FF2B5EF4-FFF2-40B4-BE49-F238E27FC236}">
                <a16:creationId xmlns:a16="http://schemas.microsoft.com/office/drawing/2014/main" id="{4609795F-A5B6-099C-4ADF-F63FE4480E39}"/>
              </a:ext>
            </a:extLst>
          </p:cNvPr>
          <p:cNvGrpSpPr>
            <a:grpSpLocks/>
          </p:cNvGrpSpPr>
          <p:nvPr/>
        </p:nvGrpSpPr>
        <p:grpSpPr bwMode="auto">
          <a:xfrm>
            <a:off x="4711303" y="3917148"/>
            <a:ext cx="1265635" cy="208359"/>
            <a:chOff x="2997" y="3290"/>
            <a:chExt cx="1063" cy="175"/>
          </a:xfrm>
        </p:grpSpPr>
        <p:sp>
          <p:nvSpPr>
            <p:cNvPr id="70876" name="Rectangle 96">
              <a:extLst>
                <a:ext uri="{FF2B5EF4-FFF2-40B4-BE49-F238E27FC236}">
                  <a16:creationId xmlns:a16="http://schemas.microsoft.com/office/drawing/2014/main" id="{C57FFD72-20B4-7F2C-07F5-D67831595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7" y="3290"/>
              <a:ext cx="575" cy="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9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1   8   4   2</a:t>
              </a:r>
            </a:p>
          </p:txBody>
        </p:sp>
        <p:sp>
          <p:nvSpPr>
            <p:cNvPr id="70877" name="Rectangle 97">
              <a:extLst>
                <a:ext uri="{FF2B5EF4-FFF2-40B4-BE49-F238E27FC236}">
                  <a16:creationId xmlns:a16="http://schemas.microsoft.com/office/drawing/2014/main" id="{4C845C84-8FEB-312E-4DCA-D1B39880E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5" y="3290"/>
              <a:ext cx="575" cy="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9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9   8   2   5</a:t>
              </a:r>
            </a:p>
          </p:txBody>
        </p:sp>
      </p:grpSp>
      <p:sp>
        <p:nvSpPr>
          <p:cNvPr id="70690" name="Rectangle 99">
            <a:extLst>
              <a:ext uri="{FF2B5EF4-FFF2-40B4-BE49-F238E27FC236}">
                <a16:creationId xmlns:a16="http://schemas.microsoft.com/office/drawing/2014/main" id="{831DC491-5785-9A0E-BA8F-37A06C748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8136" y="4199335"/>
            <a:ext cx="267702" cy="20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90</a:t>
            </a:r>
          </a:p>
        </p:txBody>
      </p:sp>
      <p:sp>
        <p:nvSpPr>
          <p:cNvPr id="70691" name="Rectangle 100">
            <a:extLst>
              <a:ext uri="{FF2B5EF4-FFF2-40B4-BE49-F238E27FC236}">
                <a16:creationId xmlns:a16="http://schemas.microsoft.com/office/drawing/2014/main" id="{55C403EF-8F0D-7C3F-2CBD-467FC6532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5288" y="4338638"/>
            <a:ext cx="298159" cy="185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750" b="1" dirty="0">
                <a:solidFill>
                  <a:srgbClr val="FFFFFF"/>
                </a:solidFill>
                <a:latin typeface="Arial" panose="020B0604020202020204" pitchFamily="34" charset="0"/>
              </a:rPr>
              <a:t>133</a:t>
            </a:r>
          </a:p>
        </p:txBody>
      </p:sp>
      <p:grpSp>
        <p:nvGrpSpPr>
          <p:cNvPr id="70692" name="Group 103">
            <a:extLst>
              <a:ext uri="{FF2B5EF4-FFF2-40B4-BE49-F238E27FC236}">
                <a16:creationId xmlns:a16="http://schemas.microsoft.com/office/drawing/2014/main" id="{F01D1997-ECF3-EE6C-F4BB-A9A9C1247308}"/>
              </a:ext>
            </a:extLst>
          </p:cNvPr>
          <p:cNvGrpSpPr>
            <a:grpSpLocks/>
          </p:cNvGrpSpPr>
          <p:nvPr/>
        </p:nvGrpSpPr>
        <p:grpSpPr bwMode="auto">
          <a:xfrm>
            <a:off x="4714874" y="4057642"/>
            <a:ext cx="1265635" cy="208359"/>
            <a:chOff x="3000" y="3408"/>
            <a:chExt cx="1063" cy="175"/>
          </a:xfrm>
        </p:grpSpPr>
        <p:sp>
          <p:nvSpPr>
            <p:cNvPr id="70874" name="Rectangle 101">
              <a:extLst>
                <a:ext uri="{FF2B5EF4-FFF2-40B4-BE49-F238E27FC236}">
                  <a16:creationId xmlns:a16="http://schemas.microsoft.com/office/drawing/2014/main" id="{045DD8F1-375E-CB88-6E29-CA6CB142AF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0" y="3408"/>
              <a:ext cx="575" cy="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9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2   3   4   3</a:t>
              </a:r>
            </a:p>
          </p:txBody>
        </p:sp>
        <p:sp>
          <p:nvSpPr>
            <p:cNvPr id="70875" name="Rectangle 102">
              <a:extLst>
                <a:ext uri="{FF2B5EF4-FFF2-40B4-BE49-F238E27FC236}">
                  <a16:creationId xmlns:a16="http://schemas.microsoft.com/office/drawing/2014/main" id="{F34E452A-515B-195B-72F1-D2F62A85F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8" y="3408"/>
              <a:ext cx="575" cy="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9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1   3   1   5</a:t>
              </a:r>
            </a:p>
          </p:txBody>
        </p:sp>
      </p:grpSp>
      <p:sp>
        <p:nvSpPr>
          <p:cNvPr id="70693" name="Rectangle 104">
            <a:extLst>
              <a:ext uri="{FF2B5EF4-FFF2-40B4-BE49-F238E27FC236}">
                <a16:creationId xmlns:a16="http://schemas.microsoft.com/office/drawing/2014/main" id="{4348B70B-A4B6-56A2-9F19-C61D0BD39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7551" y="2253854"/>
            <a:ext cx="267702" cy="1276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7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9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10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8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70694" name="Line 105">
            <a:extLst>
              <a:ext uri="{FF2B5EF4-FFF2-40B4-BE49-F238E27FC236}">
                <a16:creationId xmlns:a16="http://schemas.microsoft.com/office/drawing/2014/main" id="{96800112-BFD4-5C05-A99B-B12FB793D98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7041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95" name="Line 106">
            <a:extLst>
              <a:ext uri="{FF2B5EF4-FFF2-40B4-BE49-F238E27FC236}">
                <a16:creationId xmlns:a16="http://schemas.microsoft.com/office/drawing/2014/main" id="{E78F63A7-920C-8E0D-4E4D-A8895FFAE0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2446735"/>
            <a:ext cx="162639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96" name="Line 107">
            <a:extLst>
              <a:ext uri="{FF2B5EF4-FFF2-40B4-BE49-F238E27FC236}">
                <a16:creationId xmlns:a16="http://schemas.microsoft.com/office/drawing/2014/main" id="{744FE420-7F63-F61C-80D0-98F7F60B593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2595563"/>
            <a:ext cx="162639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97" name="Line 108">
            <a:extLst>
              <a:ext uri="{FF2B5EF4-FFF2-40B4-BE49-F238E27FC236}">
                <a16:creationId xmlns:a16="http://schemas.microsoft.com/office/drawing/2014/main" id="{4E031FC9-6023-FD2E-993B-C5DB3611F0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2745581"/>
            <a:ext cx="162639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98" name="Line 109">
            <a:extLst>
              <a:ext uri="{FF2B5EF4-FFF2-40B4-BE49-F238E27FC236}">
                <a16:creationId xmlns:a16="http://schemas.microsoft.com/office/drawing/2014/main" id="{E1BCF763-E377-34D0-9ED6-4BCAF07C5C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2893219"/>
            <a:ext cx="162639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699" name="Line 110">
            <a:extLst>
              <a:ext uri="{FF2B5EF4-FFF2-40B4-BE49-F238E27FC236}">
                <a16:creationId xmlns:a16="http://schemas.microsoft.com/office/drawing/2014/main" id="{26CD40A3-226C-4B68-3499-48D5D4B3B8A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3043238"/>
            <a:ext cx="162639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00" name="Line 111">
            <a:extLst>
              <a:ext uri="{FF2B5EF4-FFF2-40B4-BE49-F238E27FC236}">
                <a16:creationId xmlns:a16="http://schemas.microsoft.com/office/drawing/2014/main" id="{C460EB3D-D503-D2F0-8ACB-8BF549F7B3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3190875"/>
            <a:ext cx="162639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01" name="Line 112">
            <a:extLst>
              <a:ext uri="{FF2B5EF4-FFF2-40B4-BE49-F238E27FC236}">
                <a16:creationId xmlns:a16="http://schemas.microsoft.com/office/drawing/2014/main" id="{50E76000-EB71-9EC5-DCC5-CE177DB14A4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3340894"/>
            <a:ext cx="162639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02" name="Line 113">
            <a:extLst>
              <a:ext uri="{FF2B5EF4-FFF2-40B4-BE49-F238E27FC236}">
                <a16:creationId xmlns:a16="http://schemas.microsoft.com/office/drawing/2014/main" id="{9068F75D-FFCF-865C-18BD-4F50EADEFB4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4697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03" name="Line 114">
            <a:extLst>
              <a:ext uri="{FF2B5EF4-FFF2-40B4-BE49-F238E27FC236}">
                <a16:creationId xmlns:a16="http://schemas.microsoft.com/office/drawing/2014/main" id="{3FAD7DEC-C649-37BC-05EC-236AD2EA5D0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1144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04" name="Line 115">
            <a:extLst>
              <a:ext uri="{FF2B5EF4-FFF2-40B4-BE49-F238E27FC236}">
                <a16:creationId xmlns:a16="http://schemas.microsoft.com/office/drawing/2014/main" id="{AB85B956-67D1-3826-64F1-AEF7A4EC256A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9972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05" name="Line 116">
            <a:extLst>
              <a:ext uri="{FF2B5EF4-FFF2-40B4-BE49-F238E27FC236}">
                <a16:creationId xmlns:a16="http://schemas.microsoft.com/office/drawing/2014/main" id="{90867B9A-11BB-1CDE-B63C-DF0E91269CB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6419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06" name="Line 117">
            <a:extLst>
              <a:ext uri="{FF2B5EF4-FFF2-40B4-BE49-F238E27FC236}">
                <a16:creationId xmlns:a16="http://schemas.microsoft.com/office/drawing/2014/main" id="{9D8CE9D0-079B-7C0E-22CB-0FD445020B4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6438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07" name="Line 118">
            <a:extLst>
              <a:ext uri="{FF2B5EF4-FFF2-40B4-BE49-F238E27FC236}">
                <a16:creationId xmlns:a16="http://schemas.microsoft.com/office/drawing/2014/main" id="{8B52B3AB-4EED-CE8D-A6A0-7D664F4CF53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1713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08" name="Line 119">
            <a:extLst>
              <a:ext uri="{FF2B5EF4-FFF2-40B4-BE49-F238E27FC236}">
                <a16:creationId xmlns:a16="http://schemas.microsoft.com/office/drawing/2014/main" id="{9FE44309-7314-7030-332B-132AB3BDE7C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0541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09" name="Line 120">
            <a:extLst>
              <a:ext uri="{FF2B5EF4-FFF2-40B4-BE49-F238E27FC236}">
                <a16:creationId xmlns:a16="http://schemas.microsoft.com/office/drawing/2014/main" id="{C28A0270-5EAB-A31B-6FA2-A01A93ECAC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19475" y="3043238"/>
            <a:ext cx="295275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10" name="Line 121">
            <a:extLst>
              <a:ext uri="{FF2B5EF4-FFF2-40B4-BE49-F238E27FC236}">
                <a16:creationId xmlns:a16="http://schemas.microsoft.com/office/drawing/2014/main" id="{5E4D7218-27A6-5F27-EB03-8E6B8DDF6E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62388" y="3638550"/>
            <a:ext cx="887016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11" name="Line 122">
            <a:extLst>
              <a:ext uri="{FF2B5EF4-FFF2-40B4-BE49-F238E27FC236}">
                <a16:creationId xmlns:a16="http://schemas.microsoft.com/office/drawing/2014/main" id="{B81B4DE1-D5F2-0667-A968-B886A71C19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61198" y="3787379"/>
            <a:ext cx="888206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12" name="Line 123">
            <a:extLst>
              <a:ext uri="{FF2B5EF4-FFF2-40B4-BE49-F238E27FC236}">
                <a16:creationId xmlns:a16="http://schemas.microsoft.com/office/drawing/2014/main" id="{DC0D7428-9501-CE79-460B-CCECD8DFB9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7041" y="3489722"/>
            <a:ext cx="0" cy="44648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13" name="Line 124">
            <a:extLst>
              <a:ext uri="{FF2B5EF4-FFF2-40B4-BE49-F238E27FC236}">
                <a16:creationId xmlns:a16="http://schemas.microsoft.com/office/drawing/2014/main" id="{1FF4A483-C1E0-54BA-8085-776296D82E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62388" y="3489723"/>
            <a:ext cx="0" cy="44886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14" name="Line 125">
            <a:extLst>
              <a:ext uri="{FF2B5EF4-FFF2-40B4-BE49-F238E27FC236}">
                <a16:creationId xmlns:a16="http://schemas.microsoft.com/office/drawing/2014/main" id="{2EDF7AAD-187D-9A08-6500-267A2C1526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45869" y="3489722"/>
            <a:ext cx="1191" cy="44648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15" name="Line 126">
            <a:extLst>
              <a:ext uri="{FF2B5EF4-FFF2-40B4-BE49-F238E27FC236}">
                <a16:creationId xmlns:a16="http://schemas.microsoft.com/office/drawing/2014/main" id="{9D06E795-B855-0A3D-102B-9D9882E952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93506" y="3489722"/>
            <a:ext cx="1191" cy="44648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16" name="Line 127">
            <a:extLst>
              <a:ext uri="{FF2B5EF4-FFF2-40B4-BE49-F238E27FC236}">
                <a16:creationId xmlns:a16="http://schemas.microsoft.com/office/drawing/2014/main" id="{FDAB127D-C380-0308-C413-C3E12B42C10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1144" y="3489722"/>
            <a:ext cx="0" cy="44648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17" name="Line 128">
            <a:extLst>
              <a:ext uri="{FF2B5EF4-FFF2-40B4-BE49-F238E27FC236}">
                <a16:creationId xmlns:a16="http://schemas.microsoft.com/office/drawing/2014/main" id="{B3C60521-307D-93E0-25BE-214A8DDD17F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9973" y="3489723"/>
            <a:ext cx="1190" cy="44886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18" name="Line 129">
            <a:extLst>
              <a:ext uri="{FF2B5EF4-FFF2-40B4-BE49-F238E27FC236}">
                <a16:creationId xmlns:a16="http://schemas.microsoft.com/office/drawing/2014/main" id="{991B1844-A547-A89A-36BB-8470ABA293D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6419" y="3489722"/>
            <a:ext cx="0" cy="44648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19" name="Line 130">
            <a:extLst>
              <a:ext uri="{FF2B5EF4-FFF2-40B4-BE49-F238E27FC236}">
                <a16:creationId xmlns:a16="http://schemas.microsoft.com/office/drawing/2014/main" id="{832B6283-4DEF-2443-7010-A6AA84D992E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6438" y="3489722"/>
            <a:ext cx="1191" cy="452438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20" name="Line 131">
            <a:extLst>
              <a:ext uri="{FF2B5EF4-FFF2-40B4-BE49-F238E27FC236}">
                <a16:creationId xmlns:a16="http://schemas.microsoft.com/office/drawing/2014/main" id="{9981E6B9-A24F-F478-1A02-C5DFFD31A0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3638550"/>
            <a:ext cx="117991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21" name="Line 132">
            <a:extLst>
              <a:ext uri="{FF2B5EF4-FFF2-40B4-BE49-F238E27FC236}">
                <a16:creationId xmlns:a16="http://schemas.microsoft.com/office/drawing/2014/main" id="{CD01156F-B6B6-1DB9-BC9D-93C7645144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3787379"/>
            <a:ext cx="117991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22" name="Line 133">
            <a:extLst>
              <a:ext uri="{FF2B5EF4-FFF2-40B4-BE49-F238E27FC236}">
                <a16:creationId xmlns:a16="http://schemas.microsoft.com/office/drawing/2014/main" id="{99714266-FE74-76B5-903A-E0B3045064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5816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23" name="Line 134">
            <a:extLst>
              <a:ext uri="{FF2B5EF4-FFF2-40B4-BE49-F238E27FC236}">
                <a16:creationId xmlns:a16="http://schemas.microsoft.com/office/drawing/2014/main" id="{94055ED4-A922-7FD5-2638-8CEEB1A6E8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3454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24" name="Line 135">
            <a:extLst>
              <a:ext uri="{FF2B5EF4-FFF2-40B4-BE49-F238E27FC236}">
                <a16:creationId xmlns:a16="http://schemas.microsoft.com/office/drawing/2014/main" id="{4C29F449-59A7-C3B8-0EF9-D07F33CB18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8781" y="957263"/>
            <a:ext cx="0" cy="29765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25" name="Line 136">
            <a:extLst>
              <a:ext uri="{FF2B5EF4-FFF2-40B4-BE49-F238E27FC236}">
                <a16:creationId xmlns:a16="http://schemas.microsoft.com/office/drawing/2014/main" id="{B07AD513-50D5-5B37-26A8-4586C8E04A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297906"/>
            <a:ext cx="162520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26" name="Line 137">
            <a:extLst>
              <a:ext uri="{FF2B5EF4-FFF2-40B4-BE49-F238E27FC236}">
                <a16:creationId xmlns:a16="http://schemas.microsoft.com/office/drawing/2014/main" id="{156ACC46-9F03-F1C7-1D90-7EC8763F18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27" name="Line 138">
            <a:extLst>
              <a:ext uri="{FF2B5EF4-FFF2-40B4-BE49-F238E27FC236}">
                <a16:creationId xmlns:a16="http://schemas.microsoft.com/office/drawing/2014/main" id="{5EC529BE-80F2-68AC-CC1B-D0A9761401D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28" name="Line 139">
            <a:extLst>
              <a:ext uri="{FF2B5EF4-FFF2-40B4-BE49-F238E27FC236}">
                <a16:creationId xmlns:a16="http://schemas.microsoft.com/office/drawing/2014/main" id="{4D253A02-FDBA-F7EB-05B0-8E78C9A177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489722"/>
            <a:ext cx="162520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29" name="Line 140">
            <a:extLst>
              <a:ext uri="{FF2B5EF4-FFF2-40B4-BE49-F238E27FC236}">
                <a16:creationId xmlns:a16="http://schemas.microsoft.com/office/drawing/2014/main" id="{EFAC8B09-8A05-135E-0E97-98D6344D89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489723"/>
            <a:ext cx="0" cy="2381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30" name="Line 141">
            <a:extLst>
              <a:ext uri="{FF2B5EF4-FFF2-40B4-BE49-F238E27FC236}">
                <a16:creationId xmlns:a16="http://schemas.microsoft.com/office/drawing/2014/main" id="{1F97597B-1094-22A4-8E1E-55094AD09D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489723"/>
            <a:ext cx="0" cy="44529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31" name="Line 142">
            <a:extLst>
              <a:ext uri="{FF2B5EF4-FFF2-40B4-BE49-F238E27FC236}">
                <a16:creationId xmlns:a16="http://schemas.microsoft.com/office/drawing/2014/main" id="{D22BA635-E50B-AFDE-07BD-588798BC1CB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3489722"/>
            <a:ext cx="1191" cy="460772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32" name="Line 143">
            <a:extLst>
              <a:ext uri="{FF2B5EF4-FFF2-40B4-BE49-F238E27FC236}">
                <a16:creationId xmlns:a16="http://schemas.microsoft.com/office/drawing/2014/main" id="{4FF52787-6D46-8609-E5A1-B5D6C4D8176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988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33" name="Line 144">
            <a:extLst>
              <a:ext uri="{FF2B5EF4-FFF2-40B4-BE49-F238E27FC236}">
                <a16:creationId xmlns:a16="http://schemas.microsoft.com/office/drawing/2014/main" id="{06265288-FF7F-F031-DE64-D193FDFF76C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4750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34" name="Line 145">
            <a:extLst>
              <a:ext uri="{FF2B5EF4-FFF2-40B4-BE49-F238E27FC236}">
                <a16:creationId xmlns:a16="http://schemas.microsoft.com/office/drawing/2014/main" id="{3262F3AF-D84E-2F93-F95F-7A0952B6F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4750" y="2446735"/>
            <a:ext cx="103465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35" name="Line 146">
            <a:extLst>
              <a:ext uri="{FF2B5EF4-FFF2-40B4-BE49-F238E27FC236}">
                <a16:creationId xmlns:a16="http://schemas.microsoft.com/office/drawing/2014/main" id="{AF0628C4-BE0D-2D9E-C54A-A97A7E4216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4750" y="2595563"/>
            <a:ext cx="103465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36" name="Line 147">
            <a:extLst>
              <a:ext uri="{FF2B5EF4-FFF2-40B4-BE49-F238E27FC236}">
                <a16:creationId xmlns:a16="http://schemas.microsoft.com/office/drawing/2014/main" id="{2C07FFBD-9A61-3100-7F30-AA67D38EF4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4750" y="2745581"/>
            <a:ext cx="103465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37" name="Line 148">
            <a:extLst>
              <a:ext uri="{FF2B5EF4-FFF2-40B4-BE49-F238E27FC236}">
                <a16:creationId xmlns:a16="http://schemas.microsoft.com/office/drawing/2014/main" id="{010D7800-A2FC-B5E4-E45A-BD23F0B1848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4750" y="2893219"/>
            <a:ext cx="103465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38" name="Line 149">
            <a:extLst>
              <a:ext uri="{FF2B5EF4-FFF2-40B4-BE49-F238E27FC236}">
                <a16:creationId xmlns:a16="http://schemas.microsoft.com/office/drawing/2014/main" id="{A3BB89D0-E027-78A3-027B-858799225F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4750" y="3043238"/>
            <a:ext cx="103465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39" name="Line 150">
            <a:extLst>
              <a:ext uri="{FF2B5EF4-FFF2-40B4-BE49-F238E27FC236}">
                <a16:creationId xmlns:a16="http://schemas.microsoft.com/office/drawing/2014/main" id="{7D323436-3366-DB19-5912-06EFBF013B3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4750" y="3190875"/>
            <a:ext cx="103465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40" name="Line 151">
            <a:extLst>
              <a:ext uri="{FF2B5EF4-FFF2-40B4-BE49-F238E27FC236}">
                <a16:creationId xmlns:a16="http://schemas.microsoft.com/office/drawing/2014/main" id="{A1E09E2A-60AC-38DC-A1CB-E1AC008569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4750" y="3340894"/>
            <a:ext cx="103465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41" name="Line 152">
            <a:extLst>
              <a:ext uri="{FF2B5EF4-FFF2-40B4-BE49-F238E27FC236}">
                <a16:creationId xmlns:a16="http://schemas.microsoft.com/office/drawing/2014/main" id="{621C886B-8E2D-3C84-1C1D-60B3EBE0AC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42" name="Line 153">
            <a:extLst>
              <a:ext uri="{FF2B5EF4-FFF2-40B4-BE49-F238E27FC236}">
                <a16:creationId xmlns:a16="http://schemas.microsoft.com/office/drawing/2014/main" id="{F0091E19-286B-5012-52BF-C2A429E0A3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3489722"/>
            <a:ext cx="117991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43" name="Line 154">
            <a:extLst>
              <a:ext uri="{FF2B5EF4-FFF2-40B4-BE49-F238E27FC236}">
                <a16:creationId xmlns:a16="http://schemas.microsoft.com/office/drawing/2014/main" id="{DF2A6BEC-E5AD-62E9-2524-73A38F7D86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885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44" name="Line 155">
            <a:extLst>
              <a:ext uri="{FF2B5EF4-FFF2-40B4-BE49-F238E27FC236}">
                <a16:creationId xmlns:a16="http://schemas.microsoft.com/office/drawing/2014/main" id="{8B782771-CFD7-C77F-9E50-FAA64C1C87D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7041" y="1254919"/>
            <a:ext cx="0" cy="1042988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45" name="Line 156">
            <a:extLst>
              <a:ext uri="{FF2B5EF4-FFF2-40B4-BE49-F238E27FC236}">
                <a16:creationId xmlns:a16="http://schemas.microsoft.com/office/drawing/2014/main" id="{49B78F7C-D940-3910-6AB3-98D18C8586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5869" y="1254919"/>
            <a:ext cx="0" cy="104060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46" name="Line 157">
            <a:extLst>
              <a:ext uri="{FF2B5EF4-FFF2-40B4-BE49-F238E27FC236}">
                <a16:creationId xmlns:a16="http://schemas.microsoft.com/office/drawing/2014/main" id="{3191BA84-0B6C-B3BA-BF41-5ED5AD6CB7E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3506" y="1254919"/>
            <a:ext cx="0" cy="104060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47" name="Line 158">
            <a:extLst>
              <a:ext uri="{FF2B5EF4-FFF2-40B4-BE49-F238E27FC236}">
                <a16:creationId xmlns:a16="http://schemas.microsoft.com/office/drawing/2014/main" id="{9293E4DF-E1BB-96EA-CB8B-DE06DC7EEF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1144" y="1254919"/>
            <a:ext cx="0" cy="1042988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48" name="Line 159">
            <a:extLst>
              <a:ext uri="{FF2B5EF4-FFF2-40B4-BE49-F238E27FC236}">
                <a16:creationId xmlns:a16="http://schemas.microsoft.com/office/drawing/2014/main" id="{646BF3F5-0856-117A-482F-E7EC4D3BB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8781" y="1254919"/>
            <a:ext cx="0" cy="1042988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49" name="Line 160">
            <a:extLst>
              <a:ext uri="{FF2B5EF4-FFF2-40B4-BE49-F238E27FC236}">
                <a16:creationId xmlns:a16="http://schemas.microsoft.com/office/drawing/2014/main" id="{671D3182-1817-1D54-1919-DACC00D62B8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6419" y="1254919"/>
            <a:ext cx="0" cy="1042988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50" name="Line 161">
            <a:extLst>
              <a:ext uri="{FF2B5EF4-FFF2-40B4-BE49-F238E27FC236}">
                <a16:creationId xmlns:a16="http://schemas.microsoft.com/office/drawing/2014/main" id="{ACC7D2B8-22A2-D900-291A-679DD315A2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4056" y="1254919"/>
            <a:ext cx="0" cy="103822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51" name="Line 162">
            <a:extLst>
              <a:ext uri="{FF2B5EF4-FFF2-40B4-BE49-F238E27FC236}">
                <a16:creationId xmlns:a16="http://schemas.microsoft.com/office/drawing/2014/main" id="{1C610F96-C66F-D342-FD13-705A10A310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1254919"/>
            <a:ext cx="117991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52" name="Line 163">
            <a:extLst>
              <a:ext uri="{FF2B5EF4-FFF2-40B4-BE49-F238E27FC236}">
                <a16:creationId xmlns:a16="http://schemas.microsoft.com/office/drawing/2014/main" id="{B7084795-EB3B-90F0-C78C-E0A7AA208C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2297906"/>
            <a:ext cx="162639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53" name="Line 164">
            <a:extLst>
              <a:ext uri="{FF2B5EF4-FFF2-40B4-BE49-F238E27FC236}">
                <a16:creationId xmlns:a16="http://schemas.microsoft.com/office/drawing/2014/main" id="{31E1A9C2-AEA3-FE05-54D6-4488F8A49C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50594" y="1259681"/>
            <a:ext cx="0" cy="1038225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54" name="Line 165">
            <a:extLst>
              <a:ext uri="{FF2B5EF4-FFF2-40B4-BE49-F238E27FC236}">
                <a16:creationId xmlns:a16="http://schemas.microsoft.com/office/drawing/2014/main" id="{3ABD8939-D462-9366-A06A-FCE86F3586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885" y="1254919"/>
            <a:ext cx="0" cy="1042988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55" name="Rectangle 166">
            <a:extLst>
              <a:ext uri="{FF2B5EF4-FFF2-40B4-BE49-F238E27FC236}">
                <a16:creationId xmlns:a16="http://schemas.microsoft.com/office/drawing/2014/main" id="{3D16DA3A-8E6E-3E56-CD0A-8F8C85E719D5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723555" y="2765255"/>
            <a:ext cx="1125141" cy="319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Customer Requirements</a:t>
            </a:r>
          </a:p>
        </p:txBody>
      </p:sp>
      <p:sp>
        <p:nvSpPr>
          <p:cNvPr id="70756" name="Line 167">
            <a:extLst>
              <a:ext uri="{FF2B5EF4-FFF2-40B4-BE49-F238E27FC236}">
                <a16:creationId xmlns:a16="http://schemas.microsoft.com/office/drawing/2014/main" id="{B10D3217-E52D-3B57-A325-F287F5C069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885" y="3489723"/>
            <a:ext cx="0" cy="134064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57" name="Rectangle 168">
            <a:extLst>
              <a:ext uri="{FF2B5EF4-FFF2-40B4-BE49-F238E27FC236}">
                <a16:creationId xmlns:a16="http://schemas.microsoft.com/office/drawing/2014/main" id="{46482B23-21AF-7B31-89D8-01864C3AAD2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784182" y="2675813"/>
            <a:ext cx="1092994" cy="422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Prioritized Customer</a:t>
            </a:r>
          </a:p>
          <a:p>
            <a:pPr algn="ctr" eaLnBrk="1" hangingPunct="1"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Requirements</a:t>
            </a:r>
          </a:p>
        </p:txBody>
      </p:sp>
      <p:sp>
        <p:nvSpPr>
          <p:cNvPr id="70758" name="Line 169">
            <a:extLst>
              <a:ext uri="{FF2B5EF4-FFF2-40B4-BE49-F238E27FC236}">
                <a16:creationId xmlns:a16="http://schemas.microsoft.com/office/drawing/2014/main" id="{C9BA83D5-6972-8152-A973-FBDC008A7BA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885" y="4830366"/>
            <a:ext cx="444103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59" name="Line 170">
            <a:extLst>
              <a:ext uri="{FF2B5EF4-FFF2-40B4-BE49-F238E27FC236}">
                <a16:creationId xmlns:a16="http://schemas.microsoft.com/office/drawing/2014/main" id="{A3059EC9-D2CC-A562-8215-A9A8FB2CC1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50594" y="957263"/>
            <a:ext cx="0" cy="29765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60" name="Line 171">
            <a:extLst>
              <a:ext uri="{FF2B5EF4-FFF2-40B4-BE49-F238E27FC236}">
                <a16:creationId xmlns:a16="http://schemas.microsoft.com/office/drawing/2014/main" id="{D78CDD8B-3763-A99C-1989-82B99F4FD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885" y="957263"/>
            <a:ext cx="0" cy="29765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61" name="Line 172">
            <a:extLst>
              <a:ext uri="{FF2B5EF4-FFF2-40B4-BE49-F238E27FC236}">
                <a16:creationId xmlns:a16="http://schemas.microsoft.com/office/drawing/2014/main" id="{16A832F7-EAFB-FBBA-8210-6F357A21E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957263"/>
            <a:ext cx="117991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62" name="Rectangle 173">
            <a:extLst>
              <a:ext uri="{FF2B5EF4-FFF2-40B4-BE49-F238E27FC236}">
                <a16:creationId xmlns:a16="http://schemas.microsoft.com/office/drawing/2014/main" id="{3D743A57-1F24-1076-9E63-EBECA0092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9644" y="665560"/>
            <a:ext cx="1143000" cy="319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Technical Descriptors</a:t>
            </a:r>
          </a:p>
        </p:txBody>
      </p:sp>
      <p:sp>
        <p:nvSpPr>
          <p:cNvPr id="70763" name="Line 174">
            <a:extLst>
              <a:ext uri="{FF2B5EF4-FFF2-40B4-BE49-F238E27FC236}">
                <a16:creationId xmlns:a16="http://schemas.microsoft.com/office/drawing/2014/main" id="{DA6E376E-72AA-D324-173C-F2E7D33C72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987" y="2297906"/>
            <a:ext cx="442913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64" name="Line 175">
            <a:extLst>
              <a:ext uri="{FF2B5EF4-FFF2-40B4-BE49-F238E27FC236}">
                <a16:creationId xmlns:a16="http://schemas.microsoft.com/office/drawing/2014/main" id="{25A83949-1FFE-C2F2-711D-2465C1C5712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987" y="3489722"/>
            <a:ext cx="442913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65" name="Line 176">
            <a:extLst>
              <a:ext uri="{FF2B5EF4-FFF2-40B4-BE49-F238E27FC236}">
                <a16:creationId xmlns:a16="http://schemas.microsoft.com/office/drawing/2014/main" id="{C9D3A1D7-6346-7E91-B6CE-7809B68933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13560" y="1254919"/>
            <a:ext cx="0" cy="1042988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66" name="Line 177">
            <a:extLst>
              <a:ext uri="{FF2B5EF4-FFF2-40B4-BE49-F238E27FC236}">
                <a16:creationId xmlns:a16="http://schemas.microsoft.com/office/drawing/2014/main" id="{569CD603-0FE0-1D8F-F407-2D68B88D71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18285" y="957263"/>
            <a:ext cx="0" cy="134064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67" name="Line 178">
            <a:extLst>
              <a:ext uri="{FF2B5EF4-FFF2-40B4-BE49-F238E27FC236}">
                <a16:creationId xmlns:a16="http://schemas.microsoft.com/office/drawing/2014/main" id="{2E04FE8F-D690-4B56-44FA-D6BACAF9CF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3560" y="1254919"/>
            <a:ext cx="103584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68" name="Line 179">
            <a:extLst>
              <a:ext uri="{FF2B5EF4-FFF2-40B4-BE49-F238E27FC236}">
                <a16:creationId xmlns:a16="http://schemas.microsoft.com/office/drawing/2014/main" id="{370A9E06-E622-A21E-AB99-6792E32C86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8285" y="957263"/>
            <a:ext cx="1331119" cy="134064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69" name="Rectangle 180">
            <a:extLst>
              <a:ext uri="{FF2B5EF4-FFF2-40B4-BE49-F238E27FC236}">
                <a16:creationId xmlns:a16="http://schemas.microsoft.com/office/drawing/2014/main" id="{BBCDAA31-BE33-92A8-7DB4-B658454A7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0787" y="998935"/>
            <a:ext cx="569066" cy="20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Primary</a:t>
            </a:r>
          </a:p>
        </p:txBody>
      </p:sp>
      <p:sp>
        <p:nvSpPr>
          <p:cNvPr id="70770" name="Rectangle 181">
            <a:extLst>
              <a:ext uri="{FF2B5EF4-FFF2-40B4-BE49-F238E27FC236}">
                <a16:creationId xmlns:a16="http://schemas.microsoft.com/office/drawing/2014/main" id="{2E54BF74-E321-96AC-C4F7-D0E3A10DFEC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266507" y="1910422"/>
            <a:ext cx="569066" cy="20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Primary</a:t>
            </a:r>
          </a:p>
        </p:txBody>
      </p:sp>
      <p:sp>
        <p:nvSpPr>
          <p:cNvPr id="70771" name="Rectangle 182">
            <a:extLst>
              <a:ext uri="{FF2B5EF4-FFF2-40B4-BE49-F238E27FC236}">
                <a16:creationId xmlns:a16="http://schemas.microsoft.com/office/drawing/2014/main" id="{53B54F81-64B9-F6BE-2893-ADA8DA68515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512588" y="1824102"/>
            <a:ext cx="729366" cy="20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Secondary</a:t>
            </a:r>
          </a:p>
        </p:txBody>
      </p:sp>
      <p:sp>
        <p:nvSpPr>
          <p:cNvPr id="70772" name="Rectangle 183">
            <a:extLst>
              <a:ext uri="{FF2B5EF4-FFF2-40B4-BE49-F238E27FC236}">
                <a16:creationId xmlns:a16="http://schemas.microsoft.com/office/drawing/2014/main" id="{6A633422-E6BD-7463-5566-CF4877547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744" y="1333501"/>
            <a:ext cx="729366" cy="20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Secondary</a:t>
            </a:r>
          </a:p>
        </p:txBody>
      </p:sp>
      <p:sp>
        <p:nvSpPr>
          <p:cNvPr id="70773" name="Rectangle 184">
            <a:extLst>
              <a:ext uri="{FF2B5EF4-FFF2-40B4-BE49-F238E27FC236}">
                <a16:creationId xmlns:a16="http://schemas.microsoft.com/office/drawing/2014/main" id="{1D188671-0DEA-69A9-5729-C36342834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726" y="3505200"/>
            <a:ext cx="819135" cy="402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Technical</a:t>
            </a:r>
          </a:p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Competitive</a:t>
            </a:r>
          </a:p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Assessment</a:t>
            </a:r>
          </a:p>
        </p:txBody>
      </p:sp>
      <p:sp>
        <p:nvSpPr>
          <p:cNvPr id="70774" name="Rectangle 185">
            <a:extLst>
              <a:ext uri="{FF2B5EF4-FFF2-40B4-BE49-F238E27FC236}">
                <a16:creationId xmlns:a16="http://schemas.microsoft.com/office/drawing/2014/main" id="{024BA03D-7205-CFEF-A994-C4EE4CB70D32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5741201" y="4247110"/>
            <a:ext cx="819135" cy="402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Customer</a:t>
            </a:r>
          </a:p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Competitive</a:t>
            </a:r>
          </a:p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Assessment</a:t>
            </a:r>
          </a:p>
        </p:txBody>
      </p:sp>
      <p:sp>
        <p:nvSpPr>
          <p:cNvPr id="70775" name="Line 186">
            <a:extLst>
              <a:ext uri="{FF2B5EF4-FFF2-40B4-BE49-F238E27FC236}">
                <a16:creationId xmlns:a16="http://schemas.microsoft.com/office/drawing/2014/main" id="{0BD7867C-EB51-2B56-0818-134AE19B55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1713" y="3489722"/>
            <a:ext cx="0" cy="595313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76" name="Line 187">
            <a:extLst>
              <a:ext uri="{FF2B5EF4-FFF2-40B4-BE49-F238E27FC236}">
                <a16:creationId xmlns:a16="http://schemas.microsoft.com/office/drawing/2014/main" id="{5A62D386-686D-C375-2918-4F4803A7615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9350" y="3489722"/>
            <a:ext cx="0" cy="595313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77" name="Line 188">
            <a:extLst>
              <a:ext uri="{FF2B5EF4-FFF2-40B4-BE49-F238E27FC236}">
                <a16:creationId xmlns:a16="http://schemas.microsoft.com/office/drawing/2014/main" id="{7C4BB216-CFF7-EF73-9A4E-5DDD495856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988" y="3489723"/>
            <a:ext cx="0" cy="1340644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78" name="Line 189">
            <a:extLst>
              <a:ext uri="{FF2B5EF4-FFF2-40B4-BE49-F238E27FC236}">
                <a16:creationId xmlns:a16="http://schemas.microsoft.com/office/drawing/2014/main" id="{1995112F-0E3E-5B2C-DC99-5703FE6625CB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987" y="4830366"/>
            <a:ext cx="444104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79" name="Line 190">
            <a:extLst>
              <a:ext uri="{FF2B5EF4-FFF2-40B4-BE49-F238E27FC236}">
                <a16:creationId xmlns:a16="http://schemas.microsoft.com/office/drawing/2014/main" id="{196F90CE-3626-B834-E865-1376FB29DFF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885" y="4085035"/>
            <a:ext cx="444103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80" name="Rectangle 191">
            <a:extLst>
              <a:ext uri="{FF2B5EF4-FFF2-40B4-BE49-F238E27FC236}">
                <a16:creationId xmlns:a16="http://schemas.microsoft.com/office/drawing/2014/main" id="{6EC2CE54-912D-1FFD-9284-ACD7D4058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5719" y="3471863"/>
            <a:ext cx="410766" cy="49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Our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A’s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B’s</a:t>
            </a:r>
          </a:p>
        </p:txBody>
      </p:sp>
      <p:sp>
        <p:nvSpPr>
          <p:cNvPr id="70781" name="Line 192">
            <a:extLst>
              <a:ext uri="{FF2B5EF4-FFF2-40B4-BE49-F238E27FC236}">
                <a16:creationId xmlns:a16="http://schemas.microsoft.com/office/drawing/2014/main" id="{E7B8A671-D52A-D0AC-3ECA-9F3629BE52C7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6366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82" name="Line 193">
            <a:extLst>
              <a:ext uri="{FF2B5EF4-FFF2-40B4-BE49-F238E27FC236}">
                <a16:creationId xmlns:a16="http://schemas.microsoft.com/office/drawing/2014/main" id="{377B2B35-FCBC-EB2B-4576-E644AB7DDA0B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6366" y="3489722"/>
            <a:ext cx="0" cy="1337072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83" name="Line 194">
            <a:extLst>
              <a:ext uri="{FF2B5EF4-FFF2-40B4-BE49-F238E27FC236}">
                <a16:creationId xmlns:a16="http://schemas.microsoft.com/office/drawing/2014/main" id="{6D16FC05-4B2F-551C-49FD-AB2E8D75A4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19900" y="4830366"/>
            <a:ext cx="296466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84" name="Line 195">
            <a:extLst>
              <a:ext uri="{FF2B5EF4-FFF2-40B4-BE49-F238E27FC236}">
                <a16:creationId xmlns:a16="http://schemas.microsoft.com/office/drawing/2014/main" id="{37B046C2-5077-5174-CD36-4B7A3ABDB3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19900" y="2296717"/>
            <a:ext cx="706041" cy="119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85" name="Line 196">
            <a:extLst>
              <a:ext uri="{FF2B5EF4-FFF2-40B4-BE49-F238E27FC236}">
                <a16:creationId xmlns:a16="http://schemas.microsoft.com/office/drawing/2014/main" id="{29AA9ACF-2066-CE55-5C5A-B66C196A3F9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9900" y="3489722"/>
            <a:ext cx="296466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86" name="Line 197">
            <a:extLst>
              <a:ext uri="{FF2B5EF4-FFF2-40B4-BE49-F238E27FC236}">
                <a16:creationId xmlns:a16="http://schemas.microsoft.com/office/drawing/2014/main" id="{57C41279-5756-38F5-BFB4-A2993404D8E7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3269" y="3489722"/>
            <a:ext cx="422672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87" name="Line 198">
            <a:extLst>
              <a:ext uri="{FF2B5EF4-FFF2-40B4-BE49-F238E27FC236}">
                <a16:creationId xmlns:a16="http://schemas.microsoft.com/office/drawing/2014/main" id="{2DD94BDE-B027-6160-F19B-9ED8C9E8E0B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987" y="2446735"/>
            <a:ext cx="739379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88" name="Line 199">
            <a:extLst>
              <a:ext uri="{FF2B5EF4-FFF2-40B4-BE49-F238E27FC236}">
                <a16:creationId xmlns:a16="http://schemas.microsoft.com/office/drawing/2014/main" id="{57795BEC-EE2D-7721-2333-C43E44181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987" y="2893219"/>
            <a:ext cx="739379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89" name="Line 200">
            <a:extLst>
              <a:ext uri="{FF2B5EF4-FFF2-40B4-BE49-F238E27FC236}">
                <a16:creationId xmlns:a16="http://schemas.microsoft.com/office/drawing/2014/main" id="{353977D6-D761-60DB-D2AB-7FAAF07354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987" y="3043238"/>
            <a:ext cx="739379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90" name="Line 201">
            <a:extLst>
              <a:ext uri="{FF2B5EF4-FFF2-40B4-BE49-F238E27FC236}">
                <a16:creationId xmlns:a16="http://schemas.microsoft.com/office/drawing/2014/main" id="{3E23AC75-42B0-1328-B21E-C6F2F79D1BE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987" y="3190875"/>
            <a:ext cx="739379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91" name="Line 202">
            <a:extLst>
              <a:ext uri="{FF2B5EF4-FFF2-40B4-BE49-F238E27FC236}">
                <a16:creationId xmlns:a16="http://schemas.microsoft.com/office/drawing/2014/main" id="{4B6C0B86-0279-7F93-CB10-B28FAA914D8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987" y="3340894"/>
            <a:ext cx="739379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92" name="Line 203">
            <a:extLst>
              <a:ext uri="{FF2B5EF4-FFF2-40B4-BE49-F238E27FC236}">
                <a16:creationId xmlns:a16="http://schemas.microsoft.com/office/drawing/2014/main" id="{E89EEC01-37C3-03A5-A021-231B944CBCA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987" y="2595563"/>
            <a:ext cx="739379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93" name="Line 204">
            <a:extLst>
              <a:ext uri="{FF2B5EF4-FFF2-40B4-BE49-F238E27FC236}">
                <a16:creationId xmlns:a16="http://schemas.microsoft.com/office/drawing/2014/main" id="{0501FBEA-9E6F-EE0A-6D5F-DCC781F17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987" y="2745581"/>
            <a:ext cx="739379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94" name="Line 205">
            <a:extLst>
              <a:ext uri="{FF2B5EF4-FFF2-40B4-BE49-F238E27FC236}">
                <a16:creationId xmlns:a16="http://schemas.microsoft.com/office/drawing/2014/main" id="{8AEE07C9-9B21-BF58-3E30-87F3BEE2E84D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5869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95" name="Rectangle 206">
            <a:extLst>
              <a:ext uri="{FF2B5EF4-FFF2-40B4-BE49-F238E27FC236}">
                <a16:creationId xmlns:a16="http://schemas.microsoft.com/office/drawing/2014/main" id="{EC57C949-4EF4-28ED-A9C2-6613CBB41FB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090643" y="3775016"/>
            <a:ext cx="1319213" cy="786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Customer Importance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Target Value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Scale-up Factor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Sales Point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Absolute Weight</a:t>
            </a:r>
          </a:p>
        </p:txBody>
      </p:sp>
      <p:sp>
        <p:nvSpPr>
          <p:cNvPr id="70796" name="Line 207">
            <a:extLst>
              <a:ext uri="{FF2B5EF4-FFF2-40B4-BE49-F238E27FC236}">
                <a16:creationId xmlns:a16="http://schemas.microsoft.com/office/drawing/2014/main" id="{77AE2E88-B649-81B7-5660-A1F089D7F6DF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8729" y="2297907"/>
            <a:ext cx="0" cy="252650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97" name="Line 208">
            <a:extLst>
              <a:ext uri="{FF2B5EF4-FFF2-40B4-BE49-F238E27FC236}">
                <a16:creationId xmlns:a16="http://schemas.microsoft.com/office/drawing/2014/main" id="{791DDB68-6467-24C5-1C33-778D68A5A6D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3010" y="3936206"/>
            <a:ext cx="2809875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98" name="Line 209">
            <a:extLst>
              <a:ext uri="{FF2B5EF4-FFF2-40B4-BE49-F238E27FC236}">
                <a16:creationId xmlns:a16="http://schemas.microsoft.com/office/drawing/2014/main" id="{5CC24A49-580B-40A1-8B56-D1C4FDFB7EDE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8322" y="2297906"/>
            <a:ext cx="0" cy="119181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799" name="Line 210">
            <a:extLst>
              <a:ext uri="{FF2B5EF4-FFF2-40B4-BE49-F238E27FC236}">
                <a16:creationId xmlns:a16="http://schemas.microsoft.com/office/drawing/2014/main" id="{7E07F07D-3769-6A16-B94C-BA8CAF2D7BD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885" y="659607"/>
            <a:ext cx="0" cy="29765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800" name="Line 211">
            <a:extLst>
              <a:ext uri="{FF2B5EF4-FFF2-40B4-BE49-F238E27FC236}">
                <a16:creationId xmlns:a16="http://schemas.microsoft.com/office/drawing/2014/main" id="{10D838F1-9718-1299-0AA9-5A3D13D6E50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4625" y="2297906"/>
            <a:ext cx="0" cy="2528888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801" name="Line 212">
            <a:extLst>
              <a:ext uri="{FF2B5EF4-FFF2-40B4-BE49-F238E27FC236}">
                <a16:creationId xmlns:a16="http://schemas.microsoft.com/office/drawing/2014/main" id="{32C8630C-F42D-D45B-FA53-8D947DC30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2263" y="2297907"/>
            <a:ext cx="0" cy="252650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802" name="Line 213">
            <a:extLst>
              <a:ext uri="{FF2B5EF4-FFF2-40B4-BE49-F238E27FC236}">
                <a16:creationId xmlns:a16="http://schemas.microsoft.com/office/drawing/2014/main" id="{EC9FDC42-18C6-7F3D-110E-6F6A219E42C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9900" y="2297907"/>
            <a:ext cx="0" cy="252650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grpSp>
        <p:nvGrpSpPr>
          <p:cNvPr id="70803" name="Group 234">
            <a:extLst>
              <a:ext uri="{FF2B5EF4-FFF2-40B4-BE49-F238E27FC236}">
                <a16:creationId xmlns:a16="http://schemas.microsoft.com/office/drawing/2014/main" id="{664B6B7C-C8C5-E039-E309-95B472CCED6D}"/>
              </a:ext>
            </a:extLst>
          </p:cNvPr>
          <p:cNvGrpSpPr>
            <a:grpSpLocks/>
          </p:cNvGrpSpPr>
          <p:nvPr/>
        </p:nvGrpSpPr>
        <p:grpSpPr bwMode="auto">
          <a:xfrm>
            <a:off x="4785123" y="2336007"/>
            <a:ext cx="1110853" cy="964406"/>
            <a:chOff x="3059" y="1962"/>
            <a:chExt cx="933" cy="810"/>
          </a:xfrm>
        </p:grpSpPr>
        <p:sp>
          <p:nvSpPr>
            <p:cNvPr id="70854" name="Oval 214">
              <a:extLst>
                <a:ext uri="{FF2B5EF4-FFF2-40B4-BE49-F238E27FC236}">
                  <a16:creationId xmlns:a16="http://schemas.microsoft.com/office/drawing/2014/main" id="{C9287C46-DE59-6FEA-25A5-6F222299E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4" y="2341"/>
              <a:ext cx="54" cy="54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70855" name="Oval 215">
              <a:extLst>
                <a:ext uri="{FF2B5EF4-FFF2-40B4-BE49-F238E27FC236}">
                  <a16:creationId xmlns:a16="http://schemas.microsoft.com/office/drawing/2014/main" id="{9CC3B3A2-A0C7-2C62-64D9-DA18FC962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0" y="2356"/>
              <a:ext cx="23" cy="24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70856" name="Oval 216">
              <a:extLst>
                <a:ext uri="{FF2B5EF4-FFF2-40B4-BE49-F238E27FC236}">
                  <a16:creationId xmlns:a16="http://schemas.microsoft.com/office/drawing/2014/main" id="{F2D01ADF-91BF-5CA8-8C44-303124402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3" y="2091"/>
              <a:ext cx="54" cy="55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70857" name="AutoShape 217">
              <a:extLst>
                <a:ext uri="{FF2B5EF4-FFF2-40B4-BE49-F238E27FC236}">
                  <a16:creationId xmlns:a16="http://schemas.microsoft.com/office/drawing/2014/main" id="{682E2DB2-74A4-114A-D26F-D18F09D9C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0" y="2086"/>
              <a:ext cx="54" cy="55"/>
            </a:xfrm>
            <a:prstGeom prst="triangle">
              <a:avLst>
                <a:gd name="adj" fmla="val 49995"/>
              </a:avLst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70858" name="Oval 218">
              <a:extLst>
                <a:ext uri="{FF2B5EF4-FFF2-40B4-BE49-F238E27FC236}">
                  <a16:creationId xmlns:a16="http://schemas.microsoft.com/office/drawing/2014/main" id="{F8B99A56-CF7C-7F73-FFF8-11048A773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7" y="1965"/>
              <a:ext cx="54" cy="55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70859" name="Oval 219">
              <a:extLst>
                <a:ext uri="{FF2B5EF4-FFF2-40B4-BE49-F238E27FC236}">
                  <a16:creationId xmlns:a16="http://schemas.microsoft.com/office/drawing/2014/main" id="{A8A0B353-576E-9A1A-8A32-C4D2A53B0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2" y="1980"/>
              <a:ext cx="23" cy="26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70860" name="Oval 220">
              <a:extLst>
                <a:ext uri="{FF2B5EF4-FFF2-40B4-BE49-F238E27FC236}">
                  <a16:creationId xmlns:a16="http://schemas.microsoft.com/office/drawing/2014/main" id="{A70661E8-D505-2568-A5A9-668C5A8DC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1" y="2341"/>
              <a:ext cx="54" cy="54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70861" name="Oval 221">
              <a:extLst>
                <a:ext uri="{FF2B5EF4-FFF2-40B4-BE49-F238E27FC236}">
                  <a16:creationId xmlns:a16="http://schemas.microsoft.com/office/drawing/2014/main" id="{614C1CA0-DD54-FC80-CDD1-0755CDBAFC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6" y="2356"/>
              <a:ext cx="24" cy="24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70862" name="Oval 222">
              <a:extLst>
                <a:ext uri="{FF2B5EF4-FFF2-40B4-BE49-F238E27FC236}">
                  <a16:creationId xmlns:a16="http://schemas.microsoft.com/office/drawing/2014/main" id="{B05738C4-FF0E-EB65-42C9-65ABD45BFF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3" y="2465"/>
              <a:ext cx="54" cy="56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70863" name="Oval 223">
              <a:extLst>
                <a:ext uri="{FF2B5EF4-FFF2-40B4-BE49-F238E27FC236}">
                  <a16:creationId xmlns:a16="http://schemas.microsoft.com/office/drawing/2014/main" id="{C5CF99E6-6E43-5866-994F-67A8AAE58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8" y="2481"/>
              <a:ext cx="23" cy="25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70864" name="Oval 224">
              <a:extLst>
                <a:ext uri="{FF2B5EF4-FFF2-40B4-BE49-F238E27FC236}">
                  <a16:creationId xmlns:a16="http://schemas.microsoft.com/office/drawing/2014/main" id="{D1146DB3-4943-C446-34D4-BF10F756F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3" y="2715"/>
              <a:ext cx="54" cy="56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70865" name="Oval 225">
              <a:extLst>
                <a:ext uri="{FF2B5EF4-FFF2-40B4-BE49-F238E27FC236}">
                  <a16:creationId xmlns:a16="http://schemas.microsoft.com/office/drawing/2014/main" id="{D8D74421-0680-9A90-CAA9-EEAA1AB4C4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9" y="2732"/>
              <a:ext cx="23" cy="24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70866" name="Oval 226">
              <a:extLst>
                <a:ext uri="{FF2B5EF4-FFF2-40B4-BE49-F238E27FC236}">
                  <a16:creationId xmlns:a16="http://schemas.microsoft.com/office/drawing/2014/main" id="{C8C6019A-5183-8066-C01D-D1A77A48E2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" y="2342"/>
              <a:ext cx="54" cy="54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70867" name="Oval 227">
              <a:extLst>
                <a:ext uri="{FF2B5EF4-FFF2-40B4-BE49-F238E27FC236}">
                  <a16:creationId xmlns:a16="http://schemas.microsoft.com/office/drawing/2014/main" id="{3480E759-A28D-5D9A-7528-74A8A088B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8" y="2467"/>
              <a:ext cx="54" cy="55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70868" name="Oval 228">
              <a:extLst>
                <a:ext uri="{FF2B5EF4-FFF2-40B4-BE49-F238E27FC236}">
                  <a16:creationId xmlns:a16="http://schemas.microsoft.com/office/drawing/2014/main" id="{BEF91DC3-3492-F74C-1534-1F8DF9F52A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" y="2718"/>
              <a:ext cx="54" cy="54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70869" name="Oval 229">
              <a:extLst>
                <a:ext uri="{FF2B5EF4-FFF2-40B4-BE49-F238E27FC236}">
                  <a16:creationId xmlns:a16="http://schemas.microsoft.com/office/drawing/2014/main" id="{4BE6A2A5-8906-249E-5F0E-72A222A4B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3" y="2718"/>
              <a:ext cx="54" cy="54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70870" name="AutoShape 230">
              <a:extLst>
                <a:ext uri="{FF2B5EF4-FFF2-40B4-BE49-F238E27FC236}">
                  <a16:creationId xmlns:a16="http://schemas.microsoft.com/office/drawing/2014/main" id="{C4683A87-B28C-1250-3110-6A9F60C76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" y="1962"/>
              <a:ext cx="54" cy="54"/>
            </a:xfrm>
            <a:prstGeom prst="triangle">
              <a:avLst>
                <a:gd name="adj" fmla="val 49995"/>
              </a:avLst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70871" name="AutoShape 231">
              <a:extLst>
                <a:ext uri="{FF2B5EF4-FFF2-40B4-BE49-F238E27FC236}">
                  <a16:creationId xmlns:a16="http://schemas.microsoft.com/office/drawing/2014/main" id="{0C93C8CB-E6A5-C9F1-BFC6-93EFD26E4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8" y="2336"/>
              <a:ext cx="54" cy="55"/>
            </a:xfrm>
            <a:prstGeom prst="triangle">
              <a:avLst>
                <a:gd name="adj" fmla="val 49995"/>
              </a:avLst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70872" name="AutoShape 232">
              <a:extLst>
                <a:ext uri="{FF2B5EF4-FFF2-40B4-BE49-F238E27FC236}">
                  <a16:creationId xmlns:a16="http://schemas.microsoft.com/office/drawing/2014/main" id="{8986E638-D461-DFE6-7A9B-9E4B4C1FA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4" y="2462"/>
              <a:ext cx="54" cy="54"/>
            </a:xfrm>
            <a:prstGeom prst="triangle">
              <a:avLst>
                <a:gd name="adj" fmla="val 49995"/>
              </a:avLst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70873" name="AutoShape 233">
              <a:extLst>
                <a:ext uri="{FF2B5EF4-FFF2-40B4-BE49-F238E27FC236}">
                  <a16:creationId xmlns:a16="http://schemas.microsoft.com/office/drawing/2014/main" id="{3F366EC4-2409-EF6D-14F6-8E6FD887C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3" y="2587"/>
              <a:ext cx="54" cy="54"/>
            </a:xfrm>
            <a:prstGeom prst="triangle">
              <a:avLst>
                <a:gd name="adj" fmla="val 49995"/>
              </a:avLst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</p:grpSp>
      <p:grpSp>
        <p:nvGrpSpPr>
          <p:cNvPr id="70804" name="Group 237">
            <a:extLst>
              <a:ext uri="{FF2B5EF4-FFF2-40B4-BE49-F238E27FC236}">
                <a16:creationId xmlns:a16="http://schemas.microsoft.com/office/drawing/2014/main" id="{B8DD00CD-67A5-C759-8842-3B4E9A463587}"/>
              </a:ext>
            </a:extLst>
          </p:cNvPr>
          <p:cNvGrpSpPr>
            <a:grpSpLocks/>
          </p:cNvGrpSpPr>
          <p:nvPr/>
        </p:nvGrpSpPr>
        <p:grpSpPr bwMode="auto">
          <a:xfrm>
            <a:off x="4702969" y="3463534"/>
            <a:ext cx="1266826" cy="208359"/>
            <a:chOff x="2990" y="2909"/>
            <a:chExt cx="1064" cy="175"/>
          </a:xfrm>
        </p:grpSpPr>
        <p:sp>
          <p:nvSpPr>
            <p:cNvPr id="70852" name="Rectangle 235">
              <a:extLst>
                <a:ext uri="{FF2B5EF4-FFF2-40B4-BE49-F238E27FC236}">
                  <a16:creationId xmlns:a16="http://schemas.microsoft.com/office/drawing/2014/main" id="{505FC0EC-02A5-3794-9157-5AFBE1889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0" y="2909"/>
              <a:ext cx="575" cy="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9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1   3   4   2</a:t>
              </a:r>
            </a:p>
          </p:txBody>
        </p:sp>
        <p:sp>
          <p:nvSpPr>
            <p:cNvPr id="70853" name="Rectangle 236">
              <a:extLst>
                <a:ext uri="{FF2B5EF4-FFF2-40B4-BE49-F238E27FC236}">
                  <a16:creationId xmlns:a16="http://schemas.microsoft.com/office/drawing/2014/main" id="{CF38BE28-4C8B-689A-3935-675D7D551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9" y="2909"/>
              <a:ext cx="575" cy="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9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1   2   1   4</a:t>
              </a:r>
            </a:p>
          </p:txBody>
        </p:sp>
      </p:grpSp>
      <p:sp>
        <p:nvSpPr>
          <p:cNvPr id="70805" name="Rectangle 238">
            <a:extLst>
              <a:ext uri="{FF2B5EF4-FFF2-40B4-BE49-F238E27FC236}">
                <a16:creationId xmlns:a16="http://schemas.microsoft.com/office/drawing/2014/main" id="{437C4DF0-A013-7758-4906-454223495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8" y="2253854"/>
            <a:ext cx="203581" cy="1276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70806" name="Rectangle 239">
            <a:extLst>
              <a:ext uri="{FF2B5EF4-FFF2-40B4-BE49-F238E27FC236}">
                <a16:creationId xmlns:a16="http://schemas.microsoft.com/office/drawing/2014/main" id="{E6E0F030-F88D-DC7D-4767-78B5414A0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7249" y="2253854"/>
            <a:ext cx="203581" cy="1276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70807" name="Rectangle 240">
            <a:extLst>
              <a:ext uri="{FF2B5EF4-FFF2-40B4-BE49-F238E27FC236}">
                <a16:creationId xmlns:a16="http://schemas.microsoft.com/office/drawing/2014/main" id="{2151E172-0007-A68E-7CBA-61D6E3C0E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5582" y="2708673"/>
            <a:ext cx="370285" cy="344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750" b="1" dirty="0">
                <a:solidFill>
                  <a:srgbClr val="FFFFFF"/>
                </a:solidFill>
                <a:latin typeface="Arial" panose="020B0604020202020204" pitchFamily="34" charset="0"/>
              </a:rPr>
              <a:t>1.5</a:t>
            </a:r>
          </a:p>
          <a:p>
            <a:pPr algn="ctr" eaLnBrk="1" hangingPunct="1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750" b="1" dirty="0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70808" name="Rectangle 241">
            <a:extLst>
              <a:ext uri="{FF2B5EF4-FFF2-40B4-BE49-F238E27FC236}">
                <a16:creationId xmlns:a16="http://schemas.microsoft.com/office/drawing/2014/main" id="{F4108E14-D961-C6A6-630E-0D0D92029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6550" y="2278857"/>
            <a:ext cx="427435" cy="1236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128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750" b="1" dirty="0">
                <a:solidFill>
                  <a:srgbClr val="FFFFFF"/>
                </a:solidFill>
                <a:latin typeface="Arial" panose="020B0604020202020204" pitchFamily="34" charset="0"/>
              </a:rPr>
              <a:t>1.2</a:t>
            </a:r>
          </a:p>
          <a:p>
            <a:pPr algn="ctr" eaLnBrk="1" hangingPunct="1">
              <a:lnSpc>
                <a:spcPct val="128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750" b="1" dirty="0">
                <a:solidFill>
                  <a:srgbClr val="FFFFFF"/>
                </a:solidFill>
                <a:latin typeface="Arial" panose="020B0604020202020204" pitchFamily="34" charset="0"/>
              </a:rPr>
              <a:t>1.5</a:t>
            </a:r>
          </a:p>
          <a:p>
            <a:pPr algn="ctr" eaLnBrk="1" hangingPunct="1">
              <a:lnSpc>
                <a:spcPct val="128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750" b="1" dirty="0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  <a:p>
            <a:pPr algn="ctr" eaLnBrk="1" hangingPunct="1">
              <a:lnSpc>
                <a:spcPct val="128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750" b="1" dirty="0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  <a:p>
            <a:pPr algn="ctr" eaLnBrk="1" hangingPunct="1">
              <a:lnSpc>
                <a:spcPct val="128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750" b="1" dirty="0">
                <a:solidFill>
                  <a:srgbClr val="FFFFFF"/>
                </a:solidFill>
                <a:latin typeface="Arial" panose="020B0604020202020204" pitchFamily="34" charset="0"/>
              </a:rPr>
              <a:t>1.5</a:t>
            </a:r>
          </a:p>
          <a:p>
            <a:pPr algn="ctr" eaLnBrk="1" hangingPunct="1">
              <a:lnSpc>
                <a:spcPct val="128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750" b="1" dirty="0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  <a:p>
            <a:pPr algn="ctr" eaLnBrk="1" hangingPunct="1">
              <a:lnSpc>
                <a:spcPct val="128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750" b="1" dirty="0">
                <a:solidFill>
                  <a:srgbClr val="FFFFFF"/>
                </a:solidFill>
                <a:latin typeface="Arial" panose="020B0604020202020204" pitchFamily="34" charset="0"/>
              </a:rPr>
              <a:t>1.5</a:t>
            </a:r>
          </a:p>
          <a:p>
            <a:pPr algn="ctr" eaLnBrk="1" hangingPunct="1">
              <a:lnSpc>
                <a:spcPct val="128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750" b="1" dirty="0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70809" name="Rectangle 242">
            <a:extLst>
              <a:ext uri="{FF2B5EF4-FFF2-40B4-BE49-F238E27FC236}">
                <a16:creationId xmlns:a16="http://schemas.microsoft.com/office/drawing/2014/main" id="{F0C2F6B6-F8C5-A456-C653-EB7BC35E2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8235" y="2684860"/>
            <a:ext cx="433388" cy="39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15</a:t>
            </a:r>
          </a:p>
          <a:p>
            <a:pPr algn="ctr" eaLnBrk="1" hangingPunct="1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70810" name="Line 243">
            <a:extLst>
              <a:ext uri="{FF2B5EF4-FFF2-40B4-BE49-F238E27FC236}">
                <a16:creationId xmlns:a16="http://schemas.microsoft.com/office/drawing/2014/main" id="{91B67A0A-72E7-24CF-6020-11CC18090FA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885" y="3489722"/>
            <a:ext cx="444103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811" name="Line 244">
            <a:extLst>
              <a:ext uri="{FF2B5EF4-FFF2-40B4-BE49-F238E27FC236}">
                <a16:creationId xmlns:a16="http://schemas.microsoft.com/office/drawing/2014/main" id="{63901678-6023-48E3-FFE3-3AFFA5E0EE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594" y="659606"/>
            <a:ext cx="117991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812" name="Line 245">
            <a:extLst>
              <a:ext uri="{FF2B5EF4-FFF2-40B4-BE49-F238E27FC236}">
                <a16:creationId xmlns:a16="http://schemas.microsoft.com/office/drawing/2014/main" id="{A293832C-EF23-7A05-3AE4-84ED8B336A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8285" y="957263"/>
            <a:ext cx="1328738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813" name="Line 246">
            <a:extLst>
              <a:ext uri="{FF2B5EF4-FFF2-40B4-BE49-F238E27FC236}">
                <a16:creationId xmlns:a16="http://schemas.microsoft.com/office/drawing/2014/main" id="{F616DF4D-7272-83AE-710C-89FFBDAACD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50594" y="659607"/>
            <a:ext cx="0" cy="297656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 dirty="0"/>
          </a:p>
        </p:txBody>
      </p:sp>
      <p:sp>
        <p:nvSpPr>
          <p:cNvPr id="70814" name="Rectangle 247">
            <a:extLst>
              <a:ext uri="{FF2B5EF4-FFF2-40B4-BE49-F238E27FC236}">
                <a16:creationId xmlns:a16="http://schemas.microsoft.com/office/drawing/2014/main" id="{C2F1364A-2DCF-A602-2376-20EAD45B45A2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5959079" y="3553134"/>
            <a:ext cx="410766" cy="49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Our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A’s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anose="020B0604020202020204" pitchFamily="34" charset="0"/>
              </a:rPr>
              <a:t>B’s</a:t>
            </a:r>
          </a:p>
        </p:txBody>
      </p:sp>
      <p:grpSp>
        <p:nvGrpSpPr>
          <p:cNvPr id="70815" name="Group 261">
            <a:extLst>
              <a:ext uri="{FF2B5EF4-FFF2-40B4-BE49-F238E27FC236}">
                <a16:creationId xmlns:a16="http://schemas.microsoft.com/office/drawing/2014/main" id="{BDF26D42-26DC-96EC-8442-7DB6A7A03F8E}"/>
              </a:ext>
            </a:extLst>
          </p:cNvPr>
          <p:cNvGrpSpPr>
            <a:grpSpLocks/>
          </p:cNvGrpSpPr>
          <p:nvPr/>
        </p:nvGrpSpPr>
        <p:grpSpPr bwMode="auto">
          <a:xfrm>
            <a:off x="5859066" y="507206"/>
            <a:ext cx="2101453" cy="1644254"/>
            <a:chOff x="3961" y="426"/>
            <a:chExt cx="1765" cy="1381"/>
          </a:xfrm>
        </p:grpSpPr>
        <p:sp>
          <p:nvSpPr>
            <p:cNvPr id="70839" name="Rectangle 248">
              <a:extLst>
                <a:ext uri="{FF2B5EF4-FFF2-40B4-BE49-F238E27FC236}">
                  <a16:creationId xmlns:a16="http://schemas.microsoft.com/office/drawing/2014/main" id="{ABC83AA1-9691-24DD-0550-93F713A5B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1" y="426"/>
              <a:ext cx="1765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Relationship between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Customer Requirements and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Technical Descriptors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2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WHATs vs. HOWs</a:t>
              </a:r>
            </a:p>
          </p:txBody>
        </p:sp>
        <p:sp>
          <p:nvSpPr>
            <p:cNvPr id="70840" name="Rectangle 249">
              <a:extLst>
                <a:ext uri="{FF2B5EF4-FFF2-40B4-BE49-F238E27FC236}">
                  <a16:creationId xmlns:a16="http://schemas.microsoft.com/office/drawing/2014/main" id="{44C42EDB-AA44-938C-B0F7-77D23F048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9" y="1321"/>
              <a:ext cx="481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Strong</a:t>
              </a:r>
            </a:p>
          </p:txBody>
        </p:sp>
        <p:sp>
          <p:nvSpPr>
            <p:cNvPr id="70841" name="Rectangle 250">
              <a:extLst>
                <a:ext uri="{FF2B5EF4-FFF2-40B4-BE49-F238E27FC236}">
                  <a16:creationId xmlns:a16="http://schemas.microsoft.com/office/drawing/2014/main" id="{6FCDD34D-D5B8-0400-C91B-2A6495C0B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464"/>
              <a:ext cx="544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Medium</a:t>
              </a:r>
            </a:p>
          </p:txBody>
        </p:sp>
        <p:sp>
          <p:nvSpPr>
            <p:cNvPr id="70842" name="Rectangle 251">
              <a:extLst>
                <a:ext uri="{FF2B5EF4-FFF2-40B4-BE49-F238E27FC236}">
                  <a16:creationId xmlns:a16="http://schemas.microsoft.com/office/drawing/2014/main" id="{95A9B8DF-175A-8B3E-09E9-97BB70194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616"/>
              <a:ext cx="413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Weak</a:t>
              </a:r>
            </a:p>
          </p:txBody>
        </p:sp>
        <p:sp>
          <p:nvSpPr>
            <p:cNvPr id="70843" name="Oval 252">
              <a:extLst>
                <a:ext uri="{FF2B5EF4-FFF2-40B4-BE49-F238E27FC236}">
                  <a16:creationId xmlns:a16="http://schemas.microsoft.com/office/drawing/2014/main" id="{39296454-1BAF-7037-85AE-4359E5E55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1" y="1482"/>
              <a:ext cx="60" cy="63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grpSp>
          <p:nvGrpSpPr>
            <p:cNvPr id="70844" name="Group 255">
              <a:extLst>
                <a:ext uri="{FF2B5EF4-FFF2-40B4-BE49-F238E27FC236}">
                  <a16:creationId xmlns:a16="http://schemas.microsoft.com/office/drawing/2014/main" id="{261EF2B1-14BF-25AF-EAD9-75935DD6F4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7" y="1337"/>
              <a:ext cx="60" cy="64"/>
              <a:chOff x="4697" y="1337"/>
              <a:chExt cx="60" cy="64"/>
            </a:xfrm>
          </p:grpSpPr>
          <p:sp>
            <p:nvSpPr>
              <p:cNvPr id="70850" name="Oval 253">
                <a:extLst>
                  <a:ext uri="{FF2B5EF4-FFF2-40B4-BE49-F238E27FC236}">
                    <a16:creationId xmlns:a16="http://schemas.microsoft.com/office/drawing/2014/main" id="{9BAE952E-4CDF-6F9D-0DFE-D2F304C594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7" y="1337"/>
                <a:ext cx="60" cy="64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  <p:sp>
            <p:nvSpPr>
              <p:cNvPr id="70851" name="Oval 254">
                <a:extLst>
                  <a:ext uri="{FF2B5EF4-FFF2-40B4-BE49-F238E27FC236}">
                    <a16:creationId xmlns:a16="http://schemas.microsoft.com/office/drawing/2014/main" id="{3B843170-D232-B544-6752-364A8692DC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4" y="1355"/>
                <a:ext cx="26" cy="29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</p:grpSp>
        <p:sp>
          <p:nvSpPr>
            <p:cNvPr id="70845" name="Rectangle 256">
              <a:extLst>
                <a:ext uri="{FF2B5EF4-FFF2-40B4-BE49-F238E27FC236}">
                  <a16:creationId xmlns:a16="http://schemas.microsoft.com/office/drawing/2014/main" id="{2AFA80E2-6105-AEAA-8AAF-2A0525240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" y="1321"/>
              <a:ext cx="246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+9</a:t>
              </a:r>
            </a:p>
          </p:txBody>
        </p:sp>
        <p:sp>
          <p:nvSpPr>
            <p:cNvPr id="70846" name="Rectangle 257">
              <a:extLst>
                <a:ext uri="{FF2B5EF4-FFF2-40B4-BE49-F238E27FC236}">
                  <a16:creationId xmlns:a16="http://schemas.microsoft.com/office/drawing/2014/main" id="{53DF31BF-3C52-654C-6359-B40B4715B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" y="1464"/>
              <a:ext cx="246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+3</a:t>
              </a:r>
            </a:p>
          </p:txBody>
        </p:sp>
        <p:sp>
          <p:nvSpPr>
            <p:cNvPr id="70847" name="Rectangle 258">
              <a:extLst>
                <a:ext uri="{FF2B5EF4-FFF2-40B4-BE49-F238E27FC236}">
                  <a16:creationId xmlns:a16="http://schemas.microsoft.com/office/drawing/2014/main" id="{770DA8D4-7AEB-59E9-CF26-221238871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5" y="1286"/>
              <a:ext cx="803" cy="521"/>
            </a:xfrm>
            <a:prstGeom prst="rect">
              <a:avLst/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sp>
          <p:nvSpPr>
            <p:cNvPr id="70848" name="Rectangle 259">
              <a:extLst>
                <a:ext uri="{FF2B5EF4-FFF2-40B4-BE49-F238E27FC236}">
                  <a16:creationId xmlns:a16="http://schemas.microsoft.com/office/drawing/2014/main" id="{8A17F65B-72BE-DBFD-78CD-4AC18F244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" y="1616"/>
              <a:ext cx="246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+1</a:t>
              </a:r>
            </a:p>
          </p:txBody>
        </p:sp>
        <p:sp>
          <p:nvSpPr>
            <p:cNvPr id="70849" name="AutoShape 260">
              <a:extLst>
                <a:ext uri="{FF2B5EF4-FFF2-40B4-BE49-F238E27FC236}">
                  <a16:creationId xmlns:a16="http://schemas.microsoft.com/office/drawing/2014/main" id="{79A89C39-7A7E-3882-C73F-46402939E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632"/>
              <a:ext cx="60" cy="64"/>
            </a:xfrm>
            <a:prstGeom prst="triangle">
              <a:avLst>
                <a:gd name="adj" fmla="val 49995"/>
              </a:avLst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</p:grpSp>
      <p:grpSp>
        <p:nvGrpSpPr>
          <p:cNvPr id="70816" name="Group 283">
            <a:extLst>
              <a:ext uri="{FF2B5EF4-FFF2-40B4-BE49-F238E27FC236}">
                <a16:creationId xmlns:a16="http://schemas.microsoft.com/office/drawing/2014/main" id="{16B6F752-D0AA-AA92-4F66-8FF1C43ECD94}"/>
              </a:ext>
            </a:extLst>
          </p:cNvPr>
          <p:cNvGrpSpPr>
            <a:grpSpLocks/>
          </p:cNvGrpSpPr>
          <p:nvPr/>
        </p:nvGrpSpPr>
        <p:grpSpPr bwMode="auto">
          <a:xfrm>
            <a:off x="1364456" y="2046685"/>
            <a:ext cx="1587104" cy="825103"/>
            <a:chOff x="186" y="1719"/>
            <a:chExt cx="1333" cy="693"/>
          </a:xfrm>
        </p:grpSpPr>
        <p:sp>
          <p:nvSpPr>
            <p:cNvPr id="70818" name="Rectangle 262">
              <a:extLst>
                <a:ext uri="{FF2B5EF4-FFF2-40B4-BE49-F238E27FC236}">
                  <a16:creationId xmlns:a16="http://schemas.microsoft.com/office/drawing/2014/main" id="{C1ABEA32-F87A-62B5-3085-5BBADC262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" y="1783"/>
              <a:ext cx="945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Strong Positive</a:t>
              </a:r>
            </a:p>
          </p:txBody>
        </p:sp>
        <p:sp>
          <p:nvSpPr>
            <p:cNvPr id="70819" name="Rectangle 263">
              <a:extLst>
                <a:ext uri="{FF2B5EF4-FFF2-40B4-BE49-F238E27FC236}">
                  <a16:creationId xmlns:a16="http://schemas.microsoft.com/office/drawing/2014/main" id="{AAC19EB2-FBF4-507A-4883-A2B7939E2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926"/>
              <a:ext cx="551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Positive</a:t>
              </a:r>
            </a:p>
          </p:txBody>
        </p:sp>
        <p:sp>
          <p:nvSpPr>
            <p:cNvPr id="70820" name="Rectangle 264">
              <a:extLst>
                <a:ext uri="{FF2B5EF4-FFF2-40B4-BE49-F238E27FC236}">
                  <a16:creationId xmlns:a16="http://schemas.microsoft.com/office/drawing/2014/main" id="{5E9DFDE7-DC68-A7D4-EFAE-C1E09B640B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078"/>
              <a:ext cx="590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Negative</a:t>
              </a:r>
            </a:p>
          </p:txBody>
        </p:sp>
        <p:sp>
          <p:nvSpPr>
            <p:cNvPr id="70821" name="Oval 265">
              <a:extLst>
                <a:ext uri="{FF2B5EF4-FFF2-40B4-BE49-F238E27FC236}">
                  <a16:creationId xmlns:a16="http://schemas.microsoft.com/office/drawing/2014/main" id="{481605C3-E498-3E49-C521-2CA84FD10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" y="1944"/>
              <a:ext cx="59" cy="64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  <p:grpSp>
          <p:nvGrpSpPr>
            <p:cNvPr id="70822" name="Group 268">
              <a:extLst>
                <a:ext uri="{FF2B5EF4-FFF2-40B4-BE49-F238E27FC236}">
                  <a16:creationId xmlns:a16="http://schemas.microsoft.com/office/drawing/2014/main" id="{139AE240-B0DC-B31B-A4B5-F6EA141121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8" y="1799"/>
              <a:ext cx="59" cy="64"/>
              <a:chOff x="448" y="1799"/>
              <a:chExt cx="59" cy="64"/>
            </a:xfrm>
          </p:grpSpPr>
          <p:sp>
            <p:nvSpPr>
              <p:cNvPr id="70837" name="Oval 266">
                <a:extLst>
                  <a:ext uri="{FF2B5EF4-FFF2-40B4-BE49-F238E27FC236}">
                    <a16:creationId xmlns:a16="http://schemas.microsoft.com/office/drawing/2014/main" id="{4E3C234D-23D7-91BB-AD60-D7D19073DA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" y="1799"/>
                <a:ext cx="59" cy="64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  <p:sp>
            <p:nvSpPr>
              <p:cNvPr id="70838" name="Oval 267">
                <a:extLst>
                  <a:ext uri="{FF2B5EF4-FFF2-40B4-BE49-F238E27FC236}">
                    <a16:creationId xmlns:a16="http://schemas.microsoft.com/office/drawing/2014/main" id="{022E3395-3DD9-B8F0-936F-781A0BE07E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" y="1817"/>
                <a:ext cx="25" cy="30"/>
              </a:xfrm>
              <a:prstGeom prst="ellips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1pPr>
                <a:lvl2pPr marL="742950" indent="-28575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2pPr>
                <a:lvl3pPr marL="11430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3pPr>
                <a:lvl4pPr marL="16002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4pPr>
                <a:lvl5pPr marL="2057400" indent="-228600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5pPr>
                <a:lvl6pPr marL="25146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6pPr>
                <a:lvl7pPr marL="29718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7pPr>
                <a:lvl8pPr marL="34290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8pPr>
                <a:lvl9pPr marL="3886200" indent="-228600" defTabSz="457200" eaLnBrk="0" fontAlgn="base" hangingPunct="0">
                  <a:lnSpc>
                    <a:spcPct val="12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>
                    <a:solidFill>
                      <a:schemeClr val="tx1"/>
                    </a:solidFill>
                    <a:latin typeface="Tw Cen MT" panose="020B0602020104020603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350" dirty="0"/>
              </a:p>
            </p:txBody>
          </p:sp>
        </p:grpSp>
        <p:grpSp>
          <p:nvGrpSpPr>
            <p:cNvPr id="70823" name="Group 273">
              <a:extLst>
                <a:ext uri="{FF2B5EF4-FFF2-40B4-BE49-F238E27FC236}">
                  <a16:creationId xmlns:a16="http://schemas.microsoft.com/office/drawing/2014/main" id="{943CF153-25FD-78ED-973E-A4742CE9C9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" y="2225"/>
              <a:ext cx="68" cy="71"/>
              <a:chOff x="452" y="2225"/>
              <a:chExt cx="68" cy="71"/>
            </a:xfrm>
          </p:grpSpPr>
          <p:sp>
            <p:nvSpPr>
              <p:cNvPr id="70833" name="Line 269">
                <a:extLst>
                  <a:ext uri="{FF2B5EF4-FFF2-40B4-BE49-F238E27FC236}">
                    <a16:creationId xmlns:a16="http://schemas.microsoft.com/office/drawing/2014/main" id="{05590832-7CE5-A837-7DC8-3230B21C6A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" y="2260"/>
                <a:ext cx="68" cy="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70834" name="Line 270">
                <a:extLst>
                  <a:ext uri="{FF2B5EF4-FFF2-40B4-BE49-F238E27FC236}">
                    <a16:creationId xmlns:a16="http://schemas.microsoft.com/office/drawing/2014/main" id="{EEE054E6-FAFE-7301-7EC7-7D5A7E15FA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6" y="2225"/>
                <a:ext cx="0" cy="71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70835" name="Line 271">
                <a:extLst>
                  <a:ext uri="{FF2B5EF4-FFF2-40B4-BE49-F238E27FC236}">
                    <a16:creationId xmlns:a16="http://schemas.microsoft.com/office/drawing/2014/main" id="{78EB4778-CE11-421C-AB43-A913ADD086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2" y="2225"/>
                <a:ext cx="68" cy="71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70836" name="Line 272">
                <a:extLst>
                  <a:ext uri="{FF2B5EF4-FFF2-40B4-BE49-F238E27FC236}">
                    <a16:creationId xmlns:a16="http://schemas.microsoft.com/office/drawing/2014/main" id="{FE1B7BB8-3467-2CD7-616E-08CE9266CD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52" y="2225"/>
                <a:ext cx="68" cy="71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</p:grpSp>
        <p:grpSp>
          <p:nvGrpSpPr>
            <p:cNvPr id="70824" name="Group 276">
              <a:extLst>
                <a:ext uri="{FF2B5EF4-FFF2-40B4-BE49-F238E27FC236}">
                  <a16:creationId xmlns:a16="http://schemas.microsoft.com/office/drawing/2014/main" id="{2AB09B67-CF6C-39A1-8B51-F413BD8805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" y="2082"/>
              <a:ext cx="68" cy="71"/>
              <a:chOff x="452" y="2082"/>
              <a:chExt cx="68" cy="71"/>
            </a:xfrm>
          </p:grpSpPr>
          <p:sp>
            <p:nvSpPr>
              <p:cNvPr id="70831" name="Line 274">
                <a:extLst>
                  <a:ext uri="{FF2B5EF4-FFF2-40B4-BE49-F238E27FC236}">
                    <a16:creationId xmlns:a16="http://schemas.microsoft.com/office/drawing/2014/main" id="{40C284EB-8C04-DEDF-B709-F73038F02D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2" y="2082"/>
                <a:ext cx="68" cy="71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  <p:sp>
            <p:nvSpPr>
              <p:cNvPr id="70832" name="Line 275">
                <a:extLst>
                  <a:ext uri="{FF2B5EF4-FFF2-40B4-BE49-F238E27FC236}">
                    <a16:creationId xmlns:a16="http://schemas.microsoft.com/office/drawing/2014/main" id="{DAA2F174-B008-633E-E06E-E589C9EF2F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52" y="2082"/>
                <a:ext cx="68" cy="71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1350" dirty="0"/>
              </a:p>
            </p:txBody>
          </p:sp>
        </p:grpSp>
        <p:sp>
          <p:nvSpPr>
            <p:cNvPr id="70825" name="Rectangle 277">
              <a:extLst>
                <a:ext uri="{FF2B5EF4-FFF2-40B4-BE49-F238E27FC236}">
                  <a16:creationId xmlns:a16="http://schemas.microsoft.com/office/drawing/2014/main" id="{639BE4CA-893E-5548-B10B-D3B7AA43B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" y="2212"/>
              <a:ext cx="984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Strong Negative</a:t>
              </a:r>
            </a:p>
          </p:txBody>
        </p:sp>
        <p:sp>
          <p:nvSpPr>
            <p:cNvPr id="70826" name="Rectangle 278">
              <a:extLst>
                <a:ext uri="{FF2B5EF4-FFF2-40B4-BE49-F238E27FC236}">
                  <a16:creationId xmlns:a16="http://schemas.microsoft.com/office/drawing/2014/main" id="{7FAC5C1E-A1E8-6B8F-B0CB-4D89085F43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" y="1783"/>
              <a:ext cx="246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+9</a:t>
              </a:r>
            </a:p>
          </p:txBody>
        </p:sp>
        <p:sp>
          <p:nvSpPr>
            <p:cNvPr id="70827" name="Rectangle 279">
              <a:extLst>
                <a:ext uri="{FF2B5EF4-FFF2-40B4-BE49-F238E27FC236}">
                  <a16:creationId xmlns:a16="http://schemas.microsoft.com/office/drawing/2014/main" id="{5989513A-56C5-B46E-7745-03ABBB6BF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" y="1926"/>
              <a:ext cx="246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+3</a:t>
              </a:r>
            </a:p>
          </p:txBody>
        </p:sp>
        <p:sp>
          <p:nvSpPr>
            <p:cNvPr id="70828" name="Rectangle 280">
              <a:extLst>
                <a:ext uri="{FF2B5EF4-FFF2-40B4-BE49-F238E27FC236}">
                  <a16:creationId xmlns:a16="http://schemas.microsoft.com/office/drawing/2014/main" id="{4A06030C-E070-660D-3B1B-5D46687D9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" y="2069"/>
              <a:ext cx="218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-3</a:t>
              </a:r>
            </a:p>
          </p:txBody>
        </p:sp>
        <p:sp>
          <p:nvSpPr>
            <p:cNvPr id="70829" name="Rectangle 281">
              <a:extLst>
                <a:ext uri="{FF2B5EF4-FFF2-40B4-BE49-F238E27FC236}">
                  <a16:creationId xmlns:a16="http://schemas.microsoft.com/office/drawing/2014/main" id="{33A4F911-FE6F-0594-759B-9C8EA88DF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" y="2212"/>
              <a:ext cx="218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05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-9</a:t>
              </a:r>
            </a:p>
          </p:txBody>
        </p:sp>
        <p:sp>
          <p:nvSpPr>
            <p:cNvPr id="70830" name="Rectangle 282">
              <a:extLst>
                <a:ext uri="{FF2B5EF4-FFF2-40B4-BE49-F238E27FC236}">
                  <a16:creationId xmlns:a16="http://schemas.microsoft.com/office/drawing/2014/main" id="{419D34E8-AAF1-4E5F-1300-F46D5BF12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" y="1719"/>
              <a:ext cx="1333" cy="693"/>
            </a:xfrm>
            <a:prstGeom prst="rect">
              <a:avLst/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1350" dirty="0"/>
            </a:p>
          </p:txBody>
        </p:sp>
      </p:grpSp>
      <p:sp>
        <p:nvSpPr>
          <p:cNvPr id="70817" name="Rectangle 284">
            <a:extLst>
              <a:ext uri="{FF2B5EF4-FFF2-40B4-BE49-F238E27FC236}">
                <a16:creationId xmlns:a16="http://schemas.microsoft.com/office/drawing/2014/main" id="{070C6C65-AD3F-A3FC-36FF-364F18CF8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995" y="1154907"/>
            <a:ext cx="2005357" cy="808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Arial" panose="020B0604020202020204" pitchFamily="34" charset="0"/>
              </a:rPr>
              <a:t>Interrelationship between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Arial" panose="020B0604020202020204" pitchFamily="34" charset="0"/>
              </a:rPr>
              <a:t>Technical Descriptors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Arial" panose="020B0604020202020204" pitchFamily="34" charset="0"/>
              </a:rPr>
              <a:t>(correlation matrix)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Arial" panose="020B0604020202020204" pitchFamily="34" charset="0"/>
              </a:rPr>
              <a:t>HOWs vs. HOWs</a:t>
            </a: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95693"/>
            <a:ext cx="7772400" cy="669851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Taguchi Quality Loss Function Concept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457200" y="914400"/>
            <a:ext cx="7772400" cy="3519377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view within spec equals good out of spec equals bad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Taguchi view Any deviation from the target causes a loss to society customer e.g. dissatisfaction warranty inefficiency even if within specification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increases as variation increases improving quality means reducing variation around the target not just meeting limits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Trapezoid 5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IT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fld id="{42586BA7-404A-46E8-8DA2-FCED5ECC7933}" type="slidenum">
                <a:rPr lang="en-US" sz="1220" b="1">
                  <a:solidFill>
                    <a:prstClr val="black"/>
                  </a:solidFill>
                  <a:latin typeface="Amasis MT Pro" panose="02040504050005020304" pitchFamily="18" charset="0"/>
                </a:rPr>
                <a:pPr algn="ctr" defTabSz="685800">
                  <a:spcAft>
                    <a:spcPts val="450"/>
                  </a:spcAft>
                  <a:defRPr/>
                </a:pPr>
                <a:t>17</a:t>
              </a:fld>
              <a:endParaRPr lang="en-US" sz="1220" b="1" dirty="0">
                <a:solidFill>
                  <a:prstClr val="black"/>
                </a:solidFill>
                <a:latin typeface="Amasis MT Pro" panose="020405040500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180753"/>
            <a:ext cx="7772400" cy="499731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Taguchi Loss Function Practical Use in Decisions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Taguchi Loss Function Practical Use in DecisionsUsed to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design alternatives by expected loss not just pass fail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Justify investments in process capability and robust design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Prioritize improvement where small deviations create meaningful customer cost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idea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 the process on target and reduce variability via robust design and control of noise factors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Trapezoid 5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IT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fld id="{42586BA7-404A-46E8-8DA2-FCED5ECC7933}" type="slidenum">
                <a:rPr lang="en-US" sz="1220" b="1">
                  <a:solidFill>
                    <a:prstClr val="black"/>
                  </a:solidFill>
                  <a:latin typeface="Amasis MT Pro" panose="02040504050005020304" pitchFamily="18" charset="0"/>
                </a:rPr>
                <a:pPr algn="ctr" defTabSz="685800">
                  <a:spcAft>
                    <a:spcPts val="450"/>
                  </a:spcAft>
                  <a:defRPr/>
                </a:pPr>
                <a:t>18</a:t>
              </a:fld>
              <a:endParaRPr lang="en-US" sz="1220" b="1" dirty="0">
                <a:solidFill>
                  <a:prstClr val="black"/>
                </a:solidFill>
                <a:latin typeface="Amasis MT Pro" panose="020405040500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aguchi's Quality Loss Function Curve PowerPoint Templ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665" y="1687827"/>
            <a:ext cx="6111089" cy="2764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09" y="247367"/>
            <a:ext cx="2652807" cy="191165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Trapezoid 5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IT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fld id="{42586BA7-404A-46E8-8DA2-FCED5ECC7933}" type="slidenum">
                <a:rPr lang="en-US" sz="1220" b="1">
                  <a:solidFill>
                    <a:prstClr val="black"/>
                  </a:solidFill>
                  <a:latin typeface="Amasis MT Pro" panose="02040504050005020304" pitchFamily="18" charset="0"/>
                </a:rPr>
                <a:pPr algn="ctr" defTabSz="685800">
                  <a:spcAft>
                    <a:spcPts val="450"/>
                  </a:spcAft>
                  <a:defRPr/>
                </a:pPr>
                <a:t>19</a:t>
              </a:fld>
              <a:endParaRPr lang="en-US" sz="1220" b="1" dirty="0">
                <a:solidFill>
                  <a:prstClr val="black"/>
                </a:solidFill>
                <a:latin typeface="Amasis MT Pro" panose="020405040500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6995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97712"/>
            <a:ext cx="7772400" cy="5316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Productive Maintenance TPM Overview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Productive Maintenance TPM Overview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TPM A system to maximize equipment effectiveness by involving everyone operators maintenance engineering in proactive maintenance and improvement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 breakdowns and defects from equipment issues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safety and reliability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downtime speed losses and quality losses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TPM links directly to throughput quality stability and cost reduction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Trapezoid 5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IT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fld id="{42586BA7-404A-46E8-8DA2-FCED5ECC7933}" type="slidenum">
                <a:rPr lang="en-US" sz="1220" b="1">
                  <a:solidFill>
                    <a:prstClr val="black"/>
                  </a:solidFill>
                  <a:latin typeface="Amasis MT Pro" panose="02040504050005020304" pitchFamily="18" charset="0"/>
                </a:rPr>
                <a:pPr algn="ctr" defTabSz="685800">
                  <a:spcAft>
                    <a:spcPts val="450"/>
                  </a:spcAft>
                  <a:defRPr/>
                </a:pPr>
                <a:t>20</a:t>
              </a:fld>
              <a:endParaRPr lang="en-US" sz="1220" b="1" dirty="0">
                <a:solidFill>
                  <a:prstClr val="black"/>
                </a:solidFill>
                <a:latin typeface="Amasis MT Pro" panose="020405040500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303" y="235390"/>
            <a:ext cx="5305425" cy="392015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" name="Trapezoid 4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IT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fld id="{42586BA7-404A-46E8-8DA2-FCED5ECC7933}" type="slidenum">
                <a:rPr lang="en-US" sz="1220" b="1">
                  <a:solidFill>
                    <a:prstClr val="black"/>
                  </a:solidFill>
                  <a:latin typeface="Amasis MT Pro" panose="02040504050005020304" pitchFamily="18" charset="0"/>
                </a:rPr>
                <a:pPr algn="ctr" defTabSz="685800">
                  <a:spcAft>
                    <a:spcPts val="450"/>
                  </a:spcAft>
                  <a:defRPr/>
                </a:pPr>
                <a:t>21</a:t>
              </a:fld>
              <a:endParaRPr lang="en-US" sz="1220" b="1" dirty="0">
                <a:solidFill>
                  <a:prstClr val="black"/>
                </a:solidFill>
                <a:latin typeface="Amasis MT Pro" panose="020405040500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00985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180754"/>
            <a:ext cx="7772400" cy="56352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TPM Pillars &amp; Operator Involvement Core Practices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TPM Pillars Operator Involvement Core PracticesCommon TPM elements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 Maintenance operators perform basic care cleaning lubrication inspection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Planned Preventive Maintenance scheduled work to prevent failures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Focused Improvement Kaizen small teams eliminate chronic losses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Skills Development standard methods troubleshooting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Equipment Management design for maintainability and reliability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Cultural shift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operate it I care for it shared ownership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Trapezoid 5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IT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fld id="{42586BA7-404A-46E8-8DA2-FCED5ECC7933}" type="slidenum">
                <a:rPr lang="en-US" sz="1220" b="1">
                  <a:solidFill>
                    <a:prstClr val="black"/>
                  </a:solidFill>
                  <a:latin typeface="Amasis MT Pro" panose="02040504050005020304" pitchFamily="18" charset="0"/>
                </a:rPr>
                <a:pPr algn="ctr" defTabSz="685800">
                  <a:spcAft>
                    <a:spcPts val="450"/>
                  </a:spcAft>
                  <a:defRPr/>
                </a:pPr>
                <a:t>22</a:t>
              </a:fld>
              <a:endParaRPr lang="en-US" sz="1220" b="1" dirty="0">
                <a:solidFill>
                  <a:prstClr val="black"/>
                </a:solidFill>
                <a:latin typeface="Amasis MT Pro" panose="020405040500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561975"/>
            <a:ext cx="5715000" cy="401955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" name="Trapezoid 4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IT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fld id="{42586BA7-404A-46E8-8DA2-FCED5ECC7933}" type="slidenum">
                <a:rPr lang="en-US" sz="1220" b="1">
                  <a:solidFill>
                    <a:prstClr val="black"/>
                  </a:solidFill>
                  <a:latin typeface="Amasis MT Pro" panose="02040504050005020304" pitchFamily="18" charset="0"/>
                </a:rPr>
                <a:pPr algn="ctr" defTabSz="685800">
                  <a:spcAft>
                    <a:spcPts val="450"/>
                  </a:spcAft>
                  <a:defRPr/>
                </a:pPr>
                <a:t>23</a:t>
              </a:fld>
              <a:endParaRPr lang="en-US" sz="1220" b="1" dirty="0">
                <a:solidFill>
                  <a:prstClr val="black"/>
                </a:solidFill>
                <a:latin typeface="Amasis MT Pro" panose="020405040500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1513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61314" y="122222"/>
            <a:ext cx="7668285" cy="69259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OEE Overall Equipment Effectiveness TPMs Key Performance Metric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622898" y="935664"/>
            <a:ext cx="7772400" cy="26475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OEE Overall Equipment Effectiveness TPMs Key Performance Metric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OEE measures how effectively equipment is used versus its full potential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percent of scheduled time equipment runs losses breakdowns changeovers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speed efficiency losses small stops reduced speed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 good output rate losses defects rework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pinpoint downtime speed or defects as main constraint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079" y="3583172"/>
            <a:ext cx="3536219" cy="148893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Trapezoid 7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IT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fld id="{42586BA7-404A-46E8-8DA2-FCED5ECC7933}" type="slidenum">
                <a:rPr lang="en-US" sz="1220" b="1">
                  <a:solidFill>
                    <a:prstClr val="black"/>
                  </a:solidFill>
                  <a:latin typeface="Amasis MT Pro" panose="02040504050005020304" pitchFamily="18" charset="0"/>
                </a:rPr>
                <a:pPr algn="ctr" defTabSz="685800">
                  <a:spcAft>
                    <a:spcPts val="450"/>
                  </a:spcAft>
                  <a:defRPr/>
                </a:pPr>
                <a:t>24</a:t>
              </a:fld>
              <a:endParaRPr lang="en-US" sz="1220" b="1" dirty="0">
                <a:solidFill>
                  <a:prstClr val="black"/>
                </a:solidFill>
                <a:latin typeface="Amasis MT Pro" panose="020405040500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7" y="99588"/>
            <a:ext cx="8379295" cy="468908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Trapezoid 5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IT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fld id="{42586BA7-404A-46E8-8DA2-FCED5ECC7933}" type="slidenum">
                <a:rPr lang="en-US" sz="1220" b="1">
                  <a:solidFill>
                    <a:prstClr val="black"/>
                  </a:solidFill>
                  <a:latin typeface="Amasis MT Pro" panose="02040504050005020304" pitchFamily="18" charset="0"/>
                </a:rPr>
                <a:pPr algn="ctr" defTabSz="685800">
                  <a:spcAft>
                    <a:spcPts val="450"/>
                  </a:spcAft>
                  <a:defRPr/>
                </a:pPr>
                <a:t>25</a:t>
              </a:fld>
              <a:endParaRPr lang="en-US" sz="1220" b="1" dirty="0">
                <a:solidFill>
                  <a:prstClr val="black"/>
                </a:solidFill>
                <a:latin typeface="Amasis MT Pro" panose="020405040500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42076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02019"/>
            <a:ext cx="7772400" cy="712381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Improvement Needs How to Identify What to Fix First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Improvement Needs How to Identify What to Fix FirstStart with Where is the biggest pain? using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complaints returns service failures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data scrap rework cycle time delays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Safety incidents near misses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hot spots expedites overtime warranty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prioritization tools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Pareto analysis risk scoring impact effort matrix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strong problem statement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where when how big and business customer impact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Trapezoid 5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IT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fld id="{42586BA7-404A-46E8-8DA2-FCED5ECC7933}" type="slidenum">
                <a:rPr lang="en-US" sz="1220" b="1">
                  <a:solidFill>
                    <a:prstClr val="black"/>
                  </a:solidFill>
                  <a:latin typeface="Amasis MT Pro" panose="02040504050005020304" pitchFamily="18" charset="0"/>
                </a:rPr>
                <a:pPr algn="ctr" defTabSz="685800">
                  <a:spcAft>
                    <a:spcPts val="450"/>
                  </a:spcAft>
                  <a:defRPr/>
                </a:pPr>
                <a:t>26</a:t>
              </a:fld>
              <a:endParaRPr lang="en-US" sz="1220" b="1" dirty="0">
                <a:solidFill>
                  <a:prstClr val="black"/>
                </a:solidFill>
                <a:latin typeface="Amasis MT Pro" panose="020405040500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682" y="594261"/>
            <a:ext cx="7161291" cy="4126595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Trapezoid 5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IT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fld id="{42586BA7-404A-46E8-8DA2-FCED5ECC7933}" type="slidenum">
                <a:rPr lang="en-US" sz="1220" b="1">
                  <a:solidFill>
                    <a:prstClr val="black"/>
                  </a:solidFill>
                  <a:latin typeface="Amasis MT Pro" panose="02040504050005020304" pitchFamily="18" charset="0"/>
                </a:rPr>
                <a:pPr algn="ctr" defTabSz="685800">
                  <a:spcAft>
                    <a:spcPts val="450"/>
                  </a:spcAft>
                  <a:defRPr/>
                </a:pPr>
                <a:t>27</a:t>
              </a:fld>
              <a:endParaRPr lang="en-US" sz="1220" b="1" dirty="0">
                <a:solidFill>
                  <a:prstClr val="black"/>
                </a:solidFill>
                <a:latin typeface="Amasis MT Pro" panose="020405040500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27443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1158948" y="180753"/>
            <a:ext cx="7070651" cy="574159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Leading vs Lagging Indicators  for performance measure .Why You Need Both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457200" y="914400"/>
            <a:ext cx="77724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Lagging indicators results after the fact e.g. warranty claims monthly defect rate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Leading indicators predictors of future performance e.g. process audit scores preventive maintenance compliance training completion control plan adherence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leading indicators to manage daily work use lagging indicators to validate overall outcomes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Trapezoid 5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IT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fld id="{42586BA7-404A-46E8-8DA2-FCED5ECC7933}" type="slidenum">
                <a:rPr lang="en-US" sz="1220" b="1">
                  <a:solidFill>
                    <a:prstClr val="black"/>
                  </a:solidFill>
                  <a:latin typeface="Amasis MT Pro" panose="02040504050005020304" pitchFamily="18" charset="0"/>
                </a:rPr>
                <a:pPr algn="ctr" defTabSz="685800">
                  <a:spcAft>
                    <a:spcPts val="450"/>
                  </a:spcAft>
                  <a:defRPr/>
                </a:pPr>
                <a:t>28</a:t>
              </a:fld>
              <a:endParaRPr lang="en-US" sz="1220" b="1" dirty="0">
                <a:solidFill>
                  <a:prstClr val="black"/>
                </a:solidFill>
                <a:latin typeface="Amasis MT Pro" panose="020405040500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Understanding Leading and Lagging Indicators in Safety Management |  Muhammad sheikh shahbaz posted on the topic | Linked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7" y="212651"/>
            <a:ext cx="4500747" cy="459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6078" y="333375"/>
            <a:ext cx="3533886" cy="447675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Trapezoid 5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IT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fld id="{42586BA7-404A-46E8-8DA2-FCED5ECC7933}" type="slidenum">
                <a:rPr lang="en-US" sz="1220" b="1">
                  <a:solidFill>
                    <a:prstClr val="black"/>
                  </a:solidFill>
                  <a:latin typeface="Amasis MT Pro" panose="02040504050005020304" pitchFamily="18" charset="0"/>
                </a:rPr>
                <a:pPr algn="ctr" defTabSz="685800">
                  <a:spcAft>
                    <a:spcPts val="450"/>
                  </a:spcAft>
                  <a:defRPr/>
                </a:pPr>
                <a:t>29</a:t>
              </a:fld>
              <a:endParaRPr lang="en-US" sz="1220" b="1" dirty="0">
                <a:solidFill>
                  <a:prstClr val="black"/>
                </a:solidFill>
                <a:latin typeface="Amasis MT Pro" panose="020405040500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18599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106326"/>
            <a:ext cx="7772400" cy="58479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of Quality COQ The Four Categories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457200" y="691116"/>
            <a:ext cx="7772400" cy="4338084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Prevention Costs training process design supplier qualification mistake-proofing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Appraisal Costs inspection testing audits measurement systems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 Failure Costs scrap rework retest downtime due to defects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Failure Costs returns warranty complaints recalls lost customers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message shift investment upstream prevention to reduce expensive failures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Trapezoid 5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IT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fld id="{42586BA7-404A-46E8-8DA2-FCED5ECC7933}" type="slidenum">
                <a:rPr lang="en-US" sz="1220" b="1">
                  <a:solidFill>
                    <a:prstClr val="black"/>
                  </a:solidFill>
                  <a:latin typeface="Amasis MT Pro" panose="02040504050005020304" pitchFamily="18" charset="0"/>
                </a:rPr>
                <a:pPr algn="ctr" defTabSz="685800">
                  <a:spcAft>
                    <a:spcPts val="450"/>
                  </a:spcAft>
                  <a:defRPr/>
                </a:pPr>
                <a:t>30</a:t>
              </a:fld>
              <a:endParaRPr lang="en-US" sz="1220" b="1" dirty="0">
                <a:solidFill>
                  <a:prstClr val="black"/>
                </a:solidFill>
                <a:latin typeface="Amasis MT Pro" panose="020405040500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43" y="122983"/>
            <a:ext cx="8229599" cy="476737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" name="Trapezoid 4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IT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fld id="{42586BA7-404A-46E8-8DA2-FCED5ECC7933}" type="slidenum">
                <a:rPr lang="en-US" sz="1220" b="1">
                  <a:solidFill>
                    <a:prstClr val="black"/>
                  </a:solidFill>
                  <a:latin typeface="Amasis MT Pro" panose="02040504050005020304" pitchFamily="18" charset="0"/>
                </a:rPr>
                <a:pPr algn="ctr" defTabSz="685800">
                  <a:spcAft>
                    <a:spcPts val="450"/>
                  </a:spcAft>
                  <a:defRPr/>
                </a:pPr>
                <a:t>31</a:t>
              </a:fld>
              <a:endParaRPr lang="en-US" sz="1220" b="1" dirty="0">
                <a:solidFill>
                  <a:prstClr val="black"/>
                </a:solidFill>
                <a:latin typeface="Amasis MT Pro" panose="020405040500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26704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0"/>
            <a:ext cx="7772400" cy="733647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Process Reengineering BPR What It Is and When to Use It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457200" y="733647"/>
            <a:ext cx="8197702" cy="4295553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>
              <a:buSzPct val="100000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BPR fundamental rethinking radical redesign of processes to achieve dramatic improvements in cost quality service and speed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BPR fits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is fundamentally broken or outdated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Incremental improvement Kaizen is too slow for the gap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or operating 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must change significantly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 from continuous improvement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BPR is transformational Kaizen is incremental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606" y="2689718"/>
            <a:ext cx="3232298" cy="194565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Trapezoid 7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IT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fld id="{42586BA7-404A-46E8-8DA2-FCED5ECC7933}" type="slidenum">
                <a:rPr lang="en-US" sz="1220" b="1">
                  <a:solidFill>
                    <a:prstClr val="black"/>
                  </a:solidFill>
                  <a:latin typeface="Amasis MT Pro" panose="02040504050005020304" pitchFamily="18" charset="0"/>
                </a:rPr>
                <a:pPr algn="ctr" defTabSz="685800">
                  <a:spcAft>
                    <a:spcPts val="450"/>
                  </a:spcAft>
                  <a:defRPr/>
                </a:pPr>
                <a:t>32</a:t>
              </a:fld>
              <a:endParaRPr lang="en-US" sz="1220" b="1" dirty="0">
                <a:solidFill>
                  <a:prstClr val="black"/>
                </a:solidFill>
                <a:latin typeface="Amasis MT Pro" panose="020405040500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Business Process Reengineering (BPR): A Strategic Approach to  Organizational Transformation - SixSigma.u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93" y="510363"/>
            <a:ext cx="8002772" cy="4399183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Trapezoid 5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IT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fld id="{42586BA7-404A-46E8-8DA2-FCED5ECC7933}" type="slidenum">
                <a:rPr lang="en-US" sz="1220" b="1">
                  <a:solidFill>
                    <a:prstClr val="black"/>
                  </a:solidFill>
                  <a:latin typeface="Amasis MT Pro" panose="02040504050005020304" pitchFamily="18" charset="0"/>
                </a:rPr>
                <a:pPr algn="ctr" defTabSz="685800">
                  <a:spcAft>
                    <a:spcPts val="450"/>
                  </a:spcAft>
                  <a:defRPr/>
                </a:pPr>
                <a:t>33</a:t>
              </a:fld>
              <a:endParaRPr lang="en-US" sz="1220" b="1" dirty="0">
                <a:solidFill>
                  <a:prstClr val="black"/>
                </a:solidFill>
                <a:latin typeface="Amasis MT Pro" panose="020405040500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89106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904875"/>
            <a:ext cx="6000750" cy="333375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5827869-B6D9-C0AE-FEAE-AFFF5B38E196}"/>
              </a:ext>
            </a:extLst>
          </p:cNvPr>
          <p:cNvGrpSpPr/>
          <p:nvPr/>
        </p:nvGrpSpPr>
        <p:grpSpPr>
          <a:xfrm>
            <a:off x="1143000" y="4855780"/>
            <a:ext cx="6858000" cy="280078"/>
            <a:chOff x="0" y="5441284"/>
            <a:chExt cx="9144000" cy="7357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87D9F86-1F1D-B420-1970-4223AAA1E745}"/>
                </a:ext>
              </a:extLst>
            </p:cNvPr>
            <p:cNvSpPr/>
            <p:nvPr/>
          </p:nvSpPr>
          <p:spPr>
            <a:xfrm>
              <a:off x="0" y="5441284"/>
              <a:ext cx="9144000" cy="55946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784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" name="Trapezoid 4">
              <a:extLst>
                <a:ext uri="{FF2B5EF4-FFF2-40B4-BE49-F238E27FC236}">
                  <a16:creationId xmlns:a16="http://schemas.microsoft.com/office/drawing/2014/main" id="{36D3D95B-D3D1-AE56-3E9F-BAA652EE7B8F}"/>
                </a:ext>
              </a:extLst>
            </p:cNvPr>
            <p:cNvSpPr/>
            <p:nvPr/>
          </p:nvSpPr>
          <p:spPr>
            <a:xfrm>
              <a:off x="1539478" y="5472113"/>
              <a:ext cx="6065044" cy="528637"/>
            </a:xfrm>
            <a:prstGeom prst="trapezoid">
              <a:avLst/>
            </a:prstGeom>
            <a:solidFill>
              <a:srgbClr val="002060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white"/>
                  </a:solidFill>
                  <a:latin typeface="Amasis MT Pro" panose="02040504050005020304" pitchFamily="18" charset="0"/>
                </a:rPr>
                <a:t>DEPARTMENT OF IT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5B36555-0504-CB81-8F32-2A7F08561C3C}"/>
                </a:ext>
              </a:extLst>
            </p:cNvPr>
            <p:cNvSpPr txBox="1"/>
            <p:nvPr/>
          </p:nvSpPr>
          <p:spPr>
            <a:xfrm>
              <a:off x="8011472" y="5441287"/>
              <a:ext cx="892629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fld id="{42586BA7-404A-46E8-8DA2-FCED5ECC7933}" type="slidenum">
                <a:rPr lang="en-US" sz="1220" b="1">
                  <a:solidFill>
                    <a:prstClr val="black"/>
                  </a:solidFill>
                  <a:latin typeface="Amasis MT Pro" panose="02040504050005020304" pitchFamily="18" charset="0"/>
                </a:rPr>
                <a:pPr algn="ctr" defTabSz="685800">
                  <a:spcAft>
                    <a:spcPts val="450"/>
                  </a:spcAft>
                  <a:defRPr/>
                </a:pPr>
                <a:t>34</a:t>
              </a:fld>
              <a:endParaRPr lang="en-US" sz="1220" b="1" dirty="0">
                <a:solidFill>
                  <a:prstClr val="black"/>
                </a:solidFill>
                <a:latin typeface="Amasis MT Pro" panose="020405040500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45A68E2-583A-30B9-B311-831E65C3F7B9}"/>
                </a:ext>
              </a:extLst>
            </p:cNvPr>
            <p:cNvSpPr txBox="1"/>
            <p:nvPr/>
          </p:nvSpPr>
          <p:spPr>
            <a:xfrm>
              <a:off x="111507" y="5441287"/>
              <a:ext cx="1435892" cy="735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450"/>
                </a:spcAft>
                <a:defRPr/>
              </a:pPr>
              <a:r>
                <a:rPr lang="en-US" sz="1220" b="1" dirty="0">
                  <a:solidFill>
                    <a:prstClr val="black"/>
                  </a:solidFill>
                  <a:latin typeface="Amasis MT Pro" panose="02040504050005020304" pitchFamily="18" charset="0"/>
                </a:rPr>
                <a:t>KCG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066443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1446</TotalTime>
  <Words>1431</Words>
  <Application>Microsoft Office PowerPoint</Application>
  <PresentationFormat>On-screen Show (16:9)</PresentationFormat>
  <Paragraphs>421</Paragraphs>
  <Slides>34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Amasis MT Pro</vt:lpstr>
      <vt:lpstr>Arial</vt:lpstr>
      <vt:lpstr>Calibri</vt:lpstr>
      <vt:lpstr>Century Gothic</vt:lpstr>
      <vt:lpstr>Times New Roman</vt:lpstr>
      <vt:lpstr>Wingdings 3</vt:lpstr>
      <vt:lpstr>Office Theme</vt:lpstr>
      <vt:lpstr>Ion</vt:lpstr>
      <vt:lpstr>Quality Circles Definition &amp; Purpose</vt:lpstr>
      <vt:lpstr>PowerPoint Presentation</vt:lpstr>
      <vt:lpstr>Quality Circles Structure Roles and Operating Rhythm</vt:lpstr>
      <vt:lpstr>PowerPoint Presentation</vt:lpstr>
      <vt:lpstr>Quality Circles Problem-Solving Toolkit (Practical Set)</vt:lpstr>
      <vt:lpstr>Quality Function Deployment QFD What It Is</vt:lpstr>
      <vt:lpstr>Benefits of QFD</vt:lpstr>
      <vt:lpstr>QFD Core Steps From Customer Needs to Design Targets</vt:lpstr>
      <vt:lpstr>PowerPoint Presentation</vt:lpstr>
      <vt:lpstr>House of Quality HOQ How to Read the Matrix</vt:lpstr>
      <vt:lpstr>PowerPoint Presentation</vt:lpstr>
      <vt:lpstr>QFD Matrix</vt:lpstr>
      <vt:lpstr>Technical Descriptors (How’s)</vt:lpstr>
      <vt:lpstr>Relationship Matrix</vt:lpstr>
      <vt:lpstr>Correlation Matrix</vt:lpstr>
      <vt:lpstr>PowerPoint Presentation</vt:lpstr>
      <vt:lpstr>Taguchi Quality Loss Function Concept</vt:lpstr>
      <vt:lpstr>Taguchi Loss Function Practical Use in Decisions</vt:lpstr>
      <vt:lpstr>PowerPoint Presentation</vt:lpstr>
      <vt:lpstr>Total Productive Maintenance TPM Overview</vt:lpstr>
      <vt:lpstr>PowerPoint Presentation</vt:lpstr>
      <vt:lpstr>TPM Pillars &amp; Operator Involvement Core Practices</vt:lpstr>
      <vt:lpstr>PowerPoint Presentation</vt:lpstr>
      <vt:lpstr>OEE Overall Equipment Effectiveness TPMs Key Performance Metric</vt:lpstr>
      <vt:lpstr>PowerPoint Presentation</vt:lpstr>
      <vt:lpstr>Improvement Needs How to Identify What to Fix First</vt:lpstr>
      <vt:lpstr>PowerPoint Presentation</vt:lpstr>
      <vt:lpstr>Leading vs Lagging Indicators  for performance measure .Why You Need Both</vt:lpstr>
      <vt:lpstr>PowerPoint Presentation</vt:lpstr>
      <vt:lpstr>Cost of Quality COQ The Four Categories</vt:lpstr>
      <vt:lpstr>PowerPoint Presentation</vt:lpstr>
      <vt:lpstr>Business Process Reengineering BPR What It Is and When to Use It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IV: TQM Tools &amp; Techniques II (Professional Staff Training)</dc:title>
  <dc:subject>PptxGenJS Presentation</dc:subject>
  <dc:creator>PptxGenJS</dc:creator>
  <cp:lastModifiedBy>DEEPIKA RAJESH</cp:lastModifiedBy>
  <cp:revision>19</cp:revision>
  <dcterms:created xsi:type="dcterms:W3CDTF">2026-07-04T05:57:38Z</dcterms:created>
  <dcterms:modified xsi:type="dcterms:W3CDTF">2026-09-10T08:48:00Z</dcterms:modified>
</cp:coreProperties>
</file>